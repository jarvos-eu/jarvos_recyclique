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82" r:id="rId3"/>
    <p:sldId id="298" r:id="rId4"/>
    <p:sldId id="291" r:id="rId5"/>
    <p:sldId id="292" r:id="rId6"/>
    <p:sldId id="259" r:id="rId7"/>
    <p:sldId id="286" r:id="rId8"/>
    <p:sldId id="295" r:id="rId9"/>
    <p:sldId id="294" r:id="rId10"/>
    <p:sldId id="296" r:id="rId11"/>
    <p:sldId id="297" r:id="rId12"/>
    <p:sldId id="284" r:id="rId13"/>
    <p:sldId id="262" r:id="rId14"/>
    <p:sldId id="274" r:id="rId15"/>
    <p:sldId id="288" r:id="rId16"/>
    <p:sldId id="275" r:id="rId17"/>
    <p:sldId id="299" r:id="rId18"/>
    <p:sldId id="281" r:id="rId19"/>
  </p:sldIdLst>
  <p:sldSz cx="9144000" cy="5143500" type="screen16x9"/>
  <p:notesSz cx="6858000" cy="9144000"/>
  <p:embeddedFontLst>
    <p:embeddedFont>
      <p:font typeface="Calibri" panose="020F0502020204030204" pitchFamily="34" charset="0"/>
      <p:regular r:id="rId21"/>
      <p:bold r:id="rId22"/>
      <p:italic r:id="rId23"/>
      <p:boldItalic r:id="rId24"/>
    </p:embeddedFont>
    <p:embeddedFont>
      <p:font typeface="Lilita One" panose="020B0604020202020204" charset="0"/>
      <p:regular r:id="rId25"/>
    </p:embeddedFont>
    <p:embeddedFont>
      <p:font typeface="Rubik Light" panose="020B0604020202020204" charset="-79"/>
      <p:regular r:id="rId26"/>
      <p:bold r:id="rId27"/>
      <p:italic r:id="rId28"/>
      <p:boldItalic r:id="rId29"/>
    </p:embeddedFont>
    <p:embeddedFont>
      <p:font typeface="Rubik Medium" panose="020B0604020202020204" charset="-79"/>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55">
          <p15:clr>
            <a:srgbClr val="747775"/>
          </p15:clr>
        </p15:guide>
        <p15:guide id="2" orient="horz" pos="737">
          <p15:clr>
            <a:srgbClr val="747775"/>
          </p15:clr>
        </p15:guide>
        <p15:guide id="3" pos="2171">
          <p15:clr>
            <a:srgbClr val="747775"/>
          </p15:clr>
        </p15:guide>
        <p15:guide id="4" pos="5491">
          <p15:clr>
            <a:srgbClr val="747775"/>
          </p15:clr>
        </p15:guide>
        <p15:guide id="5" orient="horz" pos="1191">
          <p15:clr>
            <a:srgbClr val="747775"/>
          </p15:clr>
        </p15:guide>
        <p15:guide id="6" orient="horz" pos="193">
          <p15:clr>
            <a:srgbClr val="747775"/>
          </p15:clr>
        </p15:guide>
        <p15:guide id="7" orient="horz" pos="2635">
          <p15:clr>
            <a:srgbClr val="747775"/>
          </p15:clr>
        </p15:guide>
        <p15:guide id="8" orient="horz" pos="56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37AF"/>
    <a:srgbClr val="00A382"/>
    <a:srgbClr val="EB5A09"/>
    <a:srgbClr val="0CA5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13" y="51"/>
      </p:cViewPr>
      <p:guideLst>
        <p:guide pos="255"/>
        <p:guide orient="horz" pos="737"/>
        <p:guide pos="2171"/>
        <p:guide pos="5491"/>
        <p:guide orient="horz" pos="1191"/>
        <p:guide orient="horz" pos="193"/>
        <p:guide orient="horz" pos="2635"/>
        <p:guide orient="horz" pos="5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C3060A-8080-44E5-ACC6-31EE4962DDF5}" type="doc">
      <dgm:prSet loTypeId="urn:microsoft.com/office/officeart/2005/8/layout/chevron1" loCatId="process" qsTypeId="urn:microsoft.com/office/officeart/2005/8/quickstyle/simple2" qsCatId="simple" csTypeId="urn:microsoft.com/office/officeart/2005/8/colors/colorful2" csCatId="colorful" phldr="1"/>
      <dgm:spPr/>
    </dgm:pt>
    <dgm:pt modelId="{FCAE0993-6CEB-4C46-BB6E-5DAE8C5EF28A}">
      <dgm:prSet phldrT="[Texte]"/>
      <dgm:spPr>
        <a:solidFill>
          <a:srgbClr val="FFC000"/>
        </a:solidFill>
      </dgm:spPr>
      <dgm:t>
        <a:bodyPr/>
        <a:lstStyle/>
        <a:p>
          <a:r>
            <a:rPr lang="fr-FR" dirty="0"/>
            <a:t>Lancement AMI </a:t>
          </a:r>
        </a:p>
      </dgm:t>
    </dgm:pt>
    <dgm:pt modelId="{575C46E7-D8BB-4F16-9DC7-7A1ABDAE9C20}" type="parTrans" cxnId="{67228444-D65B-4501-BC07-4860045E626F}">
      <dgm:prSet/>
      <dgm:spPr/>
      <dgm:t>
        <a:bodyPr/>
        <a:lstStyle/>
        <a:p>
          <a:endParaRPr lang="fr-FR"/>
        </a:p>
      </dgm:t>
    </dgm:pt>
    <dgm:pt modelId="{0AD45C5A-D6CE-4B53-A94D-D06DF3931587}" type="sibTrans" cxnId="{67228444-D65B-4501-BC07-4860045E626F}">
      <dgm:prSet/>
      <dgm:spPr/>
      <dgm:t>
        <a:bodyPr/>
        <a:lstStyle/>
        <a:p>
          <a:endParaRPr lang="fr-FR"/>
        </a:p>
      </dgm:t>
    </dgm:pt>
    <dgm:pt modelId="{6093E107-5513-45C5-B7EB-873A05E249F3}">
      <dgm:prSet phldrT="[Texte]"/>
      <dgm:spPr>
        <a:solidFill>
          <a:srgbClr val="5537AF"/>
        </a:solidFill>
      </dgm:spPr>
      <dgm:t>
        <a:bodyPr/>
        <a:lstStyle/>
        <a:p>
          <a:r>
            <a:rPr lang="fr-FR" dirty="0"/>
            <a:t>Deadline candidatures</a:t>
          </a:r>
        </a:p>
      </dgm:t>
    </dgm:pt>
    <dgm:pt modelId="{A12AC5FA-201C-494E-A401-4966F6B3A598}" type="parTrans" cxnId="{BF10D29D-147D-4B1A-AD67-1C7FC05761BC}">
      <dgm:prSet/>
      <dgm:spPr/>
      <dgm:t>
        <a:bodyPr/>
        <a:lstStyle/>
        <a:p>
          <a:endParaRPr lang="fr-FR"/>
        </a:p>
      </dgm:t>
    </dgm:pt>
    <dgm:pt modelId="{D5398787-423E-4519-B6C4-739F5521F16A}" type="sibTrans" cxnId="{BF10D29D-147D-4B1A-AD67-1C7FC05761BC}">
      <dgm:prSet/>
      <dgm:spPr/>
      <dgm:t>
        <a:bodyPr/>
        <a:lstStyle/>
        <a:p>
          <a:endParaRPr lang="fr-FR"/>
        </a:p>
      </dgm:t>
    </dgm:pt>
    <dgm:pt modelId="{24E2B388-FE86-4FCD-A5A9-6515209E1ABC}">
      <dgm:prSet phldrT="[Texte]"/>
      <dgm:spPr>
        <a:solidFill>
          <a:srgbClr val="FFC000"/>
        </a:solidFill>
      </dgm:spPr>
      <dgm:t>
        <a:bodyPr/>
        <a:lstStyle/>
        <a:p>
          <a:r>
            <a:rPr lang="fr-FR" dirty="0"/>
            <a:t>Annonce lauréats et signature de conventions </a:t>
          </a:r>
        </a:p>
      </dgm:t>
    </dgm:pt>
    <dgm:pt modelId="{0D62679A-9521-46C3-B199-408033E5343E}" type="parTrans" cxnId="{C669E4E9-DBD8-4C56-8C2C-88C016033BD9}">
      <dgm:prSet/>
      <dgm:spPr/>
      <dgm:t>
        <a:bodyPr/>
        <a:lstStyle/>
        <a:p>
          <a:endParaRPr lang="fr-FR"/>
        </a:p>
      </dgm:t>
    </dgm:pt>
    <dgm:pt modelId="{1FA0FA20-C4CF-4383-AC06-B56D80055A80}" type="sibTrans" cxnId="{C669E4E9-DBD8-4C56-8C2C-88C016033BD9}">
      <dgm:prSet/>
      <dgm:spPr/>
      <dgm:t>
        <a:bodyPr/>
        <a:lstStyle/>
        <a:p>
          <a:endParaRPr lang="fr-FR"/>
        </a:p>
      </dgm:t>
    </dgm:pt>
    <dgm:pt modelId="{B9B5DF1C-00D0-4DCF-B73C-0765D88ED6AF}">
      <dgm:prSet phldrT="[Texte]"/>
      <dgm:spPr>
        <a:solidFill>
          <a:srgbClr val="5537AF"/>
        </a:solidFill>
      </dgm:spPr>
      <dgm:t>
        <a:bodyPr/>
        <a:lstStyle/>
        <a:p>
          <a:r>
            <a:rPr lang="fr-FR" dirty="0"/>
            <a:t>Bilan intermédiaire</a:t>
          </a:r>
        </a:p>
      </dgm:t>
    </dgm:pt>
    <dgm:pt modelId="{291FC5C6-5BB9-4118-AE32-13A60DB449D2}" type="parTrans" cxnId="{0EACBF24-EE64-422E-8F07-5B63AFD1D37B}">
      <dgm:prSet/>
      <dgm:spPr/>
      <dgm:t>
        <a:bodyPr/>
        <a:lstStyle/>
        <a:p>
          <a:endParaRPr lang="fr-FR"/>
        </a:p>
      </dgm:t>
    </dgm:pt>
    <dgm:pt modelId="{6F37FA5F-9A9F-4BE8-AE37-92DFCD968526}" type="sibTrans" cxnId="{0EACBF24-EE64-422E-8F07-5B63AFD1D37B}">
      <dgm:prSet/>
      <dgm:spPr/>
      <dgm:t>
        <a:bodyPr/>
        <a:lstStyle/>
        <a:p>
          <a:endParaRPr lang="fr-FR"/>
        </a:p>
      </dgm:t>
    </dgm:pt>
    <dgm:pt modelId="{F0C46B1F-A9CB-49B0-ADC6-C970F37FA7B6}">
      <dgm:prSet phldrT="[Texte]"/>
      <dgm:spPr>
        <a:solidFill>
          <a:srgbClr val="EB5A09"/>
        </a:solidFill>
      </dgm:spPr>
      <dgm:t>
        <a:bodyPr/>
        <a:lstStyle/>
        <a:p>
          <a:r>
            <a:rPr lang="fr-FR" dirty="0"/>
            <a:t>Jurys (régions avec AR et Sans AR)</a:t>
          </a:r>
        </a:p>
      </dgm:t>
    </dgm:pt>
    <dgm:pt modelId="{EC4CEF70-4DE0-4909-9E29-D73B49C43D17}" type="sibTrans" cxnId="{46617095-7D91-4586-AC22-A186D89276F2}">
      <dgm:prSet/>
      <dgm:spPr/>
      <dgm:t>
        <a:bodyPr/>
        <a:lstStyle/>
        <a:p>
          <a:endParaRPr lang="fr-FR"/>
        </a:p>
      </dgm:t>
    </dgm:pt>
    <dgm:pt modelId="{BFD9A761-AE52-49EA-A127-F9086D893F97}" type="parTrans" cxnId="{46617095-7D91-4586-AC22-A186D89276F2}">
      <dgm:prSet/>
      <dgm:spPr/>
      <dgm:t>
        <a:bodyPr/>
        <a:lstStyle/>
        <a:p>
          <a:endParaRPr lang="fr-FR"/>
        </a:p>
      </dgm:t>
    </dgm:pt>
    <dgm:pt modelId="{B28D1A96-187C-4BDB-8E49-7B04B13D9D27}">
      <dgm:prSet phldrT="[Texte]"/>
      <dgm:spPr>
        <a:solidFill>
          <a:srgbClr val="EB5A09"/>
        </a:solidFill>
      </dgm:spPr>
      <dgm:t>
        <a:bodyPr/>
        <a:lstStyle/>
        <a:p>
          <a:r>
            <a:rPr lang="fr-FR" dirty="0"/>
            <a:t>Fin de projet</a:t>
          </a:r>
        </a:p>
      </dgm:t>
    </dgm:pt>
    <dgm:pt modelId="{BDDCA8CA-35F1-4ED6-AF53-D0579B7E071F}" type="parTrans" cxnId="{C6F862A6-143D-4D13-B5D5-C56D5CDE9243}">
      <dgm:prSet/>
      <dgm:spPr/>
      <dgm:t>
        <a:bodyPr/>
        <a:lstStyle/>
        <a:p>
          <a:endParaRPr lang="fr-FR"/>
        </a:p>
      </dgm:t>
    </dgm:pt>
    <dgm:pt modelId="{1C0F82FC-6FC3-43B2-9CF2-683482A285FB}" type="sibTrans" cxnId="{C6F862A6-143D-4D13-B5D5-C56D5CDE9243}">
      <dgm:prSet/>
      <dgm:spPr/>
      <dgm:t>
        <a:bodyPr/>
        <a:lstStyle/>
        <a:p>
          <a:endParaRPr lang="fr-FR"/>
        </a:p>
      </dgm:t>
    </dgm:pt>
    <dgm:pt modelId="{DABC211F-90F7-4523-A023-2671D8CD51A3}" type="pres">
      <dgm:prSet presAssocID="{F7C3060A-8080-44E5-ACC6-31EE4962DDF5}" presName="Name0" presStyleCnt="0">
        <dgm:presLayoutVars>
          <dgm:dir/>
          <dgm:animLvl val="lvl"/>
          <dgm:resizeHandles val="exact"/>
        </dgm:presLayoutVars>
      </dgm:prSet>
      <dgm:spPr/>
    </dgm:pt>
    <dgm:pt modelId="{43CCCD20-8ED9-40EC-B364-948117F4F362}" type="pres">
      <dgm:prSet presAssocID="{FCAE0993-6CEB-4C46-BB6E-5DAE8C5EF28A}" presName="parTxOnly" presStyleLbl="node1" presStyleIdx="0" presStyleCnt="6">
        <dgm:presLayoutVars>
          <dgm:chMax val="0"/>
          <dgm:chPref val="0"/>
          <dgm:bulletEnabled val="1"/>
        </dgm:presLayoutVars>
      </dgm:prSet>
      <dgm:spPr/>
    </dgm:pt>
    <dgm:pt modelId="{9868B014-50A5-4A19-A0EA-7291F8C8B401}" type="pres">
      <dgm:prSet presAssocID="{0AD45C5A-D6CE-4B53-A94D-D06DF3931587}" presName="parTxOnlySpace" presStyleCnt="0"/>
      <dgm:spPr/>
    </dgm:pt>
    <dgm:pt modelId="{0AD436B9-FF27-42D8-9F93-68B56FF8E36C}" type="pres">
      <dgm:prSet presAssocID="{6093E107-5513-45C5-B7EB-873A05E249F3}" presName="parTxOnly" presStyleLbl="node1" presStyleIdx="1" presStyleCnt="6">
        <dgm:presLayoutVars>
          <dgm:chMax val="0"/>
          <dgm:chPref val="0"/>
          <dgm:bulletEnabled val="1"/>
        </dgm:presLayoutVars>
      </dgm:prSet>
      <dgm:spPr/>
    </dgm:pt>
    <dgm:pt modelId="{DC1AD583-A102-47A6-A8FE-FC84C076332A}" type="pres">
      <dgm:prSet presAssocID="{D5398787-423E-4519-B6C4-739F5521F16A}" presName="parTxOnlySpace" presStyleCnt="0"/>
      <dgm:spPr/>
    </dgm:pt>
    <dgm:pt modelId="{90918D30-5EA8-4C4C-A72E-7C1AB050D24E}" type="pres">
      <dgm:prSet presAssocID="{F0C46B1F-A9CB-49B0-ADC6-C970F37FA7B6}" presName="parTxOnly" presStyleLbl="node1" presStyleIdx="2" presStyleCnt="6" custLinFactNeighborX="422" custLinFactNeighborY="0">
        <dgm:presLayoutVars>
          <dgm:chMax val="0"/>
          <dgm:chPref val="0"/>
          <dgm:bulletEnabled val="1"/>
        </dgm:presLayoutVars>
      </dgm:prSet>
      <dgm:spPr/>
    </dgm:pt>
    <dgm:pt modelId="{43D00526-22D6-4FE3-9C37-F5A4DB5FB934}" type="pres">
      <dgm:prSet presAssocID="{EC4CEF70-4DE0-4909-9E29-D73B49C43D17}" presName="parTxOnlySpace" presStyleCnt="0"/>
      <dgm:spPr/>
    </dgm:pt>
    <dgm:pt modelId="{2E82A6A6-F771-4A6E-B55A-C3F57951FE79}" type="pres">
      <dgm:prSet presAssocID="{24E2B388-FE86-4FCD-A5A9-6515209E1ABC}" presName="parTxOnly" presStyleLbl="node1" presStyleIdx="3" presStyleCnt="6">
        <dgm:presLayoutVars>
          <dgm:chMax val="0"/>
          <dgm:chPref val="0"/>
          <dgm:bulletEnabled val="1"/>
        </dgm:presLayoutVars>
      </dgm:prSet>
      <dgm:spPr/>
    </dgm:pt>
    <dgm:pt modelId="{F7280893-05F8-4AC5-AD8A-B3DD6E2BBA36}" type="pres">
      <dgm:prSet presAssocID="{1FA0FA20-C4CF-4383-AC06-B56D80055A80}" presName="parTxOnlySpace" presStyleCnt="0"/>
      <dgm:spPr/>
    </dgm:pt>
    <dgm:pt modelId="{1CE82C42-5252-42BB-8A2A-C6CD46A07506}" type="pres">
      <dgm:prSet presAssocID="{B9B5DF1C-00D0-4DCF-B73C-0765D88ED6AF}" presName="parTxOnly" presStyleLbl="node1" presStyleIdx="4" presStyleCnt="6">
        <dgm:presLayoutVars>
          <dgm:chMax val="0"/>
          <dgm:chPref val="0"/>
          <dgm:bulletEnabled val="1"/>
        </dgm:presLayoutVars>
      </dgm:prSet>
      <dgm:spPr/>
    </dgm:pt>
    <dgm:pt modelId="{C00FD968-044A-48A5-B240-E7BD2B98A3AD}" type="pres">
      <dgm:prSet presAssocID="{6F37FA5F-9A9F-4BE8-AE37-92DFCD968526}" presName="parTxOnlySpace" presStyleCnt="0"/>
      <dgm:spPr/>
    </dgm:pt>
    <dgm:pt modelId="{8199053F-5FCD-4F08-954A-91E1A922AC66}" type="pres">
      <dgm:prSet presAssocID="{B28D1A96-187C-4BDB-8E49-7B04B13D9D27}" presName="parTxOnly" presStyleLbl="node1" presStyleIdx="5" presStyleCnt="6">
        <dgm:presLayoutVars>
          <dgm:chMax val="0"/>
          <dgm:chPref val="0"/>
          <dgm:bulletEnabled val="1"/>
        </dgm:presLayoutVars>
      </dgm:prSet>
      <dgm:spPr/>
    </dgm:pt>
  </dgm:ptLst>
  <dgm:cxnLst>
    <dgm:cxn modelId="{0EACBF24-EE64-422E-8F07-5B63AFD1D37B}" srcId="{F7C3060A-8080-44E5-ACC6-31EE4962DDF5}" destId="{B9B5DF1C-00D0-4DCF-B73C-0765D88ED6AF}" srcOrd="4" destOrd="0" parTransId="{291FC5C6-5BB9-4118-AE32-13A60DB449D2}" sibTransId="{6F37FA5F-9A9F-4BE8-AE37-92DFCD968526}"/>
    <dgm:cxn modelId="{03726B2A-3AE7-4F68-A8DE-A775F7474305}" type="presOf" srcId="{B28D1A96-187C-4BDB-8E49-7B04B13D9D27}" destId="{8199053F-5FCD-4F08-954A-91E1A922AC66}" srcOrd="0" destOrd="0" presId="urn:microsoft.com/office/officeart/2005/8/layout/chevron1"/>
    <dgm:cxn modelId="{67228444-D65B-4501-BC07-4860045E626F}" srcId="{F7C3060A-8080-44E5-ACC6-31EE4962DDF5}" destId="{FCAE0993-6CEB-4C46-BB6E-5DAE8C5EF28A}" srcOrd="0" destOrd="0" parTransId="{575C46E7-D8BB-4F16-9DC7-7A1ABDAE9C20}" sibTransId="{0AD45C5A-D6CE-4B53-A94D-D06DF3931587}"/>
    <dgm:cxn modelId="{F11B4E45-EAC6-4425-BE2A-5480CE4B77BA}" type="presOf" srcId="{24E2B388-FE86-4FCD-A5A9-6515209E1ABC}" destId="{2E82A6A6-F771-4A6E-B55A-C3F57951FE79}" srcOrd="0" destOrd="0" presId="urn:microsoft.com/office/officeart/2005/8/layout/chevron1"/>
    <dgm:cxn modelId="{6496A37E-93FA-44C4-9155-B60D8EAE2BB6}" type="presOf" srcId="{6093E107-5513-45C5-B7EB-873A05E249F3}" destId="{0AD436B9-FF27-42D8-9F93-68B56FF8E36C}" srcOrd="0" destOrd="0" presId="urn:microsoft.com/office/officeart/2005/8/layout/chevron1"/>
    <dgm:cxn modelId="{ED9CED90-DDA5-4030-A14F-AA0FB0BC27AA}" type="presOf" srcId="{F0C46B1F-A9CB-49B0-ADC6-C970F37FA7B6}" destId="{90918D30-5EA8-4C4C-A72E-7C1AB050D24E}" srcOrd="0" destOrd="0" presId="urn:microsoft.com/office/officeart/2005/8/layout/chevron1"/>
    <dgm:cxn modelId="{46617095-7D91-4586-AC22-A186D89276F2}" srcId="{F7C3060A-8080-44E5-ACC6-31EE4962DDF5}" destId="{F0C46B1F-A9CB-49B0-ADC6-C970F37FA7B6}" srcOrd="2" destOrd="0" parTransId="{BFD9A761-AE52-49EA-A127-F9086D893F97}" sibTransId="{EC4CEF70-4DE0-4909-9E29-D73B49C43D17}"/>
    <dgm:cxn modelId="{BF10D29D-147D-4B1A-AD67-1C7FC05761BC}" srcId="{F7C3060A-8080-44E5-ACC6-31EE4962DDF5}" destId="{6093E107-5513-45C5-B7EB-873A05E249F3}" srcOrd="1" destOrd="0" parTransId="{A12AC5FA-201C-494E-A401-4966F6B3A598}" sibTransId="{D5398787-423E-4519-B6C4-739F5521F16A}"/>
    <dgm:cxn modelId="{C6F862A6-143D-4D13-B5D5-C56D5CDE9243}" srcId="{F7C3060A-8080-44E5-ACC6-31EE4962DDF5}" destId="{B28D1A96-187C-4BDB-8E49-7B04B13D9D27}" srcOrd="5" destOrd="0" parTransId="{BDDCA8CA-35F1-4ED6-AF53-D0579B7E071F}" sibTransId="{1C0F82FC-6FC3-43B2-9CF2-683482A285FB}"/>
    <dgm:cxn modelId="{1C368FAC-C8AA-46E3-AFEE-E52EC4284342}" type="presOf" srcId="{B9B5DF1C-00D0-4DCF-B73C-0765D88ED6AF}" destId="{1CE82C42-5252-42BB-8A2A-C6CD46A07506}" srcOrd="0" destOrd="0" presId="urn:microsoft.com/office/officeart/2005/8/layout/chevron1"/>
    <dgm:cxn modelId="{B0E3ECCF-205F-4D06-B61D-701F20987E76}" type="presOf" srcId="{FCAE0993-6CEB-4C46-BB6E-5DAE8C5EF28A}" destId="{43CCCD20-8ED9-40EC-B364-948117F4F362}" srcOrd="0" destOrd="0" presId="urn:microsoft.com/office/officeart/2005/8/layout/chevron1"/>
    <dgm:cxn modelId="{9C8647DF-BFCF-4CB0-BB6D-12E28609AD8A}" type="presOf" srcId="{F7C3060A-8080-44E5-ACC6-31EE4962DDF5}" destId="{DABC211F-90F7-4523-A023-2671D8CD51A3}" srcOrd="0" destOrd="0" presId="urn:microsoft.com/office/officeart/2005/8/layout/chevron1"/>
    <dgm:cxn modelId="{C669E4E9-DBD8-4C56-8C2C-88C016033BD9}" srcId="{F7C3060A-8080-44E5-ACC6-31EE4962DDF5}" destId="{24E2B388-FE86-4FCD-A5A9-6515209E1ABC}" srcOrd="3" destOrd="0" parTransId="{0D62679A-9521-46C3-B199-408033E5343E}" sibTransId="{1FA0FA20-C4CF-4383-AC06-B56D80055A80}"/>
    <dgm:cxn modelId="{57E24A99-A0C3-4364-A812-B7E30FF6E2C9}" type="presParOf" srcId="{DABC211F-90F7-4523-A023-2671D8CD51A3}" destId="{43CCCD20-8ED9-40EC-B364-948117F4F362}" srcOrd="0" destOrd="0" presId="urn:microsoft.com/office/officeart/2005/8/layout/chevron1"/>
    <dgm:cxn modelId="{DFE2C1CA-C90B-47FE-822E-8B9826F2EE7D}" type="presParOf" srcId="{DABC211F-90F7-4523-A023-2671D8CD51A3}" destId="{9868B014-50A5-4A19-A0EA-7291F8C8B401}" srcOrd="1" destOrd="0" presId="urn:microsoft.com/office/officeart/2005/8/layout/chevron1"/>
    <dgm:cxn modelId="{E0E7179C-F16B-4C06-8088-5C1C3327F960}" type="presParOf" srcId="{DABC211F-90F7-4523-A023-2671D8CD51A3}" destId="{0AD436B9-FF27-42D8-9F93-68B56FF8E36C}" srcOrd="2" destOrd="0" presId="urn:microsoft.com/office/officeart/2005/8/layout/chevron1"/>
    <dgm:cxn modelId="{65A57048-17F7-490D-957F-E684E3246F77}" type="presParOf" srcId="{DABC211F-90F7-4523-A023-2671D8CD51A3}" destId="{DC1AD583-A102-47A6-A8FE-FC84C076332A}" srcOrd="3" destOrd="0" presId="urn:microsoft.com/office/officeart/2005/8/layout/chevron1"/>
    <dgm:cxn modelId="{EC2B6012-3336-4C15-9678-F9024B7DE31B}" type="presParOf" srcId="{DABC211F-90F7-4523-A023-2671D8CD51A3}" destId="{90918D30-5EA8-4C4C-A72E-7C1AB050D24E}" srcOrd="4" destOrd="0" presId="urn:microsoft.com/office/officeart/2005/8/layout/chevron1"/>
    <dgm:cxn modelId="{D535B31F-00FE-4537-8488-890748C09D86}" type="presParOf" srcId="{DABC211F-90F7-4523-A023-2671D8CD51A3}" destId="{43D00526-22D6-4FE3-9C37-F5A4DB5FB934}" srcOrd="5" destOrd="0" presId="urn:microsoft.com/office/officeart/2005/8/layout/chevron1"/>
    <dgm:cxn modelId="{AD06A1CA-5AFE-40A7-9EFD-1A14FD200E1E}" type="presParOf" srcId="{DABC211F-90F7-4523-A023-2671D8CD51A3}" destId="{2E82A6A6-F771-4A6E-B55A-C3F57951FE79}" srcOrd="6" destOrd="0" presId="urn:microsoft.com/office/officeart/2005/8/layout/chevron1"/>
    <dgm:cxn modelId="{2C6B59F6-0654-45C1-B9DF-88E1EA9F8AC4}" type="presParOf" srcId="{DABC211F-90F7-4523-A023-2671D8CD51A3}" destId="{F7280893-05F8-4AC5-AD8A-B3DD6E2BBA36}" srcOrd="7" destOrd="0" presId="urn:microsoft.com/office/officeart/2005/8/layout/chevron1"/>
    <dgm:cxn modelId="{F4129924-A26C-4790-A034-C9C2516F5983}" type="presParOf" srcId="{DABC211F-90F7-4523-A023-2671D8CD51A3}" destId="{1CE82C42-5252-42BB-8A2A-C6CD46A07506}" srcOrd="8" destOrd="0" presId="urn:microsoft.com/office/officeart/2005/8/layout/chevron1"/>
    <dgm:cxn modelId="{58206499-141A-49EB-98A1-FD4E97D53133}" type="presParOf" srcId="{DABC211F-90F7-4523-A023-2671D8CD51A3}" destId="{C00FD968-044A-48A5-B240-E7BD2B98A3AD}" srcOrd="9" destOrd="0" presId="urn:microsoft.com/office/officeart/2005/8/layout/chevron1"/>
    <dgm:cxn modelId="{9BBF81F5-02AB-4BBD-B038-9A422F2EE357}" type="presParOf" srcId="{DABC211F-90F7-4523-A023-2671D8CD51A3}" destId="{8199053F-5FCD-4F08-954A-91E1A922AC66}" srcOrd="10" destOrd="0" presId="urn:microsoft.com/office/officeart/2005/8/layout/chevron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C3060A-8080-44E5-ACC6-31EE4962DDF5}" type="doc">
      <dgm:prSet loTypeId="urn:microsoft.com/office/officeart/2005/8/layout/chevron1" loCatId="process" qsTypeId="urn:microsoft.com/office/officeart/2005/8/quickstyle/simple1" qsCatId="simple" csTypeId="urn:microsoft.com/office/officeart/2005/8/colors/accent4_1" csCatId="accent4" phldr="1"/>
      <dgm:spPr/>
    </dgm:pt>
    <dgm:pt modelId="{FCAE0993-6CEB-4C46-BB6E-5DAE8C5EF28A}">
      <dgm:prSet phldrT="[Texte]"/>
      <dgm:spPr>
        <a:ln>
          <a:solidFill>
            <a:srgbClr val="FFC000"/>
          </a:solidFill>
        </a:ln>
      </dgm:spPr>
      <dgm:t>
        <a:bodyPr/>
        <a:lstStyle/>
        <a:p>
          <a:r>
            <a:rPr lang="fr-FR" dirty="0"/>
            <a:t>Signature convention</a:t>
          </a:r>
        </a:p>
      </dgm:t>
    </dgm:pt>
    <dgm:pt modelId="{575C46E7-D8BB-4F16-9DC7-7A1ABDAE9C20}" type="parTrans" cxnId="{67228444-D65B-4501-BC07-4860045E626F}">
      <dgm:prSet/>
      <dgm:spPr/>
      <dgm:t>
        <a:bodyPr/>
        <a:lstStyle/>
        <a:p>
          <a:endParaRPr lang="fr-FR"/>
        </a:p>
      </dgm:t>
    </dgm:pt>
    <dgm:pt modelId="{0AD45C5A-D6CE-4B53-A94D-D06DF3931587}" type="sibTrans" cxnId="{67228444-D65B-4501-BC07-4860045E626F}">
      <dgm:prSet/>
      <dgm:spPr/>
      <dgm:t>
        <a:bodyPr/>
        <a:lstStyle/>
        <a:p>
          <a:endParaRPr lang="fr-FR"/>
        </a:p>
      </dgm:t>
    </dgm:pt>
    <dgm:pt modelId="{6093E107-5513-45C5-B7EB-873A05E249F3}">
      <dgm:prSet phldrT="[Texte]"/>
      <dgm:spPr>
        <a:ln>
          <a:solidFill>
            <a:srgbClr val="5537AF"/>
          </a:solidFill>
        </a:ln>
      </dgm:spPr>
      <dgm:t>
        <a:bodyPr/>
        <a:lstStyle/>
        <a:p>
          <a:r>
            <a:rPr lang="fr-FR" dirty="0"/>
            <a:t>Demandes d’acompte jusqu’à 70% (jusqu’à 2 virements)</a:t>
          </a:r>
        </a:p>
      </dgm:t>
    </dgm:pt>
    <dgm:pt modelId="{A12AC5FA-201C-494E-A401-4966F6B3A598}" type="parTrans" cxnId="{BF10D29D-147D-4B1A-AD67-1C7FC05761BC}">
      <dgm:prSet/>
      <dgm:spPr/>
      <dgm:t>
        <a:bodyPr/>
        <a:lstStyle/>
        <a:p>
          <a:endParaRPr lang="fr-FR"/>
        </a:p>
      </dgm:t>
    </dgm:pt>
    <dgm:pt modelId="{D5398787-423E-4519-B6C4-739F5521F16A}" type="sibTrans" cxnId="{BF10D29D-147D-4B1A-AD67-1C7FC05761BC}">
      <dgm:prSet/>
      <dgm:spPr/>
      <dgm:t>
        <a:bodyPr/>
        <a:lstStyle/>
        <a:p>
          <a:endParaRPr lang="fr-FR"/>
        </a:p>
      </dgm:t>
    </dgm:pt>
    <dgm:pt modelId="{24E2B388-FE86-4FCD-A5A9-6515209E1ABC}">
      <dgm:prSet phldrT="[Texte]"/>
      <dgm:spPr>
        <a:ln>
          <a:solidFill>
            <a:srgbClr val="FFC000"/>
          </a:solidFill>
        </a:ln>
      </dgm:spPr>
      <dgm:t>
        <a:bodyPr/>
        <a:lstStyle/>
        <a:p>
          <a:r>
            <a:rPr lang="fr-FR" dirty="0"/>
            <a:t>Bilan final</a:t>
          </a:r>
        </a:p>
        <a:p>
          <a:r>
            <a:rPr lang="fr-FR" dirty="0"/>
            <a:t>(20%) </a:t>
          </a:r>
        </a:p>
      </dgm:t>
    </dgm:pt>
    <dgm:pt modelId="{0D62679A-9521-46C3-B199-408033E5343E}" type="parTrans" cxnId="{C669E4E9-DBD8-4C56-8C2C-88C016033BD9}">
      <dgm:prSet/>
      <dgm:spPr/>
      <dgm:t>
        <a:bodyPr/>
        <a:lstStyle/>
        <a:p>
          <a:endParaRPr lang="fr-FR"/>
        </a:p>
      </dgm:t>
    </dgm:pt>
    <dgm:pt modelId="{1FA0FA20-C4CF-4383-AC06-B56D80055A80}" type="sibTrans" cxnId="{C669E4E9-DBD8-4C56-8C2C-88C016033BD9}">
      <dgm:prSet/>
      <dgm:spPr/>
      <dgm:t>
        <a:bodyPr/>
        <a:lstStyle/>
        <a:p>
          <a:endParaRPr lang="fr-FR"/>
        </a:p>
      </dgm:t>
    </dgm:pt>
    <dgm:pt modelId="{B9B5DF1C-00D0-4DCF-B73C-0765D88ED6AF}">
      <dgm:prSet phldrT="[Texte]"/>
      <dgm:spPr>
        <a:ln>
          <a:solidFill>
            <a:srgbClr val="5537AF"/>
          </a:solidFill>
        </a:ln>
      </dgm:spPr>
      <dgm:t>
        <a:bodyPr/>
        <a:lstStyle/>
        <a:p>
          <a:r>
            <a:rPr lang="fr-FR" dirty="0"/>
            <a:t>Solde</a:t>
          </a:r>
          <a:r>
            <a:rPr lang="fr-FR" baseline="0" dirty="0"/>
            <a:t> 10% </a:t>
          </a:r>
          <a:endParaRPr lang="fr-FR" dirty="0"/>
        </a:p>
      </dgm:t>
    </dgm:pt>
    <dgm:pt modelId="{291FC5C6-5BB9-4118-AE32-13A60DB449D2}" type="parTrans" cxnId="{0EACBF24-EE64-422E-8F07-5B63AFD1D37B}">
      <dgm:prSet/>
      <dgm:spPr/>
      <dgm:t>
        <a:bodyPr/>
        <a:lstStyle/>
        <a:p>
          <a:endParaRPr lang="fr-FR"/>
        </a:p>
      </dgm:t>
    </dgm:pt>
    <dgm:pt modelId="{6F37FA5F-9A9F-4BE8-AE37-92DFCD968526}" type="sibTrans" cxnId="{0EACBF24-EE64-422E-8F07-5B63AFD1D37B}">
      <dgm:prSet/>
      <dgm:spPr/>
      <dgm:t>
        <a:bodyPr/>
        <a:lstStyle/>
        <a:p>
          <a:endParaRPr lang="fr-FR"/>
        </a:p>
      </dgm:t>
    </dgm:pt>
    <dgm:pt modelId="{F0C46B1F-A9CB-49B0-ADC6-C970F37FA7B6}">
      <dgm:prSet phldrT="[Texte]"/>
      <dgm:spPr>
        <a:ln>
          <a:solidFill>
            <a:srgbClr val="EB5A09"/>
          </a:solidFill>
        </a:ln>
      </dgm:spPr>
      <dgm:t>
        <a:bodyPr/>
        <a:lstStyle/>
        <a:p>
          <a:r>
            <a:rPr lang="fr-FR" dirty="0"/>
            <a:t>Bilan Intermédiaire</a:t>
          </a:r>
        </a:p>
      </dgm:t>
    </dgm:pt>
    <dgm:pt modelId="{EC4CEF70-4DE0-4909-9E29-D73B49C43D17}" type="sibTrans" cxnId="{46617095-7D91-4586-AC22-A186D89276F2}">
      <dgm:prSet/>
      <dgm:spPr/>
      <dgm:t>
        <a:bodyPr/>
        <a:lstStyle/>
        <a:p>
          <a:endParaRPr lang="fr-FR"/>
        </a:p>
      </dgm:t>
    </dgm:pt>
    <dgm:pt modelId="{BFD9A761-AE52-49EA-A127-F9086D893F97}" type="parTrans" cxnId="{46617095-7D91-4586-AC22-A186D89276F2}">
      <dgm:prSet/>
      <dgm:spPr/>
      <dgm:t>
        <a:bodyPr/>
        <a:lstStyle/>
        <a:p>
          <a:endParaRPr lang="fr-FR"/>
        </a:p>
      </dgm:t>
    </dgm:pt>
    <dgm:pt modelId="{DABC211F-90F7-4523-A023-2671D8CD51A3}" type="pres">
      <dgm:prSet presAssocID="{F7C3060A-8080-44E5-ACC6-31EE4962DDF5}" presName="Name0" presStyleCnt="0">
        <dgm:presLayoutVars>
          <dgm:dir/>
          <dgm:animLvl val="lvl"/>
          <dgm:resizeHandles val="exact"/>
        </dgm:presLayoutVars>
      </dgm:prSet>
      <dgm:spPr/>
    </dgm:pt>
    <dgm:pt modelId="{43CCCD20-8ED9-40EC-B364-948117F4F362}" type="pres">
      <dgm:prSet presAssocID="{FCAE0993-6CEB-4C46-BB6E-5DAE8C5EF28A}" presName="parTxOnly" presStyleLbl="node1" presStyleIdx="0" presStyleCnt="5">
        <dgm:presLayoutVars>
          <dgm:chMax val="0"/>
          <dgm:chPref val="0"/>
          <dgm:bulletEnabled val="1"/>
        </dgm:presLayoutVars>
      </dgm:prSet>
      <dgm:spPr/>
    </dgm:pt>
    <dgm:pt modelId="{9868B014-50A5-4A19-A0EA-7291F8C8B401}" type="pres">
      <dgm:prSet presAssocID="{0AD45C5A-D6CE-4B53-A94D-D06DF3931587}" presName="parTxOnlySpace" presStyleCnt="0"/>
      <dgm:spPr/>
    </dgm:pt>
    <dgm:pt modelId="{0AD436B9-FF27-42D8-9F93-68B56FF8E36C}" type="pres">
      <dgm:prSet presAssocID="{6093E107-5513-45C5-B7EB-873A05E249F3}" presName="parTxOnly" presStyleLbl="node1" presStyleIdx="1" presStyleCnt="5">
        <dgm:presLayoutVars>
          <dgm:chMax val="0"/>
          <dgm:chPref val="0"/>
          <dgm:bulletEnabled val="1"/>
        </dgm:presLayoutVars>
      </dgm:prSet>
      <dgm:spPr/>
    </dgm:pt>
    <dgm:pt modelId="{DC1AD583-A102-47A6-A8FE-FC84C076332A}" type="pres">
      <dgm:prSet presAssocID="{D5398787-423E-4519-B6C4-739F5521F16A}" presName="parTxOnlySpace" presStyleCnt="0"/>
      <dgm:spPr/>
    </dgm:pt>
    <dgm:pt modelId="{90918D30-5EA8-4C4C-A72E-7C1AB050D24E}" type="pres">
      <dgm:prSet presAssocID="{F0C46B1F-A9CB-49B0-ADC6-C970F37FA7B6}" presName="parTxOnly" presStyleLbl="node1" presStyleIdx="2" presStyleCnt="5" custLinFactNeighborX="422" custLinFactNeighborY="0">
        <dgm:presLayoutVars>
          <dgm:chMax val="0"/>
          <dgm:chPref val="0"/>
          <dgm:bulletEnabled val="1"/>
        </dgm:presLayoutVars>
      </dgm:prSet>
      <dgm:spPr/>
    </dgm:pt>
    <dgm:pt modelId="{43D00526-22D6-4FE3-9C37-F5A4DB5FB934}" type="pres">
      <dgm:prSet presAssocID="{EC4CEF70-4DE0-4909-9E29-D73B49C43D17}" presName="parTxOnlySpace" presStyleCnt="0"/>
      <dgm:spPr/>
    </dgm:pt>
    <dgm:pt modelId="{2E82A6A6-F771-4A6E-B55A-C3F57951FE79}" type="pres">
      <dgm:prSet presAssocID="{24E2B388-FE86-4FCD-A5A9-6515209E1ABC}" presName="parTxOnly" presStyleLbl="node1" presStyleIdx="3" presStyleCnt="5">
        <dgm:presLayoutVars>
          <dgm:chMax val="0"/>
          <dgm:chPref val="0"/>
          <dgm:bulletEnabled val="1"/>
        </dgm:presLayoutVars>
      </dgm:prSet>
      <dgm:spPr/>
    </dgm:pt>
    <dgm:pt modelId="{F7280893-05F8-4AC5-AD8A-B3DD6E2BBA36}" type="pres">
      <dgm:prSet presAssocID="{1FA0FA20-C4CF-4383-AC06-B56D80055A80}" presName="parTxOnlySpace" presStyleCnt="0"/>
      <dgm:spPr/>
    </dgm:pt>
    <dgm:pt modelId="{1CE82C42-5252-42BB-8A2A-C6CD46A07506}" type="pres">
      <dgm:prSet presAssocID="{B9B5DF1C-00D0-4DCF-B73C-0765D88ED6AF}" presName="parTxOnly" presStyleLbl="node1" presStyleIdx="4" presStyleCnt="5">
        <dgm:presLayoutVars>
          <dgm:chMax val="0"/>
          <dgm:chPref val="0"/>
          <dgm:bulletEnabled val="1"/>
        </dgm:presLayoutVars>
      </dgm:prSet>
      <dgm:spPr/>
    </dgm:pt>
  </dgm:ptLst>
  <dgm:cxnLst>
    <dgm:cxn modelId="{0EACBF24-EE64-422E-8F07-5B63AFD1D37B}" srcId="{F7C3060A-8080-44E5-ACC6-31EE4962DDF5}" destId="{B9B5DF1C-00D0-4DCF-B73C-0765D88ED6AF}" srcOrd="4" destOrd="0" parTransId="{291FC5C6-5BB9-4118-AE32-13A60DB449D2}" sibTransId="{6F37FA5F-9A9F-4BE8-AE37-92DFCD968526}"/>
    <dgm:cxn modelId="{67228444-D65B-4501-BC07-4860045E626F}" srcId="{F7C3060A-8080-44E5-ACC6-31EE4962DDF5}" destId="{FCAE0993-6CEB-4C46-BB6E-5DAE8C5EF28A}" srcOrd="0" destOrd="0" parTransId="{575C46E7-D8BB-4F16-9DC7-7A1ABDAE9C20}" sibTransId="{0AD45C5A-D6CE-4B53-A94D-D06DF3931587}"/>
    <dgm:cxn modelId="{F11B4E45-EAC6-4425-BE2A-5480CE4B77BA}" type="presOf" srcId="{24E2B388-FE86-4FCD-A5A9-6515209E1ABC}" destId="{2E82A6A6-F771-4A6E-B55A-C3F57951FE79}" srcOrd="0" destOrd="0" presId="urn:microsoft.com/office/officeart/2005/8/layout/chevron1"/>
    <dgm:cxn modelId="{6496A37E-93FA-44C4-9155-B60D8EAE2BB6}" type="presOf" srcId="{6093E107-5513-45C5-B7EB-873A05E249F3}" destId="{0AD436B9-FF27-42D8-9F93-68B56FF8E36C}" srcOrd="0" destOrd="0" presId="urn:microsoft.com/office/officeart/2005/8/layout/chevron1"/>
    <dgm:cxn modelId="{ED9CED90-DDA5-4030-A14F-AA0FB0BC27AA}" type="presOf" srcId="{F0C46B1F-A9CB-49B0-ADC6-C970F37FA7B6}" destId="{90918D30-5EA8-4C4C-A72E-7C1AB050D24E}" srcOrd="0" destOrd="0" presId="urn:microsoft.com/office/officeart/2005/8/layout/chevron1"/>
    <dgm:cxn modelId="{46617095-7D91-4586-AC22-A186D89276F2}" srcId="{F7C3060A-8080-44E5-ACC6-31EE4962DDF5}" destId="{F0C46B1F-A9CB-49B0-ADC6-C970F37FA7B6}" srcOrd="2" destOrd="0" parTransId="{BFD9A761-AE52-49EA-A127-F9086D893F97}" sibTransId="{EC4CEF70-4DE0-4909-9E29-D73B49C43D17}"/>
    <dgm:cxn modelId="{BF10D29D-147D-4B1A-AD67-1C7FC05761BC}" srcId="{F7C3060A-8080-44E5-ACC6-31EE4962DDF5}" destId="{6093E107-5513-45C5-B7EB-873A05E249F3}" srcOrd="1" destOrd="0" parTransId="{A12AC5FA-201C-494E-A401-4966F6B3A598}" sibTransId="{D5398787-423E-4519-B6C4-739F5521F16A}"/>
    <dgm:cxn modelId="{1C368FAC-C8AA-46E3-AFEE-E52EC4284342}" type="presOf" srcId="{B9B5DF1C-00D0-4DCF-B73C-0765D88ED6AF}" destId="{1CE82C42-5252-42BB-8A2A-C6CD46A07506}" srcOrd="0" destOrd="0" presId="urn:microsoft.com/office/officeart/2005/8/layout/chevron1"/>
    <dgm:cxn modelId="{B0E3ECCF-205F-4D06-B61D-701F20987E76}" type="presOf" srcId="{FCAE0993-6CEB-4C46-BB6E-5DAE8C5EF28A}" destId="{43CCCD20-8ED9-40EC-B364-948117F4F362}" srcOrd="0" destOrd="0" presId="urn:microsoft.com/office/officeart/2005/8/layout/chevron1"/>
    <dgm:cxn modelId="{9C8647DF-BFCF-4CB0-BB6D-12E28609AD8A}" type="presOf" srcId="{F7C3060A-8080-44E5-ACC6-31EE4962DDF5}" destId="{DABC211F-90F7-4523-A023-2671D8CD51A3}" srcOrd="0" destOrd="0" presId="urn:microsoft.com/office/officeart/2005/8/layout/chevron1"/>
    <dgm:cxn modelId="{C669E4E9-DBD8-4C56-8C2C-88C016033BD9}" srcId="{F7C3060A-8080-44E5-ACC6-31EE4962DDF5}" destId="{24E2B388-FE86-4FCD-A5A9-6515209E1ABC}" srcOrd="3" destOrd="0" parTransId="{0D62679A-9521-46C3-B199-408033E5343E}" sibTransId="{1FA0FA20-C4CF-4383-AC06-B56D80055A80}"/>
    <dgm:cxn modelId="{57E24A99-A0C3-4364-A812-B7E30FF6E2C9}" type="presParOf" srcId="{DABC211F-90F7-4523-A023-2671D8CD51A3}" destId="{43CCCD20-8ED9-40EC-B364-948117F4F362}" srcOrd="0" destOrd="0" presId="urn:microsoft.com/office/officeart/2005/8/layout/chevron1"/>
    <dgm:cxn modelId="{DFE2C1CA-C90B-47FE-822E-8B9826F2EE7D}" type="presParOf" srcId="{DABC211F-90F7-4523-A023-2671D8CD51A3}" destId="{9868B014-50A5-4A19-A0EA-7291F8C8B401}" srcOrd="1" destOrd="0" presId="urn:microsoft.com/office/officeart/2005/8/layout/chevron1"/>
    <dgm:cxn modelId="{E0E7179C-F16B-4C06-8088-5C1C3327F960}" type="presParOf" srcId="{DABC211F-90F7-4523-A023-2671D8CD51A3}" destId="{0AD436B9-FF27-42D8-9F93-68B56FF8E36C}" srcOrd="2" destOrd="0" presId="urn:microsoft.com/office/officeart/2005/8/layout/chevron1"/>
    <dgm:cxn modelId="{65A57048-17F7-490D-957F-E684E3246F77}" type="presParOf" srcId="{DABC211F-90F7-4523-A023-2671D8CD51A3}" destId="{DC1AD583-A102-47A6-A8FE-FC84C076332A}" srcOrd="3" destOrd="0" presId="urn:microsoft.com/office/officeart/2005/8/layout/chevron1"/>
    <dgm:cxn modelId="{EC2B6012-3336-4C15-9678-F9024B7DE31B}" type="presParOf" srcId="{DABC211F-90F7-4523-A023-2671D8CD51A3}" destId="{90918D30-5EA8-4C4C-A72E-7C1AB050D24E}" srcOrd="4" destOrd="0" presId="urn:microsoft.com/office/officeart/2005/8/layout/chevron1"/>
    <dgm:cxn modelId="{D535B31F-00FE-4537-8488-890748C09D86}" type="presParOf" srcId="{DABC211F-90F7-4523-A023-2671D8CD51A3}" destId="{43D00526-22D6-4FE3-9C37-F5A4DB5FB934}" srcOrd="5" destOrd="0" presId="urn:microsoft.com/office/officeart/2005/8/layout/chevron1"/>
    <dgm:cxn modelId="{AD06A1CA-5AFE-40A7-9EFD-1A14FD200E1E}" type="presParOf" srcId="{DABC211F-90F7-4523-A023-2671D8CD51A3}" destId="{2E82A6A6-F771-4A6E-B55A-C3F57951FE79}" srcOrd="6" destOrd="0" presId="urn:microsoft.com/office/officeart/2005/8/layout/chevron1"/>
    <dgm:cxn modelId="{2C6B59F6-0654-45C1-B9DF-88E1EA9F8AC4}" type="presParOf" srcId="{DABC211F-90F7-4523-A023-2671D8CD51A3}" destId="{F7280893-05F8-4AC5-AD8A-B3DD6E2BBA36}" srcOrd="7" destOrd="0" presId="urn:microsoft.com/office/officeart/2005/8/layout/chevron1"/>
    <dgm:cxn modelId="{F4129924-A26C-4790-A034-C9C2516F5983}" type="presParOf" srcId="{DABC211F-90F7-4523-A023-2671D8CD51A3}" destId="{1CE82C42-5252-42BB-8A2A-C6CD46A07506}" srcOrd="8" destOrd="0" presId="urn:microsoft.com/office/officeart/2005/8/layout/chevron1"/>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C3060A-8080-44E5-ACC6-31EE4962DDF5}" type="doc">
      <dgm:prSet loTypeId="urn:microsoft.com/office/officeart/2005/8/layout/chevron1" loCatId="process" qsTypeId="urn:microsoft.com/office/officeart/2005/8/quickstyle/simple1" qsCatId="simple" csTypeId="urn:microsoft.com/office/officeart/2005/8/colors/accent4_1" csCatId="accent4" phldr="1"/>
      <dgm:spPr/>
    </dgm:pt>
    <dgm:pt modelId="{FCAE0993-6CEB-4C46-BB6E-5DAE8C5EF28A}">
      <dgm:prSet phldrT="[Texte]"/>
      <dgm:spPr>
        <a:ln>
          <a:solidFill>
            <a:srgbClr val="FFC000"/>
          </a:solidFill>
        </a:ln>
      </dgm:spPr>
      <dgm:t>
        <a:bodyPr/>
        <a:lstStyle/>
        <a:p>
          <a:r>
            <a:rPr lang="fr-FR" dirty="0"/>
            <a:t>Avril- mai</a:t>
          </a:r>
        </a:p>
      </dgm:t>
    </dgm:pt>
    <dgm:pt modelId="{575C46E7-D8BB-4F16-9DC7-7A1ABDAE9C20}" type="parTrans" cxnId="{67228444-D65B-4501-BC07-4860045E626F}">
      <dgm:prSet/>
      <dgm:spPr/>
      <dgm:t>
        <a:bodyPr/>
        <a:lstStyle/>
        <a:p>
          <a:endParaRPr lang="fr-FR"/>
        </a:p>
      </dgm:t>
    </dgm:pt>
    <dgm:pt modelId="{0AD45C5A-D6CE-4B53-A94D-D06DF3931587}" type="sibTrans" cxnId="{67228444-D65B-4501-BC07-4860045E626F}">
      <dgm:prSet/>
      <dgm:spPr/>
      <dgm:t>
        <a:bodyPr/>
        <a:lstStyle/>
        <a:p>
          <a:endParaRPr lang="fr-FR"/>
        </a:p>
      </dgm:t>
    </dgm:pt>
    <dgm:pt modelId="{6093E107-5513-45C5-B7EB-873A05E249F3}">
      <dgm:prSet phldrT="[Texte]"/>
      <dgm:spPr>
        <a:ln>
          <a:solidFill>
            <a:srgbClr val="5537AF"/>
          </a:solidFill>
        </a:ln>
      </dgm:spPr>
      <dgm:t>
        <a:bodyPr/>
        <a:lstStyle/>
        <a:p>
          <a:r>
            <a:rPr lang="fr-FR" dirty="0"/>
            <a:t>Mai- septembre </a:t>
          </a:r>
        </a:p>
      </dgm:t>
    </dgm:pt>
    <dgm:pt modelId="{A12AC5FA-201C-494E-A401-4966F6B3A598}" type="parTrans" cxnId="{BF10D29D-147D-4B1A-AD67-1C7FC05761BC}">
      <dgm:prSet/>
      <dgm:spPr/>
      <dgm:t>
        <a:bodyPr/>
        <a:lstStyle/>
        <a:p>
          <a:endParaRPr lang="fr-FR"/>
        </a:p>
      </dgm:t>
    </dgm:pt>
    <dgm:pt modelId="{D5398787-423E-4519-B6C4-739F5521F16A}" type="sibTrans" cxnId="{BF10D29D-147D-4B1A-AD67-1C7FC05761BC}">
      <dgm:prSet/>
      <dgm:spPr/>
      <dgm:t>
        <a:bodyPr/>
        <a:lstStyle/>
        <a:p>
          <a:endParaRPr lang="fr-FR"/>
        </a:p>
      </dgm:t>
    </dgm:pt>
    <dgm:pt modelId="{24E2B388-FE86-4FCD-A5A9-6515209E1ABC}">
      <dgm:prSet phldrT="[Texte]"/>
      <dgm:spPr>
        <a:ln>
          <a:solidFill>
            <a:srgbClr val="FFC000"/>
          </a:solidFill>
        </a:ln>
      </dgm:spPr>
      <dgm:t>
        <a:bodyPr/>
        <a:lstStyle/>
        <a:p>
          <a:r>
            <a:rPr lang="fr-FR" dirty="0"/>
            <a:t>Décembre-janvier</a:t>
          </a:r>
        </a:p>
      </dgm:t>
    </dgm:pt>
    <dgm:pt modelId="{0D62679A-9521-46C3-B199-408033E5343E}" type="parTrans" cxnId="{C669E4E9-DBD8-4C56-8C2C-88C016033BD9}">
      <dgm:prSet/>
      <dgm:spPr/>
      <dgm:t>
        <a:bodyPr/>
        <a:lstStyle/>
        <a:p>
          <a:endParaRPr lang="fr-FR"/>
        </a:p>
      </dgm:t>
    </dgm:pt>
    <dgm:pt modelId="{1FA0FA20-C4CF-4383-AC06-B56D80055A80}" type="sibTrans" cxnId="{C669E4E9-DBD8-4C56-8C2C-88C016033BD9}">
      <dgm:prSet/>
      <dgm:spPr/>
      <dgm:t>
        <a:bodyPr/>
        <a:lstStyle/>
        <a:p>
          <a:endParaRPr lang="fr-FR"/>
        </a:p>
      </dgm:t>
    </dgm:pt>
    <dgm:pt modelId="{B9B5DF1C-00D0-4DCF-B73C-0765D88ED6AF}">
      <dgm:prSet phldrT="[Texte]"/>
      <dgm:spPr>
        <a:ln>
          <a:solidFill>
            <a:srgbClr val="5537AF"/>
          </a:solidFill>
        </a:ln>
      </dgm:spPr>
      <dgm:t>
        <a:bodyPr/>
        <a:lstStyle/>
        <a:p>
          <a:r>
            <a:rPr lang="fr-FR" dirty="0"/>
            <a:t>Après audit – à partir de mars 2026 </a:t>
          </a:r>
        </a:p>
      </dgm:t>
    </dgm:pt>
    <dgm:pt modelId="{291FC5C6-5BB9-4118-AE32-13A60DB449D2}" type="parTrans" cxnId="{0EACBF24-EE64-422E-8F07-5B63AFD1D37B}">
      <dgm:prSet/>
      <dgm:spPr/>
      <dgm:t>
        <a:bodyPr/>
        <a:lstStyle/>
        <a:p>
          <a:endParaRPr lang="fr-FR"/>
        </a:p>
      </dgm:t>
    </dgm:pt>
    <dgm:pt modelId="{6F37FA5F-9A9F-4BE8-AE37-92DFCD968526}" type="sibTrans" cxnId="{0EACBF24-EE64-422E-8F07-5B63AFD1D37B}">
      <dgm:prSet/>
      <dgm:spPr/>
      <dgm:t>
        <a:bodyPr/>
        <a:lstStyle/>
        <a:p>
          <a:endParaRPr lang="fr-FR"/>
        </a:p>
      </dgm:t>
    </dgm:pt>
    <dgm:pt modelId="{F0C46B1F-A9CB-49B0-ADC6-C970F37FA7B6}">
      <dgm:prSet phldrT="[Texte]"/>
      <dgm:spPr>
        <a:ln>
          <a:solidFill>
            <a:srgbClr val="EB5A09"/>
          </a:solidFill>
        </a:ln>
      </dgm:spPr>
      <dgm:t>
        <a:bodyPr/>
        <a:lstStyle/>
        <a:p>
          <a:r>
            <a:rPr lang="fr-FR" dirty="0"/>
            <a:t>Octobre</a:t>
          </a:r>
        </a:p>
      </dgm:t>
    </dgm:pt>
    <dgm:pt modelId="{EC4CEF70-4DE0-4909-9E29-D73B49C43D17}" type="sibTrans" cxnId="{46617095-7D91-4586-AC22-A186D89276F2}">
      <dgm:prSet/>
      <dgm:spPr/>
      <dgm:t>
        <a:bodyPr/>
        <a:lstStyle/>
        <a:p>
          <a:endParaRPr lang="fr-FR"/>
        </a:p>
      </dgm:t>
    </dgm:pt>
    <dgm:pt modelId="{BFD9A761-AE52-49EA-A127-F9086D893F97}" type="parTrans" cxnId="{46617095-7D91-4586-AC22-A186D89276F2}">
      <dgm:prSet/>
      <dgm:spPr/>
      <dgm:t>
        <a:bodyPr/>
        <a:lstStyle/>
        <a:p>
          <a:endParaRPr lang="fr-FR"/>
        </a:p>
      </dgm:t>
    </dgm:pt>
    <dgm:pt modelId="{DABC211F-90F7-4523-A023-2671D8CD51A3}" type="pres">
      <dgm:prSet presAssocID="{F7C3060A-8080-44E5-ACC6-31EE4962DDF5}" presName="Name0" presStyleCnt="0">
        <dgm:presLayoutVars>
          <dgm:dir/>
          <dgm:animLvl val="lvl"/>
          <dgm:resizeHandles val="exact"/>
        </dgm:presLayoutVars>
      </dgm:prSet>
      <dgm:spPr/>
    </dgm:pt>
    <dgm:pt modelId="{43CCCD20-8ED9-40EC-B364-948117F4F362}" type="pres">
      <dgm:prSet presAssocID="{FCAE0993-6CEB-4C46-BB6E-5DAE8C5EF28A}" presName="parTxOnly" presStyleLbl="node1" presStyleIdx="0" presStyleCnt="5">
        <dgm:presLayoutVars>
          <dgm:chMax val="0"/>
          <dgm:chPref val="0"/>
          <dgm:bulletEnabled val="1"/>
        </dgm:presLayoutVars>
      </dgm:prSet>
      <dgm:spPr/>
    </dgm:pt>
    <dgm:pt modelId="{9868B014-50A5-4A19-A0EA-7291F8C8B401}" type="pres">
      <dgm:prSet presAssocID="{0AD45C5A-D6CE-4B53-A94D-D06DF3931587}" presName="parTxOnlySpace" presStyleCnt="0"/>
      <dgm:spPr/>
    </dgm:pt>
    <dgm:pt modelId="{0AD436B9-FF27-42D8-9F93-68B56FF8E36C}" type="pres">
      <dgm:prSet presAssocID="{6093E107-5513-45C5-B7EB-873A05E249F3}" presName="parTxOnly" presStyleLbl="node1" presStyleIdx="1" presStyleCnt="5">
        <dgm:presLayoutVars>
          <dgm:chMax val="0"/>
          <dgm:chPref val="0"/>
          <dgm:bulletEnabled val="1"/>
        </dgm:presLayoutVars>
      </dgm:prSet>
      <dgm:spPr/>
    </dgm:pt>
    <dgm:pt modelId="{DC1AD583-A102-47A6-A8FE-FC84C076332A}" type="pres">
      <dgm:prSet presAssocID="{D5398787-423E-4519-B6C4-739F5521F16A}" presName="parTxOnlySpace" presStyleCnt="0"/>
      <dgm:spPr/>
    </dgm:pt>
    <dgm:pt modelId="{90918D30-5EA8-4C4C-A72E-7C1AB050D24E}" type="pres">
      <dgm:prSet presAssocID="{F0C46B1F-A9CB-49B0-ADC6-C970F37FA7B6}" presName="parTxOnly" presStyleLbl="node1" presStyleIdx="2" presStyleCnt="5" custLinFactNeighborX="422" custLinFactNeighborY="0">
        <dgm:presLayoutVars>
          <dgm:chMax val="0"/>
          <dgm:chPref val="0"/>
          <dgm:bulletEnabled val="1"/>
        </dgm:presLayoutVars>
      </dgm:prSet>
      <dgm:spPr/>
    </dgm:pt>
    <dgm:pt modelId="{43D00526-22D6-4FE3-9C37-F5A4DB5FB934}" type="pres">
      <dgm:prSet presAssocID="{EC4CEF70-4DE0-4909-9E29-D73B49C43D17}" presName="parTxOnlySpace" presStyleCnt="0"/>
      <dgm:spPr/>
    </dgm:pt>
    <dgm:pt modelId="{2E82A6A6-F771-4A6E-B55A-C3F57951FE79}" type="pres">
      <dgm:prSet presAssocID="{24E2B388-FE86-4FCD-A5A9-6515209E1ABC}" presName="parTxOnly" presStyleLbl="node1" presStyleIdx="3" presStyleCnt="5">
        <dgm:presLayoutVars>
          <dgm:chMax val="0"/>
          <dgm:chPref val="0"/>
          <dgm:bulletEnabled val="1"/>
        </dgm:presLayoutVars>
      </dgm:prSet>
      <dgm:spPr/>
    </dgm:pt>
    <dgm:pt modelId="{F7280893-05F8-4AC5-AD8A-B3DD6E2BBA36}" type="pres">
      <dgm:prSet presAssocID="{1FA0FA20-C4CF-4383-AC06-B56D80055A80}" presName="parTxOnlySpace" presStyleCnt="0"/>
      <dgm:spPr/>
    </dgm:pt>
    <dgm:pt modelId="{1CE82C42-5252-42BB-8A2A-C6CD46A07506}" type="pres">
      <dgm:prSet presAssocID="{B9B5DF1C-00D0-4DCF-B73C-0765D88ED6AF}" presName="parTxOnly" presStyleLbl="node1" presStyleIdx="4" presStyleCnt="5">
        <dgm:presLayoutVars>
          <dgm:chMax val="0"/>
          <dgm:chPref val="0"/>
          <dgm:bulletEnabled val="1"/>
        </dgm:presLayoutVars>
      </dgm:prSet>
      <dgm:spPr/>
    </dgm:pt>
  </dgm:ptLst>
  <dgm:cxnLst>
    <dgm:cxn modelId="{0EACBF24-EE64-422E-8F07-5B63AFD1D37B}" srcId="{F7C3060A-8080-44E5-ACC6-31EE4962DDF5}" destId="{B9B5DF1C-00D0-4DCF-B73C-0765D88ED6AF}" srcOrd="4" destOrd="0" parTransId="{291FC5C6-5BB9-4118-AE32-13A60DB449D2}" sibTransId="{6F37FA5F-9A9F-4BE8-AE37-92DFCD968526}"/>
    <dgm:cxn modelId="{67228444-D65B-4501-BC07-4860045E626F}" srcId="{F7C3060A-8080-44E5-ACC6-31EE4962DDF5}" destId="{FCAE0993-6CEB-4C46-BB6E-5DAE8C5EF28A}" srcOrd="0" destOrd="0" parTransId="{575C46E7-D8BB-4F16-9DC7-7A1ABDAE9C20}" sibTransId="{0AD45C5A-D6CE-4B53-A94D-D06DF3931587}"/>
    <dgm:cxn modelId="{F11B4E45-EAC6-4425-BE2A-5480CE4B77BA}" type="presOf" srcId="{24E2B388-FE86-4FCD-A5A9-6515209E1ABC}" destId="{2E82A6A6-F771-4A6E-B55A-C3F57951FE79}" srcOrd="0" destOrd="0" presId="urn:microsoft.com/office/officeart/2005/8/layout/chevron1"/>
    <dgm:cxn modelId="{6496A37E-93FA-44C4-9155-B60D8EAE2BB6}" type="presOf" srcId="{6093E107-5513-45C5-B7EB-873A05E249F3}" destId="{0AD436B9-FF27-42D8-9F93-68B56FF8E36C}" srcOrd="0" destOrd="0" presId="urn:microsoft.com/office/officeart/2005/8/layout/chevron1"/>
    <dgm:cxn modelId="{ED9CED90-DDA5-4030-A14F-AA0FB0BC27AA}" type="presOf" srcId="{F0C46B1F-A9CB-49B0-ADC6-C970F37FA7B6}" destId="{90918D30-5EA8-4C4C-A72E-7C1AB050D24E}" srcOrd="0" destOrd="0" presId="urn:microsoft.com/office/officeart/2005/8/layout/chevron1"/>
    <dgm:cxn modelId="{46617095-7D91-4586-AC22-A186D89276F2}" srcId="{F7C3060A-8080-44E5-ACC6-31EE4962DDF5}" destId="{F0C46B1F-A9CB-49B0-ADC6-C970F37FA7B6}" srcOrd="2" destOrd="0" parTransId="{BFD9A761-AE52-49EA-A127-F9086D893F97}" sibTransId="{EC4CEF70-4DE0-4909-9E29-D73B49C43D17}"/>
    <dgm:cxn modelId="{BF10D29D-147D-4B1A-AD67-1C7FC05761BC}" srcId="{F7C3060A-8080-44E5-ACC6-31EE4962DDF5}" destId="{6093E107-5513-45C5-B7EB-873A05E249F3}" srcOrd="1" destOrd="0" parTransId="{A12AC5FA-201C-494E-A401-4966F6B3A598}" sibTransId="{D5398787-423E-4519-B6C4-739F5521F16A}"/>
    <dgm:cxn modelId="{1C368FAC-C8AA-46E3-AFEE-E52EC4284342}" type="presOf" srcId="{B9B5DF1C-00D0-4DCF-B73C-0765D88ED6AF}" destId="{1CE82C42-5252-42BB-8A2A-C6CD46A07506}" srcOrd="0" destOrd="0" presId="urn:microsoft.com/office/officeart/2005/8/layout/chevron1"/>
    <dgm:cxn modelId="{B0E3ECCF-205F-4D06-B61D-701F20987E76}" type="presOf" srcId="{FCAE0993-6CEB-4C46-BB6E-5DAE8C5EF28A}" destId="{43CCCD20-8ED9-40EC-B364-948117F4F362}" srcOrd="0" destOrd="0" presId="urn:microsoft.com/office/officeart/2005/8/layout/chevron1"/>
    <dgm:cxn modelId="{9C8647DF-BFCF-4CB0-BB6D-12E28609AD8A}" type="presOf" srcId="{F7C3060A-8080-44E5-ACC6-31EE4962DDF5}" destId="{DABC211F-90F7-4523-A023-2671D8CD51A3}" srcOrd="0" destOrd="0" presId="urn:microsoft.com/office/officeart/2005/8/layout/chevron1"/>
    <dgm:cxn modelId="{C669E4E9-DBD8-4C56-8C2C-88C016033BD9}" srcId="{F7C3060A-8080-44E5-ACC6-31EE4962DDF5}" destId="{24E2B388-FE86-4FCD-A5A9-6515209E1ABC}" srcOrd="3" destOrd="0" parTransId="{0D62679A-9521-46C3-B199-408033E5343E}" sibTransId="{1FA0FA20-C4CF-4383-AC06-B56D80055A80}"/>
    <dgm:cxn modelId="{57E24A99-A0C3-4364-A812-B7E30FF6E2C9}" type="presParOf" srcId="{DABC211F-90F7-4523-A023-2671D8CD51A3}" destId="{43CCCD20-8ED9-40EC-B364-948117F4F362}" srcOrd="0" destOrd="0" presId="urn:microsoft.com/office/officeart/2005/8/layout/chevron1"/>
    <dgm:cxn modelId="{DFE2C1CA-C90B-47FE-822E-8B9826F2EE7D}" type="presParOf" srcId="{DABC211F-90F7-4523-A023-2671D8CD51A3}" destId="{9868B014-50A5-4A19-A0EA-7291F8C8B401}" srcOrd="1" destOrd="0" presId="urn:microsoft.com/office/officeart/2005/8/layout/chevron1"/>
    <dgm:cxn modelId="{E0E7179C-F16B-4C06-8088-5C1C3327F960}" type="presParOf" srcId="{DABC211F-90F7-4523-A023-2671D8CD51A3}" destId="{0AD436B9-FF27-42D8-9F93-68B56FF8E36C}" srcOrd="2" destOrd="0" presId="urn:microsoft.com/office/officeart/2005/8/layout/chevron1"/>
    <dgm:cxn modelId="{65A57048-17F7-490D-957F-E684E3246F77}" type="presParOf" srcId="{DABC211F-90F7-4523-A023-2671D8CD51A3}" destId="{DC1AD583-A102-47A6-A8FE-FC84C076332A}" srcOrd="3" destOrd="0" presId="urn:microsoft.com/office/officeart/2005/8/layout/chevron1"/>
    <dgm:cxn modelId="{EC2B6012-3336-4C15-9678-F9024B7DE31B}" type="presParOf" srcId="{DABC211F-90F7-4523-A023-2671D8CD51A3}" destId="{90918D30-5EA8-4C4C-A72E-7C1AB050D24E}" srcOrd="4" destOrd="0" presId="urn:microsoft.com/office/officeart/2005/8/layout/chevron1"/>
    <dgm:cxn modelId="{D535B31F-00FE-4537-8488-890748C09D86}" type="presParOf" srcId="{DABC211F-90F7-4523-A023-2671D8CD51A3}" destId="{43D00526-22D6-4FE3-9C37-F5A4DB5FB934}" srcOrd="5" destOrd="0" presId="urn:microsoft.com/office/officeart/2005/8/layout/chevron1"/>
    <dgm:cxn modelId="{AD06A1CA-5AFE-40A7-9EFD-1A14FD200E1E}" type="presParOf" srcId="{DABC211F-90F7-4523-A023-2671D8CD51A3}" destId="{2E82A6A6-F771-4A6E-B55A-C3F57951FE79}" srcOrd="6" destOrd="0" presId="urn:microsoft.com/office/officeart/2005/8/layout/chevron1"/>
    <dgm:cxn modelId="{2C6B59F6-0654-45C1-B9DF-88E1EA9F8AC4}" type="presParOf" srcId="{DABC211F-90F7-4523-A023-2671D8CD51A3}" destId="{F7280893-05F8-4AC5-AD8A-B3DD6E2BBA36}" srcOrd="7" destOrd="0" presId="urn:microsoft.com/office/officeart/2005/8/layout/chevron1"/>
    <dgm:cxn modelId="{F4129924-A26C-4790-A034-C9C2516F5983}" type="presParOf" srcId="{DABC211F-90F7-4523-A023-2671D8CD51A3}" destId="{1CE82C42-5252-42BB-8A2A-C6CD46A07506}" srcOrd="8" destOrd="0" presId="urn:microsoft.com/office/officeart/2005/8/layout/chevron1"/>
  </dgm:cxnLst>
  <dgm:bg>
    <a:noFill/>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CCD20-8ED9-40EC-B364-948117F4F362}">
      <dsp:nvSpPr>
        <dsp:cNvPr id="0" name=""/>
        <dsp:cNvSpPr/>
      </dsp:nvSpPr>
      <dsp:spPr>
        <a:xfrm>
          <a:off x="4058" y="1486331"/>
          <a:ext cx="1509652" cy="603861"/>
        </a:xfrm>
        <a:prstGeom prst="chevron">
          <a:avLst/>
        </a:prstGeom>
        <a:solidFill>
          <a:srgbClr val="FFC000"/>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kern="1200" dirty="0"/>
            <a:t>Lancement AMI </a:t>
          </a:r>
        </a:p>
      </dsp:txBody>
      <dsp:txXfrm>
        <a:off x="305989" y="1486331"/>
        <a:ext cx="905791" cy="603861"/>
      </dsp:txXfrm>
    </dsp:sp>
    <dsp:sp modelId="{0AD436B9-FF27-42D8-9F93-68B56FF8E36C}">
      <dsp:nvSpPr>
        <dsp:cNvPr id="0" name=""/>
        <dsp:cNvSpPr/>
      </dsp:nvSpPr>
      <dsp:spPr>
        <a:xfrm>
          <a:off x="1362745" y="1486331"/>
          <a:ext cx="1509652" cy="603861"/>
        </a:xfrm>
        <a:prstGeom prst="chevron">
          <a:avLst/>
        </a:prstGeom>
        <a:solidFill>
          <a:srgbClr val="5537AF"/>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kern="1200" dirty="0"/>
            <a:t>Deadline candidatures</a:t>
          </a:r>
        </a:p>
      </dsp:txBody>
      <dsp:txXfrm>
        <a:off x="1664676" y="1486331"/>
        <a:ext cx="905791" cy="603861"/>
      </dsp:txXfrm>
    </dsp:sp>
    <dsp:sp modelId="{90918D30-5EA8-4C4C-A72E-7C1AB050D24E}">
      <dsp:nvSpPr>
        <dsp:cNvPr id="0" name=""/>
        <dsp:cNvSpPr/>
      </dsp:nvSpPr>
      <dsp:spPr>
        <a:xfrm>
          <a:off x="2722070" y="1486331"/>
          <a:ext cx="1509652" cy="603861"/>
        </a:xfrm>
        <a:prstGeom prst="chevron">
          <a:avLst/>
        </a:prstGeom>
        <a:solidFill>
          <a:srgbClr val="EB5A09"/>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kern="1200" dirty="0"/>
            <a:t>Jurys (régions avec AR et Sans AR)</a:t>
          </a:r>
        </a:p>
      </dsp:txBody>
      <dsp:txXfrm>
        <a:off x="3024001" y="1486331"/>
        <a:ext cx="905791" cy="603861"/>
      </dsp:txXfrm>
    </dsp:sp>
    <dsp:sp modelId="{2E82A6A6-F771-4A6E-B55A-C3F57951FE79}">
      <dsp:nvSpPr>
        <dsp:cNvPr id="0" name=""/>
        <dsp:cNvSpPr/>
      </dsp:nvSpPr>
      <dsp:spPr>
        <a:xfrm>
          <a:off x="4080120" y="1486331"/>
          <a:ext cx="1509652" cy="603861"/>
        </a:xfrm>
        <a:prstGeom prst="chevron">
          <a:avLst/>
        </a:prstGeom>
        <a:solidFill>
          <a:srgbClr val="FFC000"/>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kern="1200" dirty="0"/>
            <a:t>Annonce lauréats et signature de conventions </a:t>
          </a:r>
        </a:p>
      </dsp:txBody>
      <dsp:txXfrm>
        <a:off x="4382051" y="1486331"/>
        <a:ext cx="905791" cy="603861"/>
      </dsp:txXfrm>
    </dsp:sp>
    <dsp:sp modelId="{1CE82C42-5252-42BB-8A2A-C6CD46A07506}">
      <dsp:nvSpPr>
        <dsp:cNvPr id="0" name=""/>
        <dsp:cNvSpPr/>
      </dsp:nvSpPr>
      <dsp:spPr>
        <a:xfrm>
          <a:off x="5438807" y="1486331"/>
          <a:ext cx="1509652" cy="603861"/>
        </a:xfrm>
        <a:prstGeom prst="chevron">
          <a:avLst/>
        </a:prstGeom>
        <a:solidFill>
          <a:srgbClr val="5537AF"/>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kern="1200" dirty="0"/>
            <a:t>Bilan intermédiaire</a:t>
          </a:r>
        </a:p>
      </dsp:txBody>
      <dsp:txXfrm>
        <a:off x="5740738" y="1486331"/>
        <a:ext cx="905791" cy="603861"/>
      </dsp:txXfrm>
    </dsp:sp>
    <dsp:sp modelId="{8199053F-5FCD-4F08-954A-91E1A922AC66}">
      <dsp:nvSpPr>
        <dsp:cNvPr id="0" name=""/>
        <dsp:cNvSpPr/>
      </dsp:nvSpPr>
      <dsp:spPr>
        <a:xfrm>
          <a:off x="6797495" y="1486331"/>
          <a:ext cx="1509652" cy="603861"/>
        </a:xfrm>
        <a:prstGeom prst="chevron">
          <a:avLst/>
        </a:prstGeom>
        <a:solidFill>
          <a:srgbClr val="EB5A09"/>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kern="1200" dirty="0"/>
            <a:t>Fin de projet</a:t>
          </a:r>
        </a:p>
      </dsp:txBody>
      <dsp:txXfrm>
        <a:off x="7099426" y="1486331"/>
        <a:ext cx="905791" cy="6038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CCD20-8ED9-40EC-B364-948117F4F362}">
      <dsp:nvSpPr>
        <dsp:cNvPr id="0" name=""/>
        <dsp:cNvSpPr/>
      </dsp:nvSpPr>
      <dsp:spPr>
        <a:xfrm>
          <a:off x="1839" y="1720303"/>
          <a:ext cx="1637230" cy="654892"/>
        </a:xfrm>
        <a:prstGeom prst="chevron">
          <a:avLst/>
        </a:prstGeom>
        <a:solidFill>
          <a:schemeClr val="lt1">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fr-FR" sz="900" kern="1200" dirty="0"/>
            <a:t>Signature convention</a:t>
          </a:r>
        </a:p>
      </dsp:txBody>
      <dsp:txXfrm>
        <a:off x="329285" y="1720303"/>
        <a:ext cx="982338" cy="654892"/>
      </dsp:txXfrm>
    </dsp:sp>
    <dsp:sp modelId="{0AD436B9-FF27-42D8-9F93-68B56FF8E36C}">
      <dsp:nvSpPr>
        <dsp:cNvPr id="0" name=""/>
        <dsp:cNvSpPr/>
      </dsp:nvSpPr>
      <dsp:spPr>
        <a:xfrm>
          <a:off x="1475347" y="1720303"/>
          <a:ext cx="1637230" cy="654892"/>
        </a:xfrm>
        <a:prstGeom prst="chevron">
          <a:avLst/>
        </a:prstGeom>
        <a:solidFill>
          <a:schemeClr val="lt1">
            <a:hueOff val="0"/>
            <a:satOff val="0"/>
            <a:lumOff val="0"/>
            <a:alphaOff val="0"/>
          </a:schemeClr>
        </a:solidFill>
        <a:ln w="25400" cap="flat" cmpd="sng" algn="ctr">
          <a:solidFill>
            <a:srgbClr val="5537A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fr-FR" sz="900" kern="1200" dirty="0"/>
            <a:t>Demandes d’acompte jusqu’à 70% (jusqu’à 2 virements)</a:t>
          </a:r>
        </a:p>
      </dsp:txBody>
      <dsp:txXfrm>
        <a:off x="1802793" y="1720303"/>
        <a:ext cx="982338" cy="654892"/>
      </dsp:txXfrm>
    </dsp:sp>
    <dsp:sp modelId="{90918D30-5EA8-4C4C-A72E-7C1AB050D24E}">
      <dsp:nvSpPr>
        <dsp:cNvPr id="0" name=""/>
        <dsp:cNvSpPr/>
      </dsp:nvSpPr>
      <dsp:spPr>
        <a:xfrm>
          <a:off x="2949545" y="1720303"/>
          <a:ext cx="1637230" cy="654892"/>
        </a:xfrm>
        <a:prstGeom prst="chevron">
          <a:avLst/>
        </a:prstGeom>
        <a:solidFill>
          <a:schemeClr val="lt1">
            <a:hueOff val="0"/>
            <a:satOff val="0"/>
            <a:lumOff val="0"/>
            <a:alphaOff val="0"/>
          </a:schemeClr>
        </a:solidFill>
        <a:ln w="25400" cap="flat" cmpd="sng" algn="ctr">
          <a:solidFill>
            <a:srgbClr val="EB5A0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fr-FR" sz="900" kern="1200" dirty="0"/>
            <a:t>Bilan Intermédiaire</a:t>
          </a:r>
        </a:p>
      </dsp:txBody>
      <dsp:txXfrm>
        <a:off x="3276991" y="1720303"/>
        <a:ext cx="982338" cy="654892"/>
      </dsp:txXfrm>
    </dsp:sp>
    <dsp:sp modelId="{2E82A6A6-F771-4A6E-B55A-C3F57951FE79}">
      <dsp:nvSpPr>
        <dsp:cNvPr id="0" name=""/>
        <dsp:cNvSpPr/>
      </dsp:nvSpPr>
      <dsp:spPr>
        <a:xfrm>
          <a:off x="4422362" y="1720303"/>
          <a:ext cx="1637230" cy="654892"/>
        </a:xfrm>
        <a:prstGeom prst="chevron">
          <a:avLst/>
        </a:prstGeom>
        <a:solidFill>
          <a:schemeClr val="lt1">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fr-FR" sz="900" kern="1200" dirty="0"/>
            <a:t>Bilan final</a:t>
          </a:r>
        </a:p>
        <a:p>
          <a:pPr marL="0" lvl="0" indent="0" algn="ctr" defTabSz="400050">
            <a:lnSpc>
              <a:spcPct val="90000"/>
            </a:lnSpc>
            <a:spcBef>
              <a:spcPct val="0"/>
            </a:spcBef>
            <a:spcAft>
              <a:spcPct val="35000"/>
            </a:spcAft>
            <a:buNone/>
          </a:pPr>
          <a:r>
            <a:rPr lang="fr-FR" sz="900" kern="1200" dirty="0"/>
            <a:t>(20%) </a:t>
          </a:r>
        </a:p>
      </dsp:txBody>
      <dsp:txXfrm>
        <a:off x="4749808" y="1720303"/>
        <a:ext cx="982338" cy="654892"/>
      </dsp:txXfrm>
    </dsp:sp>
    <dsp:sp modelId="{1CE82C42-5252-42BB-8A2A-C6CD46A07506}">
      <dsp:nvSpPr>
        <dsp:cNvPr id="0" name=""/>
        <dsp:cNvSpPr/>
      </dsp:nvSpPr>
      <dsp:spPr>
        <a:xfrm>
          <a:off x="5895869" y="1720303"/>
          <a:ext cx="1637230" cy="654892"/>
        </a:xfrm>
        <a:prstGeom prst="chevron">
          <a:avLst/>
        </a:prstGeom>
        <a:solidFill>
          <a:schemeClr val="lt1">
            <a:hueOff val="0"/>
            <a:satOff val="0"/>
            <a:lumOff val="0"/>
            <a:alphaOff val="0"/>
          </a:schemeClr>
        </a:solidFill>
        <a:ln w="25400" cap="flat" cmpd="sng" algn="ctr">
          <a:solidFill>
            <a:srgbClr val="5537A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r>
            <a:rPr lang="fr-FR" sz="900" kern="1200" dirty="0"/>
            <a:t>Solde</a:t>
          </a:r>
          <a:r>
            <a:rPr lang="fr-FR" sz="900" kern="1200" baseline="0" dirty="0"/>
            <a:t> 10% </a:t>
          </a:r>
          <a:endParaRPr lang="fr-FR" sz="900" kern="1200" dirty="0"/>
        </a:p>
      </dsp:txBody>
      <dsp:txXfrm>
        <a:off x="6223315" y="1720303"/>
        <a:ext cx="982338" cy="6548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CCD20-8ED9-40EC-B364-948117F4F362}">
      <dsp:nvSpPr>
        <dsp:cNvPr id="0" name=""/>
        <dsp:cNvSpPr/>
      </dsp:nvSpPr>
      <dsp:spPr>
        <a:xfrm>
          <a:off x="1818" y="1477408"/>
          <a:ext cx="1618748" cy="647499"/>
        </a:xfrm>
        <a:prstGeom prst="chevron">
          <a:avLst/>
        </a:prstGeom>
        <a:solidFill>
          <a:schemeClr val="lt1">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fr-FR" sz="1300" kern="1200" dirty="0"/>
            <a:t>Avril- mai</a:t>
          </a:r>
        </a:p>
      </dsp:txBody>
      <dsp:txXfrm>
        <a:off x="325568" y="1477408"/>
        <a:ext cx="971249" cy="647499"/>
      </dsp:txXfrm>
    </dsp:sp>
    <dsp:sp modelId="{0AD436B9-FF27-42D8-9F93-68B56FF8E36C}">
      <dsp:nvSpPr>
        <dsp:cNvPr id="0" name=""/>
        <dsp:cNvSpPr/>
      </dsp:nvSpPr>
      <dsp:spPr>
        <a:xfrm>
          <a:off x="1458692" y="1477408"/>
          <a:ext cx="1618748" cy="647499"/>
        </a:xfrm>
        <a:prstGeom prst="chevron">
          <a:avLst/>
        </a:prstGeom>
        <a:solidFill>
          <a:schemeClr val="lt1">
            <a:hueOff val="0"/>
            <a:satOff val="0"/>
            <a:lumOff val="0"/>
            <a:alphaOff val="0"/>
          </a:schemeClr>
        </a:solidFill>
        <a:ln w="25400" cap="flat" cmpd="sng" algn="ctr">
          <a:solidFill>
            <a:srgbClr val="5537A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fr-FR" sz="1300" kern="1200" dirty="0"/>
            <a:t>Mai- septembre </a:t>
          </a:r>
        </a:p>
      </dsp:txBody>
      <dsp:txXfrm>
        <a:off x="1782442" y="1477408"/>
        <a:ext cx="971249" cy="647499"/>
      </dsp:txXfrm>
    </dsp:sp>
    <dsp:sp modelId="{90918D30-5EA8-4C4C-A72E-7C1AB050D24E}">
      <dsp:nvSpPr>
        <dsp:cNvPr id="0" name=""/>
        <dsp:cNvSpPr/>
      </dsp:nvSpPr>
      <dsp:spPr>
        <a:xfrm>
          <a:off x="2916248" y="1477408"/>
          <a:ext cx="1618748" cy="647499"/>
        </a:xfrm>
        <a:prstGeom prst="chevron">
          <a:avLst/>
        </a:prstGeom>
        <a:solidFill>
          <a:schemeClr val="lt1">
            <a:hueOff val="0"/>
            <a:satOff val="0"/>
            <a:lumOff val="0"/>
            <a:alphaOff val="0"/>
          </a:schemeClr>
        </a:solidFill>
        <a:ln w="25400" cap="flat" cmpd="sng" algn="ctr">
          <a:solidFill>
            <a:srgbClr val="EB5A09"/>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fr-FR" sz="1300" kern="1200" dirty="0"/>
            <a:t>Octobre</a:t>
          </a:r>
        </a:p>
      </dsp:txBody>
      <dsp:txXfrm>
        <a:off x="3239998" y="1477408"/>
        <a:ext cx="971249" cy="647499"/>
      </dsp:txXfrm>
    </dsp:sp>
    <dsp:sp modelId="{2E82A6A6-F771-4A6E-B55A-C3F57951FE79}">
      <dsp:nvSpPr>
        <dsp:cNvPr id="0" name=""/>
        <dsp:cNvSpPr/>
      </dsp:nvSpPr>
      <dsp:spPr>
        <a:xfrm>
          <a:off x="4372438" y="1477408"/>
          <a:ext cx="1618748" cy="647499"/>
        </a:xfrm>
        <a:prstGeom prst="chevron">
          <a:avLst/>
        </a:prstGeom>
        <a:solidFill>
          <a:schemeClr val="lt1">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fr-FR" sz="1300" kern="1200" dirty="0"/>
            <a:t>Décembre-janvier</a:t>
          </a:r>
        </a:p>
      </dsp:txBody>
      <dsp:txXfrm>
        <a:off x="4696188" y="1477408"/>
        <a:ext cx="971249" cy="647499"/>
      </dsp:txXfrm>
    </dsp:sp>
    <dsp:sp modelId="{1CE82C42-5252-42BB-8A2A-C6CD46A07506}">
      <dsp:nvSpPr>
        <dsp:cNvPr id="0" name=""/>
        <dsp:cNvSpPr/>
      </dsp:nvSpPr>
      <dsp:spPr>
        <a:xfrm>
          <a:off x="5829312" y="1477408"/>
          <a:ext cx="1618748" cy="647499"/>
        </a:xfrm>
        <a:prstGeom prst="chevron">
          <a:avLst/>
        </a:prstGeom>
        <a:solidFill>
          <a:schemeClr val="lt1">
            <a:hueOff val="0"/>
            <a:satOff val="0"/>
            <a:lumOff val="0"/>
            <a:alphaOff val="0"/>
          </a:schemeClr>
        </a:solidFill>
        <a:ln w="25400" cap="flat" cmpd="sng" algn="ctr">
          <a:solidFill>
            <a:srgbClr val="5537AF"/>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17336" rIns="17336" bIns="17336" numCol="1" spcCol="1270" anchor="ctr" anchorCtr="0">
          <a:noAutofit/>
        </a:bodyPr>
        <a:lstStyle/>
        <a:p>
          <a:pPr marL="0" lvl="0" indent="0" algn="ctr" defTabSz="577850">
            <a:lnSpc>
              <a:spcPct val="90000"/>
            </a:lnSpc>
            <a:spcBef>
              <a:spcPct val="0"/>
            </a:spcBef>
            <a:spcAft>
              <a:spcPct val="35000"/>
            </a:spcAft>
            <a:buNone/>
          </a:pPr>
          <a:r>
            <a:rPr lang="fr-FR" sz="1300" kern="1200" dirty="0"/>
            <a:t>Après audit – à partir de mars 2026 </a:t>
          </a:r>
        </a:p>
      </dsp:txBody>
      <dsp:txXfrm>
        <a:off x="6153062" y="1477408"/>
        <a:ext cx="971249" cy="64749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b860aedd8f_0_6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b860aedd8f_0_6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b898872366_0_2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b898872366_0_2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9518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bc0964617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2bc0964617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6776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f1d0975c3e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1f1d0975c3e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5118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f1d0975c3e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1f1d0975c3e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1114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b898872366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b898872366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b898872366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b898872366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2571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b898872366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b898872366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960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b898872366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b898872366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0295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b898872366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b898872366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0679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b898872366_0_2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b898872366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56004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ba89baed3b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ba89baed3b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7562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ba89baed3b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ba89baed3b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bc0964617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2bc0964617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2bc0964617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2bc0964617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54041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f1d0975c3e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1f1d0975c3e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1f1d0975c3e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1f1d0975c3e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5114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2c3763e7aab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2c3763e7aab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mailto:ami-tlc@ressourceries-recycleries.org" TargetMode="External"/><Relationship Id="rId5"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mailto:ami-tlc@ressourceries-recycleries.org" TargetMode="External"/><Relationship Id="rId5" Type="http://schemas.openxmlformats.org/officeDocument/2006/relationships/image" Target="../media/image4.png"/><Relationship Id="rId4" Type="http://schemas.openxmlformats.org/officeDocument/2006/relationships/image" Target="../media/image5.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5.png"/><Relationship Id="rId7" Type="http://schemas.openxmlformats.org/officeDocument/2006/relationships/diagramQuickStyle" Target="../diagrams/quickStyle1.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6.png"/><Relationship Id="rId9" Type="http://schemas.microsoft.com/office/2007/relationships/diagramDrawing" Target="../diagrams/drawing1.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2.xml"/><Relationship Id="rId13" Type="http://schemas.openxmlformats.org/officeDocument/2006/relationships/diagramColors" Target="../diagrams/colors3.xml"/><Relationship Id="rId3" Type="http://schemas.openxmlformats.org/officeDocument/2006/relationships/image" Target="../media/image5.png"/><Relationship Id="rId7" Type="http://schemas.openxmlformats.org/officeDocument/2006/relationships/diagramQuickStyle" Target="../diagrams/quickStyle2.xml"/><Relationship Id="rId12" Type="http://schemas.openxmlformats.org/officeDocument/2006/relationships/diagramQuickStyle" Target="../diagrams/quickStyle3.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Layout" Target="../diagrams/layout2.xml"/><Relationship Id="rId11" Type="http://schemas.openxmlformats.org/officeDocument/2006/relationships/diagramLayout" Target="../diagrams/layout3.xml"/><Relationship Id="rId5" Type="http://schemas.openxmlformats.org/officeDocument/2006/relationships/diagramData" Target="../diagrams/data2.xml"/><Relationship Id="rId10" Type="http://schemas.openxmlformats.org/officeDocument/2006/relationships/diagramData" Target="../diagrams/data3.xml"/><Relationship Id="rId4" Type="http://schemas.openxmlformats.org/officeDocument/2006/relationships/image" Target="../media/image6.png"/><Relationship Id="rId9" Type="http://schemas.microsoft.com/office/2007/relationships/diagramDrawing" Target="../diagrams/drawing2.xml"/><Relationship Id="rId14" Type="http://schemas.microsoft.com/office/2007/relationships/diagramDrawing" Target="../diagrams/drawing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hyperlink" Target="https://refashion.fr/pro/fr/d%C3%A9tenteur-de-points-d%E2%80%99apport-volontaire" TargetMode="Externa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C823"/>
        </a:solidFill>
        <a:effectLst/>
      </p:bgPr>
    </p:bg>
    <p:spTree>
      <p:nvGrpSpPr>
        <p:cNvPr id="1" name="Shape 53"/>
        <p:cNvGrpSpPr/>
        <p:nvPr/>
      </p:nvGrpSpPr>
      <p:grpSpPr>
        <a:xfrm>
          <a:off x="0" y="0"/>
          <a:ext cx="0" cy="0"/>
          <a:chOff x="0" y="0"/>
          <a:chExt cx="0" cy="0"/>
        </a:xfrm>
      </p:grpSpPr>
      <p:pic>
        <p:nvPicPr>
          <p:cNvPr id="56" name="Google Shape;56;p13"/>
          <p:cNvPicPr preferRelativeResize="0"/>
          <p:nvPr/>
        </p:nvPicPr>
        <p:blipFill>
          <a:blip r:embed="rId3">
            <a:alphaModFix/>
          </a:blip>
          <a:stretch>
            <a:fillRect/>
          </a:stretch>
        </p:blipFill>
        <p:spPr>
          <a:xfrm>
            <a:off x="7671850" y="150000"/>
            <a:ext cx="1095400" cy="442725"/>
          </a:xfrm>
          <a:prstGeom prst="rect">
            <a:avLst/>
          </a:prstGeom>
          <a:noFill/>
          <a:ln>
            <a:noFill/>
          </a:ln>
        </p:spPr>
      </p:pic>
      <p:pic>
        <p:nvPicPr>
          <p:cNvPr id="57" name="Google Shape;57;p13"/>
          <p:cNvPicPr preferRelativeResize="0"/>
          <p:nvPr/>
        </p:nvPicPr>
        <p:blipFill>
          <a:blip r:embed="rId4">
            <a:alphaModFix/>
          </a:blip>
          <a:stretch>
            <a:fillRect/>
          </a:stretch>
        </p:blipFill>
        <p:spPr>
          <a:xfrm rot="402711" flipH="1">
            <a:off x="4565180" y="3598408"/>
            <a:ext cx="1507965" cy="1507965"/>
          </a:xfrm>
          <a:prstGeom prst="rect">
            <a:avLst/>
          </a:prstGeom>
          <a:noFill/>
          <a:ln>
            <a:noFill/>
          </a:ln>
        </p:spPr>
      </p:pic>
      <p:pic>
        <p:nvPicPr>
          <p:cNvPr id="58" name="Google Shape;58;p13"/>
          <p:cNvPicPr preferRelativeResize="0"/>
          <p:nvPr/>
        </p:nvPicPr>
        <p:blipFill rotWithShape="1">
          <a:blip r:embed="rId5">
            <a:alphaModFix/>
          </a:blip>
          <a:srcRect l="13796" r="6133" b="19833"/>
          <a:stretch/>
        </p:blipFill>
        <p:spPr>
          <a:xfrm>
            <a:off x="1282375" y="716175"/>
            <a:ext cx="7861627" cy="4427325"/>
          </a:xfrm>
          <a:prstGeom prst="rect">
            <a:avLst/>
          </a:prstGeom>
          <a:noFill/>
          <a:ln>
            <a:noFill/>
          </a:ln>
        </p:spPr>
      </p:pic>
      <p:cxnSp>
        <p:nvCxnSpPr>
          <p:cNvPr id="59" name="Google Shape;59;p13"/>
          <p:cNvCxnSpPr/>
          <p:nvPr/>
        </p:nvCxnSpPr>
        <p:spPr>
          <a:xfrm>
            <a:off x="427200" y="716175"/>
            <a:ext cx="8289600" cy="0"/>
          </a:xfrm>
          <a:prstGeom prst="straightConnector1">
            <a:avLst/>
          </a:prstGeom>
          <a:noFill/>
          <a:ln w="9525" cap="flat" cmpd="sng">
            <a:solidFill>
              <a:schemeClr val="dk1"/>
            </a:solidFill>
            <a:prstDash val="solid"/>
            <a:round/>
            <a:headEnd type="none" w="med" len="med"/>
            <a:tailEnd type="none" w="med" len="med"/>
          </a:ln>
        </p:spPr>
      </p:cxnSp>
      <p:pic>
        <p:nvPicPr>
          <p:cNvPr id="60" name="Google Shape;60;p13"/>
          <p:cNvPicPr preferRelativeResize="0"/>
          <p:nvPr/>
        </p:nvPicPr>
        <p:blipFill>
          <a:blip r:embed="rId6">
            <a:alphaModFix/>
          </a:blip>
          <a:stretch>
            <a:fillRect/>
          </a:stretch>
        </p:blipFill>
        <p:spPr>
          <a:xfrm rot="-281774">
            <a:off x="6115010" y="957634"/>
            <a:ext cx="2829630" cy="2829605"/>
          </a:xfrm>
          <a:prstGeom prst="rect">
            <a:avLst/>
          </a:prstGeom>
          <a:noFill/>
          <a:ln>
            <a:noFill/>
          </a:ln>
        </p:spPr>
      </p:pic>
      <p:sp>
        <p:nvSpPr>
          <p:cNvPr id="61" name="Google Shape;61;p13"/>
          <p:cNvSpPr txBox="1"/>
          <p:nvPr/>
        </p:nvSpPr>
        <p:spPr>
          <a:xfrm>
            <a:off x="351000" y="3454775"/>
            <a:ext cx="4866042" cy="538579"/>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2300" dirty="0">
                <a:solidFill>
                  <a:schemeClr val="dk1"/>
                </a:solidFill>
                <a:latin typeface="Rubik Light"/>
                <a:ea typeface="Rubik Light"/>
                <a:cs typeface="Rubik Light"/>
                <a:sym typeface="Rubik Light"/>
              </a:rPr>
              <a:t>Présentation de l’AMI 2025</a:t>
            </a:r>
            <a:endParaRPr sz="2300" dirty="0">
              <a:solidFill>
                <a:schemeClr val="dk1"/>
              </a:solidFill>
              <a:latin typeface="Rubik Light"/>
              <a:ea typeface="Rubik Light"/>
              <a:cs typeface="Rubik Light"/>
              <a:sym typeface="Rubik Light"/>
            </a:endParaRPr>
          </a:p>
        </p:txBody>
      </p:sp>
      <p:sp>
        <p:nvSpPr>
          <p:cNvPr id="62" name="Google Shape;62;p13"/>
          <p:cNvSpPr txBox="1"/>
          <p:nvPr/>
        </p:nvSpPr>
        <p:spPr>
          <a:xfrm>
            <a:off x="351000" y="1682750"/>
            <a:ext cx="6349500" cy="1723518"/>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5000" dirty="0">
                <a:solidFill>
                  <a:srgbClr val="EB5A0A"/>
                </a:solidFill>
                <a:latin typeface="Lilita One"/>
                <a:ea typeface="Lilita One"/>
                <a:cs typeface="Lilita One"/>
                <a:sym typeface="Lilita One"/>
              </a:rPr>
              <a:t>FONDS REEMPLOI </a:t>
            </a:r>
          </a:p>
          <a:p>
            <a:pPr marL="0" lvl="0" indent="0" algn="l" rtl="0">
              <a:lnSpc>
                <a:spcPct val="100000"/>
              </a:lnSpc>
              <a:spcBef>
                <a:spcPts val="0"/>
              </a:spcBef>
              <a:spcAft>
                <a:spcPts val="0"/>
              </a:spcAft>
              <a:buNone/>
            </a:pPr>
            <a:r>
              <a:rPr lang="fr-FR" sz="5000" dirty="0">
                <a:solidFill>
                  <a:srgbClr val="EB5A0A"/>
                </a:solidFill>
                <a:latin typeface="Lilita One"/>
                <a:ea typeface="Lilita One"/>
                <a:cs typeface="Lilita One"/>
                <a:sym typeface="Lilita One"/>
              </a:rPr>
              <a:t>TLC 2025</a:t>
            </a:r>
            <a:endParaRPr sz="5000" dirty="0">
              <a:solidFill>
                <a:srgbClr val="EB5A0A"/>
              </a:solidFill>
              <a:latin typeface="Lilita One"/>
              <a:ea typeface="Lilita One"/>
              <a:cs typeface="Lilita One"/>
              <a:sym typeface="Lilita On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3" name="Google Shape;113;p17"/>
          <p:cNvSpPr txBox="1"/>
          <p:nvPr/>
        </p:nvSpPr>
        <p:spPr>
          <a:xfrm>
            <a:off x="404100" y="1246188"/>
            <a:ext cx="4726200" cy="461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1800" dirty="0">
                <a:solidFill>
                  <a:srgbClr val="5537AF"/>
                </a:solidFill>
                <a:latin typeface="Rubik Medium"/>
                <a:ea typeface="Rubik Medium"/>
                <a:cs typeface="Rubik Medium"/>
                <a:sym typeface="Rubik Medium"/>
              </a:rPr>
              <a:t>Proposition 1</a:t>
            </a:r>
            <a:endParaRPr sz="1800" dirty="0">
              <a:solidFill>
                <a:srgbClr val="5537AF"/>
              </a:solidFill>
              <a:latin typeface="Rubik Medium"/>
              <a:ea typeface="Rubik Medium"/>
              <a:cs typeface="Rubik Medium"/>
              <a:sym typeface="Rubik Medium"/>
            </a:endParaRPr>
          </a:p>
        </p:txBody>
      </p:sp>
      <p:sp>
        <p:nvSpPr>
          <p:cNvPr id="114" name="Google Shape;114;p17"/>
          <p:cNvSpPr txBox="1"/>
          <p:nvPr/>
        </p:nvSpPr>
        <p:spPr>
          <a:xfrm>
            <a:off x="404100" y="3055975"/>
            <a:ext cx="47262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fr-FR" sz="1800" dirty="0">
                <a:solidFill>
                  <a:srgbClr val="5537AF"/>
                </a:solidFill>
                <a:latin typeface="Rubik Medium"/>
                <a:ea typeface="Rubik Medium"/>
                <a:cs typeface="Rubik Medium"/>
                <a:sym typeface="Rubik Medium"/>
              </a:rPr>
              <a:t>Proposition 2</a:t>
            </a:r>
            <a:endParaRPr sz="1800" dirty="0">
              <a:solidFill>
                <a:srgbClr val="5537AF"/>
              </a:solidFill>
              <a:latin typeface="Rubik Medium"/>
              <a:ea typeface="Rubik Medium"/>
              <a:cs typeface="Rubik Medium"/>
              <a:sym typeface="Rubik Medium"/>
            </a:endParaRPr>
          </a:p>
        </p:txBody>
      </p:sp>
      <p:sp>
        <p:nvSpPr>
          <p:cNvPr id="115" name="Google Shape;115;p17"/>
          <p:cNvSpPr txBox="1"/>
          <p:nvPr/>
        </p:nvSpPr>
        <p:spPr>
          <a:xfrm>
            <a:off x="351000" y="1587462"/>
            <a:ext cx="8312700" cy="132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100" dirty="0">
                <a:solidFill>
                  <a:schemeClr val="dk1"/>
                </a:solidFill>
                <a:latin typeface="Rubik Light"/>
                <a:ea typeface="Rubik Light"/>
                <a:cs typeface="Rubik Light"/>
                <a:sym typeface="Rubik Light"/>
              </a:rPr>
              <a:t>Les Ressourceries et recycleries agissent pour l’environnement, elles développent une économie solidaire et elles coopèrent dans la transparence avec tous. Ces valeurs partagées par le Réseau National des Ressourceries et Recycleries et ses membres sont inscrites dans notre charte. À travers leur volonté d’action pour l’environnement, de développement d’une économie solidaire et de coopération, les Ressourceries participent activement à la transition nécessaire de nos modèles pour relever les défis de demain. À travers leur volonté d’action pour l’environnement, de développement d’une économie solidaire et de coopération, les Ressourceries participent activement à la transition nécessaire de nos modèles pour relever les défis de demain.</a:t>
            </a:r>
            <a:endParaRPr sz="1100" dirty="0">
              <a:solidFill>
                <a:schemeClr val="dk1"/>
              </a:solidFill>
              <a:latin typeface="Rubik Light"/>
              <a:ea typeface="Rubik Light"/>
              <a:cs typeface="Rubik Light"/>
              <a:sym typeface="Rubik Light"/>
            </a:endParaRPr>
          </a:p>
        </p:txBody>
      </p:sp>
      <p:sp>
        <p:nvSpPr>
          <p:cNvPr id="116" name="Google Shape;116;p17"/>
          <p:cNvSpPr txBox="1"/>
          <p:nvPr/>
        </p:nvSpPr>
        <p:spPr>
          <a:xfrm>
            <a:off x="404100" y="3406500"/>
            <a:ext cx="8312700" cy="132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100">
                <a:solidFill>
                  <a:schemeClr val="dk1"/>
                </a:solidFill>
                <a:latin typeface="Rubik Light"/>
                <a:ea typeface="Rubik Light"/>
                <a:cs typeface="Rubik Light"/>
                <a:sym typeface="Rubik Light"/>
              </a:rPr>
              <a:t>Les Ressourceries et recycleries agissent pour l’environnement, elles développent une économie solidaire et elles coopèrent dans la transparence avec tous. Ces valeurs partagées par le Réseau National des Ressourceries et Recycleries et ses membres sont inscrites dans notre charte. Les Ressourceries et recycleries agissent pour l’environnement, elles développent une économie solidaire et elles coopèrent dans la transparence avec tous. Ces valeurs partagées par le Réseau National des Ressourceries et Recycleries. Ces valeurs partagées par le Réseau National des Ressourceries et Recycleries.</a:t>
            </a:r>
            <a:endParaRPr sz="1100">
              <a:solidFill>
                <a:schemeClr val="dk1"/>
              </a:solidFill>
              <a:latin typeface="Rubik Light"/>
              <a:ea typeface="Rubik Light"/>
              <a:cs typeface="Rubik Light"/>
              <a:sym typeface="Rubik Light"/>
            </a:endParaRPr>
          </a:p>
          <a:p>
            <a:pPr marL="0" lvl="0" indent="0" algn="l" rtl="0">
              <a:lnSpc>
                <a:spcPct val="115000"/>
              </a:lnSpc>
              <a:spcBef>
                <a:spcPts val="0"/>
              </a:spcBef>
              <a:spcAft>
                <a:spcPts val="0"/>
              </a:spcAft>
              <a:buNone/>
            </a:pPr>
            <a:endParaRPr sz="1100">
              <a:solidFill>
                <a:schemeClr val="dk1"/>
              </a:solidFill>
              <a:latin typeface="Rubik Light"/>
              <a:ea typeface="Rubik Light"/>
              <a:cs typeface="Rubik Light"/>
              <a:sym typeface="Rubik Light"/>
            </a:endParaRPr>
          </a:p>
        </p:txBody>
      </p:sp>
      <p:pic>
        <p:nvPicPr>
          <p:cNvPr id="120" name="Google Shape;120;p17"/>
          <p:cNvPicPr preferRelativeResize="0"/>
          <p:nvPr/>
        </p:nvPicPr>
        <p:blipFill>
          <a:blip r:embed="rId3">
            <a:alphaModFix/>
          </a:blip>
          <a:stretch>
            <a:fillRect/>
          </a:stretch>
        </p:blipFill>
        <p:spPr>
          <a:xfrm>
            <a:off x="8338425" y="108050"/>
            <a:ext cx="400201" cy="400201"/>
          </a:xfrm>
          <a:prstGeom prst="rect">
            <a:avLst/>
          </a:prstGeom>
          <a:noFill/>
          <a:ln>
            <a:noFill/>
          </a:ln>
        </p:spPr>
      </p:pic>
      <p:pic>
        <p:nvPicPr>
          <p:cNvPr id="121" name="Google Shape;121;p17"/>
          <p:cNvPicPr preferRelativeResize="0"/>
          <p:nvPr/>
        </p:nvPicPr>
        <p:blipFill rotWithShape="1">
          <a:blip r:embed="rId4">
            <a:alphaModFix/>
          </a:blip>
          <a:srcRect l="59680" t="44833"/>
          <a:stretch/>
        </p:blipFill>
        <p:spPr>
          <a:xfrm>
            <a:off x="6676325" y="3244250"/>
            <a:ext cx="2467675" cy="1899250"/>
          </a:xfrm>
          <a:prstGeom prst="rect">
            <a:avLst/>
          </a:prstGeom>
          <a:noFill/>
          <a:ln>
            <a:noFill/>
          </a:ln>
        </p:spPr>
      </p:pic>
      <p:pic>
        <p:nvPicPr>
          <p:cNvPr id="3" name="Image 2">
            <a:extLst>
              <a:ext uri="{FF2B5EF4-FFF2-40B4-BE49-F238E27FC236}">
                <a16:creationId xmlns:a16="http://schemas.microsoft.com/office/drawing/2014/main" id="{13A1E322-3F2B-437A-BB4C-DB1A5CB3B23A}"/>
              </a:ext>
            </a:extLst>
          </p:cNvPr>
          <p:cNvPicPr>
            <a:picLocks noChangeAspect="1"/>
          </p:cNvPicPr>
          <p:nvPr/>
        </p:nvPicPr>
        <p:blipFill>
          <a:blip r:embed="rId5"/>
          <a:stretch>
            <a:fillRect/>
          </a:stretch>
        </p:blipFill>
        <p:spPr>
          <a:xfrm>
            <a:off x="0" y="2806"/>
            <a:ext cx="9144000" cy="5140694"/>
          </a:xfrm>
          <a:prstGeom prst="rect">
            <a:avLst/>
          </a:prstGeom>
        </p:spPr>
      </p:pic>
    </p:spTree>
    <p:extLst>
      <p:ext uri="{BB962C8B-B14F-4D97-AF65-F5344CB8AC3E}">
        <p14:creationId xmlns:p14="http://schemas.microsoft.com/office/powerpoint/2010/main" val="2295297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1"/>
          <p:cNvSpPr/>
          <p:nvPr/>
        </p:nvSpPr>
        <p:spPr>
          <a:xfrm>
            <a:off x="236764" y="308150"/>
            <a:ext cx="8397856" cy="4415878"/>
          </a:xfrm>
          <a:prstGeom prst="roundRect">
            <a:avLst>
              <a:gd name="adj" fmla="val 16667"/>
            </a:avLst>
          </a:prstGeom>
          <a:solidFill>
            <a:srgbClr val="FAF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u="sng">
              <a:solidFill>
                <a:srgbClr val="FAF0F0"/>
              </a:solidFill>
              <a:highlight>
                <a:srgbClr val="FAF0F0"/>
              </a:highlight>
            </a:endParaRPr>
          </a:p>
        </p:txBody>
      </p:sp>
      <p:sp>
        <p:nvSpPr>
          <p:cNvPr id="321" name="Google Shape;321;p31"/>
          <p:cNvSpPr txBox="1"/>
          <p:nvPr/>
        </p:nvSpPr>
        <p:spPr>
          <a:xfrm>
            <a:off x="1111441" y="409686"/>
            <a:ext cx="6648502" cy="569356"/>
          </a:xfrm>
          <a:prstGeom prst="rect">
            <a:avLst/>
          </a:prstGeom>
          <a:noFill/>
          <a:ln>
            <a:noFill/>
          </a:ln>
        </p:spPr>
        <p:txBody>
          <a:bodyPr spcFirstLastPara="1" wrap="square" lIns="91425" tIns="91425" rIns="91425" bIns="91425" anchor="t" anchorCtr="0">
            <a:spAutoFit/>
          </a:bodyPr>
          <a:lstStyle/>
          <a:p>
            <a:pPr lvl="0"/>
            <a:r>
              <a:rPr lang="fr-FR" sz="2500" dirty="0">
                <a:solidFill>
                  <a:srgbClr val="5537AF"/>
                </a:solidFill>
                <a:latin typeface="Lilita One"/>
                <a:ea typeface="Lilita One"/>
                <a:cs typeface="Lilita One"/>
                <a:sym typeface="Lilita One"/>
              </a:rPr>
              <a:t>Enveloppe globale adhérents : </a:t>
            </a:r>
            <a:r>
              <a:rPr lang="fr-FR" sz="2500" dirty="0">
                <a:solidFill>
                  <a:srgbClr val="5537AF"/>
                </a:solidFill>
                <a:latin typeface="Lilita One"/>
              </a:rPr>
              <a:t>673 392,00 € </a:t>
            </a:r>
            <a:r>
              <a:rPr lang="fr-FR" sz="2500" dirty="0">
                <a:solidFill>
                  <a:srgbClr val="5537AF"/>
                </a:solidFill>
                <a:latin typeface="Lilita One"/>
                <a:sym typeface="Lilita One"/>
              </a:rPr>
              <a:t> </a:t>
            </a:r>
            <a:endParaRPr sz="2500" dirty="0">
              <a:solidFill>
                <a:srgbClr val="5537AF"/>
              </a:solidFill>
              <a:latin typeface="Lilita One"/>
              <a:sym typeface="Lilita One"/>
            </a:endParaRPr>
          </a:p>
        </p:txBody>
      </p:sp>
      <p:pic>
        <p:nvPicPr>
          <p:cNvPr id="326" name="Google Shape;326;p31"/>
          <p:cNvPicPr preferRelativeResize="0"/>
          <p:nvPr/>
        </p:nvPicPr>
        <p:blipFill>
          <a:blip r:embed="rId3">
            <a:alphaModFix/>
          </a:blip>
          <a:stretch>
            <a:fillRect/>
          </a:stretch>
        </p:blipFill>
        <p:spPr>
          <a:xfrm>
            <a:off x="8338425" y="108050"/>
            <a:ext cx="400201" cy="400201"/>
          </a:xfrm>
          <a:prstGeom prst="rect">
            <a:avLst/>
          </a:prstGeom>
          <a:noFill/>
          <a:ln>
            <a:noFill/>
          </a:ln>
        </p:spPr>
      </p:pic>
      <p:pic>
        <p:nvPicPr>
          <p:cNvPr id="327" name="Google Shape;327;p31"/>
          <p:cNvPicPr preferRelativeResize="0"/>
          <p:nvPr/>
        </p:nvPicPr>
        <p:blipFill rotWithShape="1">
          <a:blip r:embed="rId4">
            <a:alphaModFix/>
          </a:blip>
          <a:srcRect l="49189" t="36736"/>
          <a:stretch/>
        </p:blipFill>
        <p:spPr>
          <a:xfrm>
            <a:off x="4986625" y="2231850"/>
            <a:ext cx="4157376" cy="2911650"/>
          </a:xfrm>
          <a:prstGeom prst="rect">
            <a:avLst/>
          </a:prstGeom>
          <a:noFill/>
          <a:ln>
            <a:noFill/>
          </a:ln>
        </p:spPr>
      </p:pic>
      <p:graphicFrame>
        <p:nvGraphicFramePr>
          <p:cNvPr id="4" name="Tableau 3">
            <a:extLst>
              <a:ext uri="{FF2B5EF4-FFF2-40B4-BE49-F238E27FC236}">
                <a16:creationId xmlns:a16="http://schemas.microsoft.com/office/drawing/2014/main" id="{AF37E758-E4B9-46F4-94E0-A1E7741760E8}"/>
              </a:ext>
            </a:extLst>
          </p:cNvPr>
          <p:cNvGraphicFramePr>
            <a:graphicFrameLocks noGrp="1"/>
          </p:cNvGraphicFramePr>
          <p:nvPr>
            <p:extLst>
              <p:ext uri="{D42A27DB-BD31-4B8C-83A1-F6EECF244321}">
                <p14:modId xmlns:p14="http://schemas.microsoft.com/office/powerpoint/2010/main" val="3256851815"/>
              </p:ext>
            </p:extLst>
          </p:nvPr>
        </p:nvGraphicFramePr>
        <p:xfrm>
          <a:off x="1029684" y="965293"/>
          <a:ext cx="6812016" cy="3474695"/>
        </p:xfrm>
        <a:graphic>
          <a:graphicData uri="http://schemas.openxmlformats.org/drawingml/2006/table">
            <a:tbl>
              <a:tblPr/>
              <a:tblGrid>
                <a:gridCol w="1476074">
                  <a:extLst>
                    <a:ext uri="{9D8B030D-6E8A-4147-A177-3AD203B41FA5}">
                      <a16:colId xmlns:a16="http://schemas.microsoft.com/office/drawing/2014/main" val="2971415402"/>
                    </a:ext>
                  </a:extLst>
                </a:gridCol>
                <a:gridCol w="1822309">
                  <a:extLst>
                    <a:ext uri="{9D8B030D-6E8A-4147-A177-3AD203B41FA5}">
                      <a16:colId xmlns:a16="http://schemas.microsoft.com/office/drawing/2014/main" val="4134872602"/>
                    </a:ext>
                  </a:extLst>
                </a:gridCol>
                <a:gridCol w="2007887">
                  <a:extLst>
                    <a:ext uri="{9D8B030D-6E8A-4147-A177-3AD203B41FA5}">
                      <a16:colId xmlns:a16="http://schemas.microsoft.com/office/drawing/2014/main" val="2311425092"/>
                    </a:ext>
                  </a:extLst>
                </a:gridCol>
                <a:gridCol w="1505746">
                  <a:extLst>
                    <a:ext uri="{9D8B030D-6E8A-4147-A177-3AD203B41FA5}">
                      <a16:colId xmlns:a16="http://schemas.microsoft.com/office/drawing/2014/main" val="1485671527"/>
                    </a:ext>
                  </a:extLst>
                </a:gridCol>
              </a:tblGrid>
              <a:tr h="297810">
                <a:tc>
                  <a:txBody>
                    <a:bodyPr/>
                    <a:lstStyle/>
                    <a:p>
                      <a:pPr rtl="0" fontAlgn="b"/>
                      <a:endParaRPr lang="fr-FR" sz="1000" b="1" dirty="0">
                        <a:solidFill>
                          <a:schemeClr val="tx1"/>
                        </a:solidFill>
                        <a:effectLst/>
                        <a:latin typeface="Rubik Medium" panose="020B0604020202020204" charset="-79"/>
                        <a:cs typeface="Rubik Medium" panose="020B0604020202020204" charset="-79"/>
                      </a:endParaRP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rtl="0" fontAlgn="b"/>
                      <a:r>
                        <a:rPr lang="fr-FR" sz="1000" b="1" dirty="0">
                          <a:solidFill>
                            <a:schemeClr val="tx1"/>
                          </a:solidFill>
                          <a:effectLst/>
                          <a:latin typeface="Rubik Medium" panose="020B0604020202020204" charset="-79"/>
                          <a:cs typeface="Rubik Medium" panose="020B0604020202020204" charset="-79"/>
                        </a:rPr>
                        <a:t>Nb adhérents RNRR dans la région</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rtl="0" fontAlgn="b"/>
                      <a:r>
                        <a:rPr lang="fr-FR" sz="1000" b="1" dirty="0">
                          <a:solidFill>
                            <a:schemeClr val="tx1"/>
                          </a:solidFill>
                          <a:effectLst/>
                          <a:latin typeface="Rubik Medium" panose="020B0604020202020204" charset="-79"/>
                          <a:cs typeface="Rubik Medium" panose="020B0604020202020204" charset="-79"/>
                        </a:rPr>
                        <a:t>% adhérents RNRR dans la région</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rtl="0" fontAlgn="b"/>
                      <a:r>
                        <a:rPr lang="fr-FR" sz="1000" b="1" dirty="0">
                          <a:solidFill>
                            <a:schemeClr val="tx1"/>
                          </a:solidFill>
                          <a:effectLst/>
                          <a:latin typeface="Rubik Medium" panose="020B0604020202020204" charset="-79"/>
                          <a:cs typeface="Rubik Medium" panose="020B0604020202020204" charset="-79"/>
                        </a:rPr>
                        <a:t>Enveloppe adhérents (673,392k€)</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123965759"/>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AURA</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33</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13,64%</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91 826,18 €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2579240019"/>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Ile-de-France</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29</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11,98%</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80 695,74 €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3339948298"/>
                  </a:ext>
                </a:extLst>
              </a:tr>
              <a:tr h="187299">
                <a:tc>
                  <a:txBody>
                    <a:bodyPr/>
                    <a:lstStyle/>
                    <a:p>
                      <a:pPr rtl="0" fontAlgn="b"/>
                      <a:r>
                        <a:rPr lang="fr-FR" sz="1000" b="1" dirty="0">
                          <a:solidFill>
                            <a:schemeClr val="bg1"/>
                          </a:solidFill>
                          <a:effectLst/>
                          <a:latin typeface="Rubik Medium" panose="020B0604020202020204" charset="-79"/>
                          <a:cs typeface="Rubik Medium" panose="020B0604020202020204" charset="-79"/>
                        </a:rPr>
                        <a:t>Nouvelle-Aquitaine</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34</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14,05%</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94 608,79 €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2452566668"/>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Occitanie</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33</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13,64%</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91 826,18 €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4089049927"/>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PACA</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26</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10,74%</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72 347,90 €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576461863"/>
                  </a:ext>
                </a:extLst>
              </a:tr>
              <a:tr h="177312">
                <a:tc>
                  <a:txBody>
                    <a:bodyPr/>
                    <a:lstStyle/>
                    <a:p>
                      <a:pPr rtl="0" fontAlgn="b"/>
                      <a:r>
                        <a:rPr lang="fr-FR" sz="1000" b="1" dirty="0">
                          <a:solidFill>
                            <a:schemeClr val="bg1"/>
                          </a:solidFill>
                          <a:effectLst/>
                          <a:latin typeface="Rubik Medium" panose="020B0604020202020204" charset="-79"/>
                          <a:cs typeface="Rubik Medium" panose="020B0604020202020204" charset="-79"/>
                        </a:rPr>
                        <a:t>Hauts-de-France</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20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8,26%</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55 652,23 €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303772287"/>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Normandie</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18</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7,44%</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50 087,01 €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2961534828"/>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BFC</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13</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5,37%</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36 173,95 €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1182200580"/>
                  </a:ext>
                </a:extLst>
              </a:tr>
              <a:tr h="177312">
                <a:tc>
                  <a:txBody>
                    <a:bodyPr/>
                    <a:lstStyle/>
                    <a:p>
                      <a:pPr rtl="0" fontAlgn="b"/>
                      <a:r>
                        <a:rPr lang="fr-FR" sz="1000" b="1">
                          <a:solidFill>
                            <a:schemeClr val="bg1"/>
                          </a:solidFill>
                          <a:effectLst/>
                          <a:latin typeface="Rubik Medium" panose="020B0604020202020204" charset="-79"/>
                          <a:cs typeface="Rubik Medium" panose="020B0604020202020204" charset="-79"/>
                        </a:rPr>
                        <a:t>Pays-de-la-Loire</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7</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2,89%</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19 478,28 €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1583591643"/>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Grand-Est</a:t>
                      </a:r>
                    </a:p>
                  </a:txBody>
                  <a:tcPr marL="5028" marR="5028" marT="3352" marB="3352" anchor="b">
                    <a:lnL w="4763"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10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4,13%</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27 826,12 €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1428633320"/>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CVL</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9</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3,72%</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25 043,50 €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3643712488"/>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Bretagne</a:t>
                      </a:r>
                    </a:p>
                  </a:txBody>
                  <a:tcPr marL="5028" marR="5028" marT="3352" marB="3352" anchor="b">
                    <a:lnL w="9525"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6</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2,48%</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16 695,67 €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1078541750"/>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La Réunion</a:t>
                      </a:r>
                    </a:p>
                  </a:txBody>
                  <a:tcPr marL="5028" marR="5028" marT="3352" marB="3352" anchor="b">
                    <a:lnL w="4763"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2</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0,83%</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5 565,22 €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2377711166"/>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Martinique</a:t>
                      </a:r>
                    </a:p>
                  </a:txBody>
                  <a:tcPr marL="5028" marR="5028" marT="3352" marB="3352" anchor="b">
                    <a:lnL w="4763"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1</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0,41%</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2 782,61 €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2167569740"/>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Guadeloupe</a:t>
                      </a:r>
                    </a:p>
                  </a:txBody>
                  <a:tcPr marL="5028" marR="5028" marT="3352" marB="3352" anchor="b">
                    <a:lnL w="4763"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0,00%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2141214341"/>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Guyane</a:t>
                      </a:r>
                    </a:p>
                  </a:txBody>
                  <a:tcPr marL="5028" marR="5028" marT="3352" marB="3352" anchor="b">
                    <a:lnL w="4763"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1</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0,41%</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2 782,61 €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49733193"/>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Corse</a:t>
                      </a:r>
                    </a:p>
                  </a:txBody>
                  <a:tcPr marL="5028" marR="5028" marT="3352" marB="3352" anchor="b">
                    <a:lnL w="4763"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0,00%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3588260270"/>
                  </a:ext>
                </a:extLst>
              </a:tr>
              <a:tr h="152109">
                <a:tc>
                  <a:txBody>
                    <a:bodyPr/>
                    <a:lstStyle/>
                    <a:p>
                      <a:pPr rtl="0" fontAlgn="b"/>
                      <a:r>
                        <a:rPr lang="fr-FR" sz="1000" b="1" dirty="0">
                          <a:solidFill>
                            <a:schemeClr val="bg1"/>
                          </a:solidFill>
                          <a:effectLst/>
                          <a:latin typeface="Rubik Medium" panose="020B0604020202020204" charset="-79"/>
                          <a:cs typeface="Rubik Medium" panose="020B0604020202020204" charset="-79"/>
                        </a:rPr>
                        <a:t>Mayotte</a:t>
                      </a:r>
                    </a:p>
                  </a:txBody>
                  <a:tcPr marL="5028" marR="5028" marT="3352" marB="3352" anchor="b">
                    <a:lnL w="4763"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0,00%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extLst>
                  <a:ext uri="{0D108BD9-81ED-4DB2-BD59-A6C34878D82A}">
                    <a16:rowId xmlns:a16="http://schemas.microsoft.com/office/drawing/2014/main" val="2361605418"/>
                  </a:ext>
                </a:extLst>
              </a:tr>
              <a:tr h="234708">
                <a:tc>
                  <a:txBody>
                    <a:bodyPr/>
                    <a:lstStyle/>
                    <a:p>
                      <a:pPr rtl="0" fontAlgn="b"/>
                      <a:r>
                        <a:rPr lang="fr-FR" sz="1000" b="1" dirty="0">
                          <a:solidFill>
                            <a:schemeClr val="bg1"/>
                          </a:solidFill>
                          <a:effectLst/>
                          <a:latin typeface="Rubik Medium" panose="020B0604020202020204" charset="-79"/>
                          <a:cs typeface="Rubik Medium" panose="020B0604020202020204" charset="-79"/>
                        </a:rPr>
                        <a:t>Nouvelle-Calédonie</a:t>
                      </a:r>
                    </a:p>
                  </a:txBody>
                  <a:tcPr marL="5028" marR="5028" marT="3352" marB="3352" anchor="b">
                    <a:lnL w="4763" cap="flat" cmpd="sng" algn="ctr">
                      <a:solidFill>
                        <a:srgbClr val="000000"/>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000000"/>
                      </a:solidFill>
                      <a:prstDash val="solid"/>
                      <a:round/>
                      <a:headEnd type="none" w="med" len="med"/>
                      <a:tailEnd type="none" w="med" len="med"/>
                    </a:lnB>
                    <a:solidFill>
                      <a:srgbClr val="5537AF"/>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a:solidFill>
                            <a:schemeClr val="tx1"/>
                          </a:solidFill>
                          <a:effectLst/>
                          <a:latin typeface="Rubik Medium" panose="020B0604020202020204" charset="-79"/>
                          <a:cs typeface="Rubik Medium" panose="020B0604020202020204" charset="-79"/>
                        </a:rPr>
                        <a:t>0,00%</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4763" cap="flat" cmpd="sng" algn="ctr">
                      <a:solidFill>
                        <a:srgbClr val="CCCCCC"/>
                      </a:solidFill>
                      <a:prstDash val="solid"/>
                      <a:round/>
                      <a:headEnd type="none" w="med" len="med"/>
                      <a:tailEnd type="none" w="med" len="med"/>
                    </a:lnB>
                    <a:solidFill>
                      <a:schemeClr val="bg1"/>
                    </a:solidFill>
                  </a:tcPr>
                </a:tc>
                <a:tc>
                  <a:txBody>
                    <a:bodyPr/>
                    <a:lstStyle/>
                    <a:p>
                      <a:pPr algn="r" rtl="0" fontAlgn="b"/>
                      <a:r>
                        <a:rPr lang="fr-FR" sz="1000" b="1" dirty="0">
                          <a:solidFill>
                            <a:schemeClr val="tx1"/>
                          </a:solidFill>
                          <a:effectLst/>
                          <a:latin typeface="Rubik Medium" panose="020B0604020202020204" charset="-79"/>
                          <a:cs typeface="Rubik Medium" panose="020B0604020202020204" charset="-79"/>
                        </a:rPr>
                        <a:t>- € </a:t>
                      </a:r>
                    </a:p>
                  </a:txBody>
                  <a:tcPr marL="5028" marR="5028" marT="3352" marB="3352" anchor="b">
                    <a:lnL w="4763" cap="flat" cmpd="sng" algn="ctr">
                      <a:solidFill>
                        <a:srgbClr val="CCCCCC"/>
                      </a:solidFill>
                      <a:prstDash val="solid"/>
                      <a:round/>
                      <a:headEnd type="none" w="med" len="med"/>
                      <a:tailEnd type="none" w="med" len="med"/>
                    </a:lnL>
                    <a:lnR w="4763" cap="flat" cmpd="sng" algn="ctr">
                      <a:solidFill>
                        <a:srgbClr val="CCCCCC"/>
                      </a:solidFill>
                      <a:prstDash val="solid"/>
                      <a:round/>
                      <a:headEnd type="none" w="med" len="med"/>
                      <a:tailEnd type="none" w="med" len="med"/>
                    </a:lnR>
                    <a:lnT w="4763"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23675550"/>
                  </a:ext>
                </a:extLst>
              </a:tr>
            </a:tbl>
          </a:graphicData>
        </a:graphic>
      </p:graphicFrame>
      <p:sp>
        <p:nvSpPr>
          <p:cNvPr id="5" name="Rectangle 4">
            <a:extLst>
              <a:ext uri="{FF2B5EF4-FFF2-40B4-BE49-F238E27FC236}">
                <a16:creationId xmlns:a16="http://schemas.microsoft.com/office/drawing/2014/main" id="{AF6823AC-822D-4C51-8E9C-3F3CBEAF3D60}"/>
              </a:ext>
            </a:extLst>
          </p:cNvPr>
          <p:cNvSpPr/>
          <p:nvPr/>
        </p:nvSpPr>
        <p:spPr>
          <a:xfrm>
            <a:off x="105069" y="4801017"/>
            <a:ext cx="5159829" cy="246221"/>
          </a:xfrm>
          <a:prstGeom prst="rect">
            <a:avLst/>
          </a:prstGeom>
        </p:spPr>
        <p:txBody>
          <a:bodyPr wrap="square">
            <a:spAutoFit/>
          </a:bodyPr>
          <a:lstStyle/>
          <a:p>
            <a:r>
              <a:rPr lang="fr-FR" sz="1000" b="1" dirty="0">
                <a:latin typeface="Rubik Medium" panose="020B0604020202020204" charset="-79"/>
                <a:cs typeface="Rubik Medium" panose="020B0604020202020204" charset="-79"/>
              </a:rPr>
              <a:t>Répartition : une part fixe + une pondération nombre d’adhérents par région.</a:t>
            </a:r>
          </a:p>
        </p:txBody>
      </p:sp>
    </p:spTree>
    <p:extLst>
      <p:ext uri="{BB962C8B-B14F-4D97-AF65-F5344CB8AC3E}">
        <p14:creationId xmlns:p14="http://schemas.microsoft.com/office/powerpoint/2010/main" val="2362135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32"/>
          <p:cNvPicPr preferRelativeResize="0"/>
          <p:nvPr/>
        </p:nvPicPr>
        <p:blipFill rotWithShape="1">
          <a:blip r:embed="rId3">
            <a:alphaModFix/>
          </a:blip>
          <a:srcRect l="58355" b="26524"/>
          <a:stretch/>
        </p:blipFill>
        <p:spPr>
          <a:xfrm>
            <a:off x="5346574" y="0"/>
            <a:ext cx="3807950" cy="3779274"/>
          </a:xfrm>
          <a:prstGeom prst="rect">
            <a:avLst/>
          </a:prstGeom>
          <a:noFill/>
          <a:ln>
            <a:noFill/>
          </a:ln>
        </p:spPr>
      </p:pic>
      <p:sp>
        <p:nvSpPr>
          <p:cNvPr id="333" name="Google Shape;333;p32"/>
          <p:cNvSpPr txBox="1"/>
          <p:nvPr/>
        </p:nvSpPr>
        <p:spPr>
          <a:xfrm>
            <a:off x="233915" y="225792"/>
            <a:ext cx="4660480" cy="646300"/>
          </a:xfrm>
          <a:prstGeom prst="rect">
            <a:avLst/>
          </a:prstGeom>
          <a:noFill/>
          <a:ln>
            <a:noFill/>
          </a:ln>
        </p:spPr>
        <p:txBody>
          <a:bodyPr spcFirstLastPara="1" wrap="square" lIns="91425" tIns="91425" rIns="91425" bIns="91425" anchor="t" anchorCtr="0">
            <a:spAutoFit/>
          </a:bodyPr>
          <a:lstStyle/>
          <a:p>
            <a:pPr lvl="0"/>
            <a:r>
              <a:rPr lang="fr-FR" sz="3000" dirty="0">
                <a:solidFill>
                  <a:srgbClr val="5537AF"/>
                </a:solidFill>
                <a:latin typeface="Lilita One"/>
                <a:ea typeface="Lilita One"/>
                <a:cs typeface="Lilita One"/>
                <a:sym typeface="Lilita One"/>
              </a:rPr>
              <a:t>COMMENT </a:t>
            </a:r>
            <a:r>
              <a:rPr lang="fr-FR" sz="3000" dirty="0">
                <a:solidFill>
                  <a:srgbClr val="5537AF"/>
                </a:solidFill>
                <a:latin typeface="Lilita One"/>
              </a:rPr>
              <a:t>Ç</a:t>
            </a:r>
            <a:r>
              <a:rPr lang="fr-FR" sz="3000" dirty="0">
                <a:solidFill>
                  <a:srgbClr val="5537AF"/>
                </a:solidFill>
                <a:latin typeface="Lilita One"/>
                <a:ea typeface="Lilita One"/>
                <a:cs typeface="Lilita One"/>
                <a:sym typeface="Lilita One"/>
              </a:rPr>
              <a:t>A MARCHE? </a:t>
            </a:r>
            <a:endParaRPr sz="3000" dirty="0">
              <a:solidFill>
                <a:srgbClr val="5537AF"/>
              </a:solidFill>
              <a:latin typeface="Lilita One"/>
              <a:ea typeface="Lilita One"/>
              <a:cs typeface="Lilita One"/>
              <a:sym typeface="Lilita One"/>
            </a:endParaRPr>
          </a:p>
        </p:txBody>
      </p:sp>
      <p:pic>
        <p:nvPicPr>
          <p:cNvPr id="355" name="Google Shape;355;p32"/>
          <p:cNvPicPr preferRelativeResize="0"/>
          <p:nvPr/>
        </p:nvPicPr>
        <p:blipFill>
          <a:blip r:embed="rId4">
            <a:alphaModFix/>
          </a:blip>
          <a:stretch>
            <a:fillRect/>
          </a:stretch>
        </p:blipFill>
        <p:spPr>
          <a:xfrm>
            <a:off x="8338425" y="108050"/>
            <a:ext cx="400201" cy="400201"/>
          </a:xfrm>
          <a:prstGeom prst="rect">
            <a:avLst/>
          </a:prstGeom>
          <a:noFill/>
          <a:ln>
            <a:noFill/>
          </a:ln>
        </p:spPr>
      </p:pic>
      <p:pic>
        <p:nvPicPr>
          <p:cNvPr id="12" name="Google Shape;60;p13">
            <a:extLst>
              <a:ext uri="{FF2B5EF4-FFF2-40B4-BE49-F238E27FC236}">
                <a16:creationId xmlns:a16="http://schemas.microsoft.com/office/drawing/2014/main" id="{B06D575F-FB5E-4347-9BE5-E05FD7FA283B}"/>
              </a:ext>
            </a:extLst>
          </p:cNvPr>
          <p:cNvPicPr preferRelativeResize="0"/>
          <p:nvPr/>
        </p:nvPicPr>
        <p:blipFill>
          <a:blip r:embed="rId5">
            <a:alphaModFix/>
          </a:blip>
          <a:stretch>
            <a:fillRect/>
          </a:stretch>
        </p:blipFill>
        <p:spPr>
          <a:xfrm rot="-281774">
            <a:off x="-470089" y="2254807"/>
            <a:ext cx="2829630" cy="2829605"/>
          </a:xfrm>
          <a:prstGeom prst="rect">
            <a:avLst/>
          </a:prstGeom>
          <a:noFill/>
          <a:ln>
            <a:noFill/>
          </a:ln>
        </p:spPr>
      </p:pic>
      <p:sp>
        <p:nvSpPr>
          <p:cNvPr id="13" name="Google Shape;94;p16">
            <a:extLst>
              <a:ext uri="{FF2B5EF4-FFF2-40B4-BE49-F238E27FC236}">
                <a16:creationId xmlns:a16="http://schemas.microsoft.com/office/drawing/2014/main" id="{1414D97A-7EA4-47D1-8175-E2E638C774C6}"/>
              </a:ext>
            </a:extLst>
          </p:cNvPr>
          <p:cNvSpPr txBox="1"/>
          <p:nvPr/>
        </p:nvSpPr>
        <p:spPr>
          <a:xfrm>
            <a:off x="516321" y="875857"/>
            <a:ext cx="4726200" cy="461635"/>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1800" dirty="0">
                <a:solidFill>
                  <a:srgbClr val="EB5A09"/>
                </a:solidFill>
                <a:latin typeface="Lilita One" panose="020B0604020202020204" charset="0"/>
                <a:ea typeface="Rubik Medium"/>
                <a:cs typeface="Rubik Medium"/>
                <a:sym typeface="Rubik Medium"/>
              </a:rPr>
              <a:t>Structures AVEC une Association régionale </a:t>
            </a:r>
            <a:endParaRPr sz="1800" dirty="0">
              <a:solidFill>
                <a:srgbClr val="EB5A09"/>
              </a:solidFill>
              <a:latin typeface="Lilita One" panose="020B0604020202020204" charset="0"/>
              <a:ea typeface="Rubik Medium"/>
              <a:cs typeface="Rubik Medium"/>
              <a:sym typeface="Rubik Medium"/>
            </a:endParaRPr>
          </a:p>
        </p:txBody>
      </p:sp>
      <p:sp>
        <p:nvSpPr>
          <p:cNvPr id="14" name="Google Shape;94;p16">
            <a:extLst>
              <a:ext uri="{FF2B5EF4-FFF2-40B4-BE49-F238E27FC236}">
                <a16:creationId xmlns:a16="http://schemas.microsoft.com/office/drawing/2014/main" id="{055C70B9-D375-4857-AD5D-C85AAD679251}"/>
              </a:ext>
            </a:extLst>
          </p:cNvPr>
          <p:cNvSpPr txBox="1"/>
          <p:nvPr/>
        </p:nvSpPr>
        <p:spPr>
          <a:xfrm>
            <a:off x="692141" y="1339624"/>
            <a:ext cx="7393700" cy="1015632"/>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1800" dirty="0">
                <a:solidFill>
                  <a:srgbClr val="5537AF"/>
                </a:solidFill>
                <a:latin typeface="Rubik Medium"/>
                <a:ea typeface="Rubik Medium"/>
                <a:cs typeface="Rubik Medium"/>
                <a:sym typeface="Rubik Medium"/>
              </a:rPr>
              <a:t>Point contact : </a:t>
            </a:r>
            <a:r>
              <a:rPr lang="fr-FR" sz="1800" b="1" u="sng" dirty="0">
                <a:solidFill>
                  <a:srgbClr val="5537AF"/>
                </a:solidFill>
                <a:latin typeface="Rubik Medium"/>
                <a:ea typeface="Rubik Medium"/>
                <a:cs typeface="Rubik Medium"/>
                <a:sym typeface="Rubik Medium"/>
              </a:rPr>
              <a:t>Association régionale </a:t>
            </a:r>
          </a:p>
          <a:p>
            <a:pPr marL="0" lvl="0" indent="0" algn="l" rtl="0">
              <a:lnSpc>
                <a:spcPct val="100000"/>
              </a:lnSpc>
              <a:spcBef>
                <a:spcPts val="0"/>
              </a:spcBef>
              <a:spcAft>
                <a:spcPts val="0"/>
              </a:spcAft>
              <a:buNone/>
            </a:pPr>
            <a:r>
              <a:rPr lang="fr-FR" sz="1800" dirty="0">
                <a:solidFill>
                  <a:srgbClr val="5537AF"/>
                </a:solidFill>
                <a:latin typeface="Rubik Medium"/>
                <a:ea typeface="Rubik Medium"/>
                <a:cs typeface="Rubik Medium"/>
                <a:sym typeface="Rubik Medium"/>
              </a:rPr>
              <a:t>Dossier et pièces justificatives à envoyer à votre association régionale</a:t>
            </a:r>
          </a:p>
          <a:p>
            <a:pPr marL="0" lvl="0" indent="0" algn="l" rtl="0">
              <a:lnSpc>
                <a:spcPct val="100000"/>
              </a:lnSpc>
              <a:spcBef>
                <a:spcPts val="0"/>
              </a:spcBef>
              <a:spcAft>
                <a:spcPts val="0"/>
              </a:spcAft>
              <a:buNone/>
            </a:pPr>
            <a:r>
              <a:rPr lang="fr-FR" sz="1800" dirty="0">
                <a:solidFill>
                  <a:srgbClr val="5537AF"/>
                </a:solidFill>
                <a:latin typeface="Rubik Medium"/>
                <a:ea typeface="Rubik Medium"/>
                <a:cs typeface="Rubik Medium"/>
                <a:sym typeface="Rubik Medium"/>
              </a:rPr>
              <a:t>(toujours </a:t>
            </a:r>
            <a:r>
              <a:rPr lang="fr-FR" sz="1800" dirty="0">
                <a:solidFill>
                  <a:srgbClr val="5537AF"/>
                </a:solidFill>
                <a:latin typeface="Rubik Medium"/>
                <a:ea typeface="Rubik Medium"/>
                <a:cs typeface="Rubik Medium"/>
                <a:sym typeface="Rubik Medium"/>
                <a:hlinkClick r:id="rId6"/>
              </a:rPr>
              <a:t>ami-tlc@ressourceries-recycleries.org</a:t>
            </a:r>
            <a:r>
              <a:rPr lang="fr-FR" sz="1800" dirty="0">
                <a:solidFill>
                  <a:srgbClr val="5537AF"/>
                </a:solidFill>
                <a:latin typeface="Rubik Medium"/>
                <a:ea typeface="Rubik Medium"/>
                <a:cs typeface="Rubik Medium"/>
                <a:sym typeface="Rubik Medium"/>
              </a:rPr>
              <a:t> en copie) </a:t>
            </a:r>
            <a:endParaRPr sz="1800" dirty="0">
              <a:solidFill>
                <a:srgbClr val="5537AF"/>
              </a:solidFill>
              <a:latin typeface="Rubik Medium"/>
              <a:ea typeface="Rubik Medium"/>
              <a:cs typeface="Rubik Medium"/>
              <a:sym typeface="Rubik Medium"/>
            </a:endParaRPr>
          </a:p>
        </p:txBody>
      </p:sp>
      <p:sp>
        <p:nvSpPr>
          <p:cNvPr id="15" name="Google Shape;94;p16">
            <a:extLst>
              <a:ext uri="{FF2B5EF4-FFF2-40B4-BE49-F238E27FC236}">
                <a16:creationId xmlns:a16="http://schemas.microsoft.com/office/drawing/2014/main" id="{08DEA8E9-76DC-4560-8DE5-D2326E759525}"/>
              </a:ext>
            </a:extLst>
          </p:cNvPr>
          <p:cNvSpPr txBox="1"/>
          <p:nvPr/>
        </p:nvSpPr>
        <p:spPr>
          <a:xfrm>
            <a:off x="1947176" y="2697718"/>
            <a:ext cx="4726200" cy="461635"/>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1800" dirty="0">
                <a:solidFill>
                  <a:srgbClr val="EB5A09"/>
                </a:solidFill>
                <a:latin typeface="Lilita One" panose="020B0604020202020204" charset="0"/>
                <a:ea typeface="Rubik Medium"/>
                <a:cs typeface="Rubik Medium"/>
                <a:sym typeface="Rubik Medium"/>
              </a:rPr>
              <a:t>Structures SANS une Association régionale </a:t>
            </a:r>
            <a:endParaRPr sz="1800" dirty="0">
              <a:solidFill>
                <a:srgbClr val="EB5A09"/>
              </a:solidFill>
              <a:latin typeface="Lilita One" panose="020B0604020202020204" charset="0"/>
              <a:ea typeface="Rubik Medium"/>
              <a:cs typeface="Rubik Medium"/>
              <a:sym typeface="Rubik Medium"/>
            </a:endParaRPr>
          </a:p>
        </p:txBody>
      </p:sp>
      <p:sp>
        <p:nvSpPr>
          <p:cNvPr id="6" name="Rectangle 5">
            <a:extLst>
              <a:ext uri="{FF2B5EF4-FFF2-40B4-BE49-F238E27FC236}">
                <a16:creationId xmlns:a16="http://schemas.microsoft.com/office/drawing/2014/main" id="{2CB97A23-7BA8-4791-A570-AB068D10BF3B}"/>
              </a:ext>
            </a:extLst>
          </p:cNvPr>
          <p:cNvSpPr/>
          <p:nvPr/>
        </p:nvSpPr>
        <p:spPr>
          <a:xfrm>
            <a:off x="2173269" y="3215061"/>
            <a:ext cx="6712599" cy="923330"/>
          </a:xfrm>
          <a:prstGeom prst="rect">
            <a:avLst/>
          </a:prstGeom>
        </p:spPr>
        <p:txBody>
          <a:bodyPr wrap="square">
            <a:spAutoFit/>
          </a:bodyPr>
          <a:lstStyle/>
          <a:p>
            <a:pPr lvl="0"/>
            <a:r>
              <a:rPr lang="fr-FR" sz="1800" dirty="0">
                <a:solidFill>
                  <a:srgbClr val="5537AF"/>
                </a:solidFill>
                <a:latin typeface="Rubik Medium"/>
                <a:ea typeface="Rubik Medium"/>
                <a:cs typeface="Rubik Medium"/>
                <a:sym typeface="Rubik Medium"/>
              </a:rPr>
              <a:t>Dossier et pièces justificatives à envoyer au </a:t>
            </a:r>
            <a:r>
              <a:rPr lang="fr-FR" sz="1800" dirty="0" err="1">
                <a:solidFill>
                  <a:srgbClr val="5537AF"/>
                </a:solidFill>
                <a:latin typeface="Rubik Medium"/>
                <a:ea typeface="Rubik Medium"/>
                <a:cs typeface="Rubik Medium"/>
                <a:sym typeface="Rubik Medium"/>
              </a:rPr>
              <a:t>RnRR</a:t>
            </a:r>
            <a:r>
              <a:rPr lang="fr-FR" sz="1800" dirty="0">
                <a:solidFill>
                  <a:srgbClr val="5537AF"/>
                </a:solidFill>
                <a:latin typeface="Rubik Medium"/>
                <a:ea typeface="Rubik Medium"/>
                <a:cs typeface="Rubik Medium"/>
                <a:sym typeface="Rubik Medium"/>
              </a:rPr>
              <a:t> </a:t>
            </a:r>
          </a:p>
          <a:p>
            <a:pPr lvl="0"/>
            <a:r>
              <a:rPr lang="fr-FR" sz="1800" dirty="0">
                <a:solidFill>
                  <a:srgbClr val="5537AF"/>
                </a:solidFill>
                <a:latin typeface="Rubik Medium"/>
                <a:ea typeface="Rubik Medium"/>
                <a:cs typeface="Rubik Medium"/>
                <a:sym typeface="Rubik Medium"/>
              </a:rPr>
              <a:t>(à Fernanda !): </a:t>
            </a:r>
          </a:p>
          <a:p>
            <a:pPr lvl="0"/>
            <a:r>
              <a:rPr lang="fr-FR" sz="1800" dirty="0">
                <a:solidFill>
                  <a:srgbClr val="5537AF"/>
                </a:solidFill>
                <a:latin typeface="Rubik Medium"/>
                <a:ea typeface="Rubik Medium"/>
                <a:cs typeface="Rubik Medium"/>
                <a:sym typeface="Rubik Medium"/>
                <a:hlinkClick r:id="rId6"/>
              </a:rPr>
              <a:t>ami-tlc@ressourceries-recycleries.org</a:t>
            </a:r>
            <a:endParaRPr lang="fr-FR" sz="1800" dirty="0">
              <a:solidFill>
                <a:srgbClr val="5537AF"/>
              </a:solidFill>
              <a:latin typeface="Rubik Medium"/>
              <a:ea typeface="Rubik Medium"/>
              <a:cs typeface="Rubik Medium"/>
              <a:sym typeface="Rubik Medium"/>
            </a:endParaRPr>
          </a:p>
        </p:txBody>
      </p:sp>
    </p:spTree>
    <p:extLst>
      <p:ext uri="{BB962C8B-B14F-4D97-AF65-F5344CB8AC3E}">
        <p14:creationId xmlns:p14="http://schemas.microsoft.com/office/powerpoint/2010/main" val="3024466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32"/>
          <p:cNvPicPr preferRelativeResize="0"/>
          <p:nvPr/>
        </p:nvPicPr>
        <p:blipFill rotWithShape="1">
          <a:blip r:embed="rId3">
            <a:alphaModFix/>
          </a:blip>
          <a:srcRect l="58355" b="26524"/>
          <a:stretch/>
        </p:blipFill>
        <p:spPr>
          <a:xfrm>
            <a:off x="5336050" y="0"/>
            <a:ext cx="3807950" cy="3779274"/>
          </a:xfrm>
          <a:prstGeom prst="rect">
            <a:avLst/>
          </a:prstGeom>
          <a:noFill/>
          <a:ln>
            <a:noFill/>
          </a:ln>
        </p:spPr>
      </p:pic>
      <p:sp>
        <p:nvSpPr>
          <p:cNvPr id="333" name="Google Shape;333;p32"/>
          <p:cNvSpPr txBox="1"/>
          <p:nvPr/>
        </p:nvSpPr>
        <p:spPr>
          <a:xfrm>
            <a:off x="233915" y="225792"/>
            <a:ext cx="4660480" cy="646300"/>
          </a:xfrm>
          <a:prstGeom prst="rect">
            <a:avLst/>
          </a:prstGeom>
          <a:noFill/>
          <a:ln>
            <a:noFill/>
          </a:ln>
        </p:spPr>
        <p:txBody>
          <a:bodyPr spcFirstLastPara="1" wrap="square" lIns="91425" tIns="91425" rIns="91425" bIns="91425" anchor="t" anchorCtr="0">
            <a:spAutoFit/>
          </a:bodyPr>
          <a:lstStyle/>
          <a:p>
            <a:pPr marL="0" lvl="0" indent="0"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PIECES JUSTIFICATIVES</a:t>
            </a:r>
            <a:endParaRPr sz="3000" dirty="0">
              <a:solidFill>
                <a:srgbClr val="5537AF"/>
              </a:solidFill>
              <a:latin typeface="Lilita One"/>
              <a:ea typeface="Lilita One"/>
              <a:cs typeface="Lilita One"/>
              <a:sym typeface="Lilita One"/>
            </a:endParaRPr>
          </a:p>
        </p:txBody>
      </p:sp>
      <p:pic>
        <p:nvPicPr>
          <p:cNvPr id="355" name="Google Shape;355;p32"/>
          <p:cNvPicPr preferRelativeResize="0"/>
          <p:nvPr/>
        </p:nvPicPr>
        <p:blipFill>
          <a:blip r:embed="rId4">
            <a:alphaModFix/>
          </a:blip>
          <a:stretch>
            <a:fillRect/>
          </a:stretch>
        </p:blipFill>
        <p:spPr>
          <a:xfrm>
            <a:off x="8338425" y="108050"/>
            <a:ext cx="400201" cy="400201"/>
          </a:xfrm>
          <a:prstGeom prst="rect">
            <a:avLst/>
          </a:prstGeom>
          <a:noFill/>
          <a:ln>
            <a:noFill/>
          </a:ln>
        </p:spPr>
      </p:pic>
      <p:pic>
        <p:nvPicPr>
          <p:cNvPr id="12" name="Google Shape;60;p13">
            <a:extLst>
              <a:ext uri="{FF2B5EF4-FFF2-40B4-BE49-F238E27FC236}">
                <a16:creationId xmlns:a16="http://schemas.microsoft.com/office/drawing/2014/main" id="{B06D575F-FB5E-4347-9BE5-E05FD7FA283B}"/>
              </a:ext>
            </a:extLst>
          </p:cNvPr>
          <p:cNvPicPr preferRelativeResize="0"/>
          <p:nvPr/>
        </p:nvPicPr>
        <p:blipFill>
          <a:blip r:embed="rId5">
            <a:alphaModFix/>
          </a:blip>
          <a:stretch>
            <a:fillRect/>
          </a:stretch>
        </p:blipFill>
        <p:spPr>
          <a:xfrm rot="-281774">
            <a:off x="-470089" y="2254807"/>
            <a:ext cx="2829630" cy="2829605"/>
          </a:xfrm>
          <a:prstGeom prst="rect">
            <a:avLst/>
          </a:prstGeom>
          <a:noFill/>
          <a:ln>
            <a:noFill/>
          </a:ln>
        </p:spPr>
      </p:pic>
      <p:sp>
        <p:nvSpPr>
          <p:cNvPr id="13" name="Google Shape;94;p16">
            <a:extLst>
              <a:ext uri="{FF2B5EF4-FFF2-40B4-BE49-F238E27FC236}">
                <a16:creationId xmlns:a16="http://schemas.microsoft.com/office/drawing/2014/main" id="{1414D97A-7EA4-47D1-8175-E2E638C774C6}"/>
              </a:ext>
            </a:extLst>
          </p:cNvPr>
          <p:cNvSpPr txBox="1"/>
          <p:nvPr/>
        </p:nvSpPr>
        <p:spPr>
          <a:xfrm>
            <a:off x="233915" y="781686"/>
            <a:ext cx="4726200" cy="461635"/>
          </a:xfrm>
          <a:prstGeom prst="rect">
            <a:avLst/>
          </a:prstGeom>
          <a:noFill/>
          <a:ln>
            <a:noFill/>
          </a:ln>
        </p:spPr>
        <p:txBody>
          <a:bodyPr spcFirstLastPara="1" wrap="square" lIns="91425" tIns="91425" rIns="91425" bIns="91425" anchor="t" anchorCtr="0">
            <a:spAutoFit/>
          </a:bodyPr>
          <a:lstStyle/>
          <a:p>
            <a:pPr marL="0" lvl="0" indent="0" rtl="0">
              <a:lnSpc>
                <a:spcPct val="100000"/>
              </a:lnSpc>
              <a:spcBef>
                <a:spcPts val="0"/>
              </a:spcBef>
              <a:spcAft>
                <a:spcPts val="0"/>
              </a:spcAft>
              <a:buNone/>
            </a:pPr>
            <a:r>
              <a:rPr lang="fr-FR" sz="1800" dirty="0">
                <a:solidFill>
                  <a:srgbClr val="EB5A09"/>
                </a:solidFill>
                <a:latin typeface="Lilita One" panose="020B0604020202020204" charset="0"/>
                <a:ea typeface="Rubik Medium"/>
                <a:cs typeface="Rubik Medium"/>
                <a:sym typeface="Rubik Medium"/>
              </a:rPr>
              <a:t>Pour TOUTES les structures candidates </a:t>
            </a:r>
            <a:endParaRPr sz="1800" dirty="0">
              <a:solidFill>
                <a:srgbClr val="EB5A09"/>
              </a:solidFill>
              <a:latin typeface="Lilita One" panose="020B0604020202020204" charset="0"/>
              <a:ea typeface="Rubik Medium"/>
              <a:cs typeface="Rubik Medium"/>
              <a:sym typeface="Rubik Medium"/>
            </a:endParaRPr>
          </a:p>
        </p:txBody>
      </p:sp>
      <p:sp>
        <p:nvSpPr>
          <p:cNvPr id="14" name="Google Shape;94;p16">
            <a:extLst>
              <a:ext uri="{FF2B5EF4-FFF2-40B4-BE49-F238E27FC236}">
                <a16:creationId xmlns:a16="http://schemas.microsoft.com/office/drawing/2014/main" id="{055C70B9-D375-4857-AD5D-C85AAD679251}"/>
              </a:ext>
            </a:extLst>
          </p:cNvPr>
          <p:cNvSpPr txBox="1"/>
          <p:nvPr/>
        </p:nvSpPr>
        <p:spPr>
          <a:xfrm>
            <a:off x="233915" y="1152372"/>
            <a:ext cx="3848987" cy="1261854"/>
          </a:xfrm>
          <a:prstGeom prst="rect">
            <a:avLst/>
          </a:prstGeom>
          <a:noFill/>
          <a:ln>
            <a:noFill/>
          </a:ln>
        </p:spPr>
        <p:txBody>
          <a:bodyPr spcFirstLastPara="1" wrap="square" lIns="91425" tIns="91425" rIns="91425" bIns="91425" anchor="t" anchorCtr="0">
            <a:spAutoFit/>
          </a:bodyPr>
          <a:lstStyle/>
          <a:p>
            <a:pPr marL="285750" lvl="0" indent="-285750" rtl="0">
              <a:lnSpc>
                <a:spcPct val="100000"/>
              </a:lnSpc>
              <a:spcBef>
                <a:spcPts val="0"/>
              </a:spcBef>
              <a:spcAft>
                <a:spcPts val="0"/>
              </a:spcAft>
              <a:buFontTx/>
              <a:buChar char="-"/>
            </a:pPr>
            <a:r>
              <a:rPr lang="fr-FR" sz="1600" dirty="0">
                <a:solidFill>
                  <a:srgbClr val="5537AF"/>
                </a:solidFill>
                <a:latin typeface="Rubik Medium"/>
                <a:ea typeface="Rubik Medium"/>
                <a:cs typeface="Rubik Medium"/>
                <a:sym typeface="Rubik Medium"/>
              </a:rPr>
              <a:t>Formulaire de candidature </a:t>
            </a:r>
          </a:p>
          <a:p>
            <a:pPr marL="285750" lvl="0" indent="-285750" rtl="0">
              <a:lnSpc>
                <a:spcPct val="100000"/>
              </a:lnSpc>
              <a:spcBef>
                <a:spcPts val="0"/>
              </a:spcBef>
              <a:spcAft>
                <a:spcPts val="0"/>
              </a:spcAft>
              <a:buFontTx/>
              <a:buChar char="-"/>
            </a:pPr>
            <a:r>
              <a:rPr lang="fr-FR" sz="1600" dirty="0">
                <a:solidFill>
                  <a:srgbClr val="5537AF"/>
                </a:solidFill>
                <a:latin typeface="Rubik Medium"/>
                <a:ea typeface="Rubik Medium"/>
                <a:cs typeface="Rubik Medium"/>
                <a:sym typeface="Rubik Medium"/>
              </a:rPr>
              <a:t>Annexe financière de la structure</a:t>
            </a:r>
          </a:p>
          <a:p>
            <a:pPr marL="285750" lvl="0" indent="-285750" rtl="0">
              <a:lnSpc>
                <a:spcPct val="100000"/>
              </a:lnSpc>
              <a:spcBef>
                <a:spcPts val="0"/>
              </a:spcBef>
              <a:spcAft>
                <a:spcPts val="0"/>
              </a:spcAft>
              <a:buFontTx/>
              <a:buChar char="-"/>
            </a:pPr>
            <a:r>
              <a:rPr lang="fr-FR" sz="1600" dirty="0">
                <a:solidFill>
                  <a:srgbClr val="5537AF"/>
                </a:solidFill>
                <a:latin typeface="Rubik Medium"/>
                <a:ea typeface="Rubik Medium"/>
                <a:cs typeface="Rubik Medium"/>
                <a:sym typeface="Rubik Medium"/>
              </a:rPr>
              <a:t>Convention DPAV </a:t>
            </a:r>
            <a:r>
              <a:rPr lang="fr-FR" sz="1600" dirty="0" err="1">
                <a:solidFill>
                  <a:srgbClr val="5537AF"/>
                </a:solidFill>
                <a:latin typeface="Rubik Medium"/>
                <a:ea typeface="Rubik Medium"/>
                <a:cs typeface="Rubik Medium"/>
                <a:sym typeface="Rubik Medium"/>
              </a:rPr>
              <a:t>Refashion</a:t>
            </a:r>
            <a:endParaRPr lang="fr-FR" sz="1600" dirty="0">
              <a:solidFill>
                <a:srgbClr val="5537AF"/>
              </a:solidFill>
              <a:latin typeface="Rubik Medium"/>
              <a:ea typeface="Rubik Medium"/>
              <a:cs typeface="Rubik Medium"/>
              <a:sym typeface="Rubik Medium"/>
            </a:endParaRPr>
          </a:p>
          <a:p>
            <a:pPr marL="0" lvl="0" indent="0" rtl="0">
              <a:lnSpc>
                <a:spcPct val="100000"/>
              </a:lnSpc>
              <a:spcBef>
                <a:spcPts val="0"/>
              </a:spcBef>
              <a:spcAft>
                <a:spcPts val="0"/>
              </a:spcAft>
              <a:buNone/>
            </a:pPr>
            <a:r>
              <a:rPr lang="fr-FR" sz="1100" b="1" dirty="0">
                <a:solidFill>
                  <a:srgbClr val="5537AF"/>
                </a:solidFill>
                <a:latin typeface="Rubik Medium"/>
                <a:ea typeface="Rubik Medium"/>
                <a:cs typeface="Rubik Medium"/>
                <a:sym typeface="Rubik Medium"/>
              </a:rPr>
              <a:t>(toujours </a:t>
            </a:r>
            <a:r>
              <a:rPr lang="fr-FR" sz="1100" b="1" dirty="0">
                <a:solidFill>
                  <a:srgbClr val="5537AF"/>
                </a:solidFill>
                <a:latin typeface="Rubik Medium"/>
                <a:ea typeface="Rubik Medium"/>
                <a:cs typeface="Rubik Medium"/>
                <a:sym typeface="Rubik Medium"/>
                <a:hlinkClick r:id="rId6"/>
              </a:rPr>
              <a:t>ami-tlc@ressourceries-recycleries.org</a:t>
            </a:r>
            <a:r>
              <a:rPr lang="fr-FR" sz="1100" b="1" dirty="0">
                <a:solidFill>
                  <a:srgbClr val="5537AF"/>
                </a:solidFill>
                <a:latin typeface="Rubik Medium"/>
                <a:ea typeface="Rubik Medium"/>
                <a:cs typeface="Rubik Medium"/>
                <a:sym typeface="Rubik Medium"/>
              </a:rPr>
              <a:t> en copie) </a:t>
            </a:r>
            <a:endParaRPr sz="1100" b="1" dirty="0">
              <a:solidFill>
                <a:srgbClr val="5537AF"/>
              </a:solidFill>
              <a:latin typeface="Rubik Medium"/>
              <a:ea typeface="Rubik Medium"/>
              <a:cs typeface="Rubik Medium"/>
              <a:sym typeface="Rubik Medium"/>
            </a:endParaRPr>
          </a:p>
        </p:txBody>
      </p:sp>
      <p:pic>
        <p:nvPicPr>
          <p:cNvPr id="3" name="Image 2">
            <a:extLst>
              <a:ext uri="{FF2B5EF4-FFF2-40B4-BE49-F238E27FC236}">
                <a16:creationId xmlns:a16="http://schemas.microsoft.com/office/drawing/2014/main" id="{5111C3AA-FF95-4760-9401-5E0CA4F68752}"/>
              </a:ext>
            </a:extLst>
          </p:cNvPr>
          <p:cNvPicPr>
            <a:picLocks noChangeAspect="1"/>
          </p:cNvPicPr>
          <p:nvPr/>
        </p:nvPicPr>
        <p:blipFill>
          <a:blip r:embed="rId7"/>
          <a:stretch>
            <a:fillRect/>
          </a:stretch>
        </p:blipFill>
        <p:spPr>
          <a:xfrm>
            <a:off x="4578582" y="885767"/>
            <a:ext cx="3959943" cy="1825842"/>
          </a:xfrm>
          <a:prstGeom prst="rect">
            <a:avLst/>
          </a:prstGeom>
        </p:spPr>
      </p:pic>
      <p:pic>
        <p:nvPicPr>
          <p:cNvPr id="8" name="Image 7">
            <a:extLst>
              <a:ext uri="{FF2B5EF4-FFF2-40B4-BE49-F238E27FC236}">
                <a16:creationId xmlns:a16="http://schemas.microsoft.com/office/drawing/2014/main" id="{784A1E19-B423-4F3F-BCDA-BF08BD2579F3}"/>
              </a:ext>
            </a:extLst>
          </p:cNvPr>
          <p:cNvPicPr>
            <a:picLocks noChangeAspect="1"/>
          </p:cNvPicPr>
          <p:nvPr/>
        </p:nvPicPr>
        <p:blipFill>
          <a:blip r:embed="rId8"/>
          <a:stretch>
            <a:fillRect/>
          </a:stretch>
        </p:blipFill>
        <p:spPr>
          <a:xfrm>
            <a:off x="1360573" y="2753234"/>
            <a:ext cx="2854584" cy="2108832"/>
          </a:xfrm>
          <a:prstGeom prst="rect">
            <a:avLst/>
          </a:prstGeom>
        </p:spPr>
      </p:pic>
      <p:pic>
        <p:nvPicPr>
          <p:cNvPr id="10" name="Image 9">
            <a:extLst>
              <a:ext uri="{FF2B5EF4-FFF2-40B4-BE49-F238E27FC236}">
                <a16:creationId xmlns:a16="http://schemas.microsoft.com/office/drawing/2014/main" id="{10CCF9FC-93DE-4FF9-B541-A56BA0131D05}"/>
              </a:ext>
            </a:extLst>
          </p:cNvPr>
          <p:cNvPicPr>
            <a:picLocks noChangeAspect="1"/>
          </p:cNvPicPr>
          <p:nvPr/>
        </p:nvPicPr>
        <p:blipFill>
          <a:blip r:embed="rId9"/>
          <a:stretch>
            <a:fillRect/>
          </a:stretch>
        </p:blipFill>
        <p:spPr>
          <a:xfrm>
            <a:off x="4518081" y="3089126"/>
            <a:ext cx="4020444" cy="1380295"/>
          </a:xfrm>
          <a:prstGeom prst="rect">
            <a:avLst/>
          </a:prstGeom>
        </p:spPr>
      </p:pic>
    </p:spTree>
    <p:extLst>
      <p:ext uri="{BB962C8B-B14F-4D97-AF65-F5344CB8AC3E}">
        <p14:creationId xmlns:p14="http://schemas.microsoft.com/office/powerpoint/2010/main" val="2278194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0F0"/>
        </a:solidFill>
        <a:effectLst/>
      </p:bgPr>
    </p:bg>
    <p:spTree>
      <p:nvGrpSpPr>
        <p:cNvPr id="1" name="Shape 92"/>
        <p:cNvGrpSpPr/>
        <p:nvPr/>
      </p:nvGrpSpPr>
      <p:grpSpPr>
        <a:xfrm>
          <a:off x="0" y="0"/>
          <a:ext cx="0" cy="0"/>
          <a:chOff x="0" y="0"/>
          <a:chExt cx="0" cy="0"/>
        </a:xfrm>
      </p:grpSpPr>
      <p:sp>
        <p:nvSpPr>
          <p:cNvPr id="93" name="Google Shape;93;p16"/>
          <p:cNvSpPr txBox="1"/>
          <p:nvPr/>
        </p:nvSpPr>
        <p:spPr>
          <a:xfrm>
            <a:off x="346200" y="1455772"/>
            <a:ext cx="7281300" cy="569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2500" dirty="0">
                <a:solidFill>
                  <a:srgbClr val="EB5A09"/>
                </a:solidFill>
                <a:latin typeface="Lilita One"/>
                <a:ea typeface="Lilita One"/>
                <a:cs typeface="Lilita One"/>
                <a:sym typeface="Lilita One"/>
              </a:rPr>
              <a:t>Axes 2025 </a:t>
            </a:r>
            <a:endParaRPr sz="2500" dirty="0">
              <a:solidFill>
                <a:srgbClr val="EB5A09"/>
              </a:solidFill>
              <a:latin typeface="Lilita One"/>
              <a:ea typeface="Lilita One"/>
              <a:cs typeface="Lilita One"/>
              <a:sym typeface="Lilita One"/>
            </a:endParaRPr>
          </a:p>
        </p:txBody>
      </p:sp>
      <p:sp>
        <p:nvSpPr>
          <p:cNvPr id="94" name="Google Shape;94;p16"/>
          <p:cNvSpPr txBox="1"/>
          <p:nvPr/>
        </p:nvSpPr>
        <p:spPr>
          <a:xfrm>
            <a:off x="346200" y="2194294"/>
            <a:ext cx="7011530" cy="1292631"/>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1800" dirty="0">
                <a:solidFill>
                  <a:srgbClr val="5537AF"/>
                </a:solidFill>
                <a:latin typeface="Rubik Medium"/>
                <a:ea typeface="Rubik Medium"/>
                <a:cs typeface="Rubik Medium"/>
                <a:sym typeface="Rubik Medium"/>
              </a:rPr>
              <a:t>1- Pédagogie/ Formation/ Sensibilisation</a:t>
            </a:r>
          </a:p>
          <a:p>
            <a:pPr marL="0" lvl="0" indent="0" algn="l" rtl="0">
              <a:lnSpc>
                <a:spcPct val="100000"/>
              </a:lnSpc>
              <a:spcBef>
                <a:spcPts val="0"/>
              </a:spcBef>
              <a:spcAft>
                <a:spcPts val="0"/>
              </a:spcAft>
              <a:buNone/>
            </a:pPr>
            <a:r>
              <a:rPr lang="fr-FR" sz="1800" dirty="0">
                <a:solidFill>
                  <a:srgbClr val="5537AF"/>
                </a:solidFill>
                <a:latin typeface="Rubik Medium"/>
                <a:ea typeface="Rubik Medium"/>
                <a:cs typeface="Rubik Medium"/>
                <a:sym typeface="Rubik Medium"/>
              </a:rPr>
              <a:t>2- Remise en état / valorisation</a:t>
            </a:r>
          </a:p>
          <a:p>
            <a:pPr marL="0" lvl="0" indent="0" algn="l" rtl="0">
              <a:lnSpc>
                <a:spcPct val="100000"/>
              </a:lnSpc>
              <a:spcBef>
                <a:spcPts val="0"/>
              </a:spcBef>
              <a:spcAft>
                <a:spcPts val="0"/>
              </a:spcAft>
              <a:buNone/>
            </a:pPr>
            <a:r>
              <a:rPr lang="fr-FR" sz="1800" dirty="0">
                <a:solidFill>
                  <a:srgbClr val="5537AF"/>
                </a:solidFill>
                <a:latin typeface="Rubik Medium"/>
                <a:ea typeface="Rubik Medium"/>
                <a:cs typeface="Rubik Medium"/>
                <a:sym typeface="Rubik Medium"/>
              </a:rPr>
              <a:t>3- Amélioration des ventes (surfaces et/ou canaux de vente)</a:t>
            </a:r>
          </a:p>
          <a:p>
            <a:pPr marL="0" lvl="0" indent="0" algn="l" rtl="0">
              <a:lnSpc>
                <a:spcPct val="100000"/>
              </a:lnSpc>
              <a:spcBef>
                <a:spcPts val="0"/>
              </a:spcBef>
              <a:spcAft>
                <a:spcPts val="0"/>
              </a:spcAft>
              <a:buNone/>
            </a:pPr>
            <a:r>
              <a:rPr lang="fr-FR" sz="1800" dirty="0">
                <a:solidFill>
                  <a:srgbClr val="5537AF"/>
                </a:solidFill>
                <a:latin typeface="Rubik Medium"/>
                <a:ea typeface="Rubik Medium"/>
                <a:cs typeface="Rubik Medium"/>
                <a:sym typeface="Rubik Medium"/>
              </a:rPr>
              <a:t>4- Financement de boutiques éphémères/itinérantes</a:t>
            </a:r>
            <a:endParaRPr sz="1800" dirty="0">
              <a:solidFill>
                <a:srgbClr val="5537AF"/>
              </a:solidFill>
              <a:latin typeface="Rubik Medium"/>
              <a:ea typeface="Rubik Medium"/>
              <a:cs typeface="Rubik Medium"/>
              <a:sym typeface="Rubik Medium"/>
            </a:endParaRPr>
          </a:p>
        </p:txBody>
      </p:sp>
      <p:sp>
        <p:nvSpPr>
          <p:cNvPr id="98" name="Google Shape;98;p16"/>
          <p:cNvSpPr txBox="1"/>
          <p:nvPr/>
        </p:nvSpPr>
        <p:spPr>
          <a:xfrm>
            <a:off x="346200" y="640150"/>
            <a:ext cx="7881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fr-FR" sz="3000" dirty="0">
                <a:solidFill>
                  <a:srgbClr val="5537AF"/>
                </a:solidFill>
                <a:latin typeface="Lilita One"/>
                <a:ea typeface="Lilita One"/>
                <a:cs typeface="Lilita One"/>
                <a:sym typeface="Lilita One"/>
              </a:rPr>
              <a:t>L’AMI TLC REFASHION</a:t>
            </a:r>
            <a:endParaRPr sz="3000" dirty="0">
              <a:solidFill>
                <a:srgbClr val="5537AF"/>
              </a:solidFill>
              <a:latin typeface="Lilita One"/>
              <a:ea typeface="Lilita One"/>
              <a:cs typeface="Lilita One"/>
              <a:sym typeface="Lilita One"/>
            </a:endParaRPr>
          </a:p>
        </p:txBody>
      </p:sp>
      <p:pic>
        <p:nvPicPr>
          <p:cNvPr id="106" name="Google Shape;106;p16"/>
          <p:cNvPicPr preferRelativeResize="0"/>
          <p:nvPr/>
        </p:nvPicPr>
        <p:blipFill>
          <a:blip r:embed="rId3">
            <a:alphaModFix/>
          </a:blip>
          <a:stretch>
            <a:fillRect/>
          </a:stretch>
        </p:blipFill>
        <p:spPr>
          <a:xfrm>
            <a:off x="8338425" y="108050"/>
            <a:ext cx="400201" cy="400201"/>
          </a:xfrm>
          <a:prstGeom prst="rect">
            <a:avLst/>
          </a:prstGeom>
          <a:noFill/>
          <a:ln>
            <a:noFill/>
          </a:ln>
        </p:spPr>
      </p:pic>
      <p:pic>
        <p:nvPicPr>
          <p:cNvPr id="107" name="Google Shape;107;p16"/>
          <p:cNvPicPr preferRelativeResize="0"/>
          <p:nvPr/>
        </p:nvPicPr>
        <p:blipFill rotWithShape="1">
          <a:blip r:embed="rId4">
            <a:alphaModFix/>
          </a:blip>
          <a:srcRect l="61896" r="1661"/>
          <a:stretch/>
        </p:blipFill>
        <p:spPr>
          <a:xfrm>
            <a:off x="5809790" y="0"/>
            <a:ext cx="3332098"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27"/>
          <p:cNvPicPr preferRelativeResize="0"/>
          <p:nvPr/>
        </p:nvPicPr>
        <p:blipFill>
          <a:blip r:embed="rId3">
            <a:alphaModFix/>
          </a:blip>
          <a:stretch>
            <a:fillRect/>
          </a:stretch>
        </p:blipFill>
        <p:spPr>
          <a:xfrm flipH="1">
            <a:off x="0" y="463742"/>
            <a:ext cx="8830638" cy="4679758"/>
          </a:xfrm>
          <a:prstGeom prst="rect">
            <a:avLst/>
          </a:prstGeom>
          <a:noFill/>
          <a:ln>
            <a:noFill/>
          </a:ln>
        </p:spPr>
      </p:pic>
      <p:sp>
        <p:nvSpPr>
          <p:cNvPr id="255" name="Google Shape;255;p27"/>
          <p:cNvSpPr txBox="1"/>
          <p:nvPr/>
        </p:nvSpPr>
        <p:spPr>
          <a:xfrm>
            <a:off x="329410" y="108050"/>
            <a:ext cx="4650345" cy="646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AXES </a:t>
            </a:r>
            <a:r>
              <a:rPr lang="fr" sz="3000" dirty="0">
                <a:solidFill>
                  <a:srgbClr val="5537AF"/>
                </a:solidFill>
                <a:latin typeface="Lilita One"/>
                <a:ea typeface="Lilita One"/>
                <a:cs typeface="Lilita One"/>
                <a:sym typeface="Lilita One"/>
              </a:rPr>
              <a:t>2025</a:t>
            </a:r>
            <a:endParaRPr sz="3000" dirty="0">
              <a:solidFill>
                <a:srgbClr val="5537AF"/>
              </a:solidFill>
              <a:latin typeface="Lilita One"/>
              <a:ea typeface="Lilita One"/>
              <a:cs typeface="Lilita One"/>
              <a:sym typeface="Lilita One"/>
            </a:endParaRPr>
          </a:p>
        </p:txBody>
      </p:sp>
      <p:pic>
        <p:nvPicPr>
          <p:cNvPr id="259" name="Google Shape;259;p27"/>
          <p:cNvPicPr preferRelativeResize="0"/>
          <p:nvPr/>
        </p:nvPicPr>
        <p:blipFill>
          <a:blip r:embed="rId4">
            <a:alphaModFix/>
          </a:blip>
          <a:stretch>
            <a:fillRect/>
          </a:stretch>
        </p:blipFill>
        <p:spPr>
          <a:xfrm>
            <a:off x="8338425" y="108050"/>
            <a:ext cx="400201" cy="400201"/>
          </a:xfrm>
          <a:prstGeom prst="rect">
            <a:avLst/>
          </a:prstGeom>
          <a:noFill/>
          <a:ln>
            <a:noFill/>
          </a:ln>
        </p:spPr>
      </p:pic>
      <p:sp>
        <p:nvSpPr>
          <p:cNvPr id="3" name="Rectangle 2">
            <a:extLst>
              <a:ext uri="{FF2B5EF4-FFF2-40B4-BE49-F238E27FC236}">
                <a16:creationId xmlns:a16="http://schemas.microsoft.com/office/drawing/2014/main" id="{05073E31-2234-4DCE-9022-B323EEFAF620}"/>
              </a:ext>
            </a:extLst>
          </p:cNvPr>
          <p:cNvSpPr/>
          <p:nvPr/>
        </p:nvSpPr>
        <p:spPr>
          <a:xfrm>
            <a:off x="329410" y="642853"/>
            <a:ext cx="3595856" cy="523220"/>
          </a:xfrm>
          <a:prstGeom prst="rect">
            <a:avLst/>
          </a:prstGeom>
        </p:spPr>
        <p:txBody>
          <a:bodyPr wrap="none">
            <a:spAutoFit/>
          </a:bodyPr>
          <a:lstStyle/>
          <a:p>
            <a:pPr lvl="0"/>
            <a:r>
              <a:rPr lang="fr-FR" dirty="0">
                <a:solidFill>
                  <a:srgbClr val="EB5A09"/>
                </a:solidFill>
                <a:latin typeface="Lilita One"/>
                <a:ea typeface="Lilita One"/>
                <a:cs typeface="Lilita One"/>
                <a:sym typeface="Lilita One"/>
              </a:rPr>
              <a:t>Axe 1: Pédagogie/Formation/Sensibilisation</a:t>
            </a:r>
          </a:p>
          <a:p>
            <a:pPr lvl="0"/>
            <a:r>
              <a:rPr lang="fr-FR" dirty="0">
                <a:solidFill>
                  <a:srgbClr val="EB5A09"/>
                </a:solidFill>
                <a:latin typeface="Lilita One"/>
                <a:ea typeface="Lilita One"/>
                <a:cs typeface="Lilita One"/>
                <a:sym typeface="Lilita One"/>
              </a:rPr>
              <a:t>Quelques exemples </a:t>
            </a:r>
          </a:p>
        </p:txBody>
      </p:sp>
      <p:graphicFrame>
        <p:nvGraphicFramePr>
          <p:cNvPr id="4" name="Tableau 3">
            <a:extLst>
              <a:ext uri="{FF2B5EF4-FFF2-40B4-BE49-F238E27FC236}">
                <a16:creationId xmlns:a16="http://schemas.microsoft.com/office/drawing/2014/main" id="{FBC4C5B6-2459-45B3-A3F2-B63159C1F508}"/>
              </a:ext>
            </a:extLst>
          </p:cNvPr>
          <p:cNvGraphicFramePr>
            <a:graphicFrameLocks noGrp="1"/>
          </p:cNvGraphicFramePr>
          <p:nvPr>
            <p:extLst>
              <p:ext uri="{D42A27DB-BD31-4B8C-83A1-F6EECF244321}">
                <p14:modId xmlns:p14="http://schemas.microsoft.com/office/powerpoint/2010/main" val="2269964071"/>
              </p:ext>
            </p:extLst>
          </p:nvPr>
        </p:nvGraphicFramePr>
        <p:xfrm>
          <a:off x="482009" y="1256851"/>
          <a:ext cx="8131667" cy="1625893"/>
        </p:xfrm>
        <a:graphic>
          <a:graphicData uri="http://schemas.openxmlformats.org/drawingml/2006/table">
            <a:tbl>
              <a:tblPr>
                <a:tableStyleId>{5C22544A-7EE6-4342-B048-85BDC9FD1C3A}</a:tableStyleId>
              </a:tblPr>
              <a:tblGrid>
                <a:gridCol w="5337505">
                  <a:extLst>
                    <a:ext uri="{9D8B030D-6E8A-4147-A177-3AD203B41FA5}">
                      <a16:colId xmlns:a16="http://schemas.microsoft.com/office/drawing/2014/main" val="3603785249"/>
                    </a:ext>
                  </a:extLst>
                </a:gridCol>
                <a:gridCol w="994911">
                  <a:extLst>
                    <a:ext uri="{9D8B030D-6E8A-4147-A177-3AD203B41FA5}">
                      <a16:colId xmlns:a16="http://schemas.microsoft.com/office/drawing/2014/main" val="369487204"/>
                    </a:ext>
                  </a:extLst>
                </a:gridCol>
                <a:gridCol w="1799251">
                  <a:extLst>
                    <a:ext uri="{9D8B030D-6E8A-4147-A177-3AD203B41FA5}">
                      <a16:colId xmlns:a16="http://schemas.microsoft.com/office/drawing/2014/main" val="2021802655"/>
                    </a:ext>
                  </a:extLst>
                </a:gridCol>
              </a:tblGrid>
              <a:tr h="514679">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Formations : au tri /merchandising / structuration et définition de l'offre/ e-commerce / réseaux sociaux/ couture / retoucherie ou de cordonnerie</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dirty="0">
                          <a:solidFill>
                            <a:schemeClr val="bg1"/>
                          </a:solidFill>
                          <a:effectLst/>
                          <a:latin typeface="Rubik Medium" panose="020B0604020202020204" charset="-79"/>
                          <a:cs typeface="Rubik Medium" panose="020B0604020202020204" charset="-79"/>
                        </a:rPr>
                        <a:t>1 500</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 / jour de formation (interne)</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2872640427"/>
                  </a:ext>
                </a:extLst>
              </a:tr>
              <a:tr h="514679">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Formations : au tri /merchandising / structuration et définition de l'offre/ e-commerce / réseaux sociaux/ couture / retoucherie ou de cordonnerie</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b="0" i="0" u="none" strike="noStrike" dirty="0">
                          <a:solidFill>
                            <a:srgbClr val="FFFFFF"/>
                          </a:solidFill>
                          <a:effectLst/>
                          <a:latin typeface="Rubik Medium" panose="020B0604020202020204" charset="-79"/>
                          <a:cs typeface="Rubik Medium" panose="020B0604020202020204" charset="-79"/>
                        </a:rPr>
                        <a:t>850</a:t>
                      </a:r>
                    </a:p>
                  </a:txBody>
                  <a:tcPr marL="4763" marR="4763" marT="4763" marB="0" anchor="ctr">
                    <a:solidFill>
                      <a:srgbClr val="5537AF"/>
                    </a:solidFill>
                  </a:tcPr>
                </a:tc>
                <a:tc>
                  <a:txBody>
                    <a:bodyPr/>
                    <a:lstStyle/>
                    <a:p>
                      <a:pPr algn="l" fontAlgn="ctr"/>
                      <a:r>
                        <a:rPr lang="fr-FR" sz="1100" b="0" i="0" u="none" strike="noStrike" dirty="0">
                          <a:solidFill>
                            <a:srgbClr val="FFFFFF"/>
                          </a:solidFill>
                          <a:effectLst/>
                          <a:latin typeface="Rubik Medium" panose="020B0604020202020204" charset="-79"/>
                          <a:cs typeface="Rubik Medium" panose="020B0604020202020204" charset="-79"/>
                        </a:rPr>
                        <a:t>€ / par stagiaire et par jour (externe)</a:t>
                      </a:r>
                    </a:p>
                  </a:txBody>
                  <a:tcPr marL="4763" marR="4763" marT="4763" marB="0" anchor="ctr">
                    <a:solidFill>
                      <a:srgbClr val="5537AF"/>
                    </a:solidFill>
                  </a:tcPr>
                </a:tc>
                <a:extLst>
                  <a:ext uri="{0D108BD9-81ED-4DB2-BD59-A6C34878D82A}">
                    <a16:rowId xmlns:a16="http://schemas.microsoft.com/office/drawing/2014/main" val="3750187427"/>
                  </a:ext>
                </a:extLst>
              </a:tr>
              <a:tr h="198845">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Formation longue à destination d'encadrants</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Medium" panose="020B0604020202020204" charset="-79"/>
                          <a:cs typeface="Rubik Medium" panose="020B0604020202020204" charset="-79"/>
                        </a:rPr>
                        <a:t>6 000</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a:solidFill>
                            <a:schemeClr val="bg1"/>
                          </a:solidFill>
                          <a:effectLst/>
                          <a:latin typeface="Rubik Medium" panose="020B0604020202020204" charset="-79"/>
                          <a:cs typeface="Rubik Medium" panose="020B0604020202020204" charset="-79"/>
                        </a:rPr>
                        <a:t>€ / opération</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1330849707"/>
                  </a:ext>
                </a:extLst>
              </a:tr>
              <a:tr h="198845">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Journées techniques d'échanges de pratiques</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dirty="0">
                          <a:solidFill>
                            <a:schemeClr val="bg1"/>
                          </a:solidFill>
                          <a:effectLst/>
                          <a:latin typeface="Rubik Medium" panose="020B0604020202020204" charset="-79"/>
                          <a:cs typeface="Rubik Medium" panose="020B0604020202020204" charset="-79"/>
                        </a:rPr>
                        <a:t>2 500</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a:solidFill>
                            <a:schemeClr val="bg1"/>
                          </a:solidFill>
                          <a:effectLst/>
                          <a:latin typeface="Rubik Medium" panose="020B0604020202020204" charset="-79"/>
                          <a:cs typeface="Rubik Medium" panose="020B0604020202020204" charset="-79"/>
                        </a:rPr>
                        <a:t>€ / opération</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2144848636"/>
                  </a:ext>
                </a:extLst>
              </a:tr>
              <a:tr h="198845">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Webinaire technique d'échanges de pratiques</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Medium" panose="020B0604020202020204" charset="-79"/>
                          <a:cs typeface="Rubik Medium" panose="020B0604020202020204" charset="-79"/>
                        </a:rPr>
                        <a:t>500</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 / opération</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195491813"/>
                  </a:ext>
                </a:extLst>
              </a:tr>
            </a:tbl>
          </a:graphicData>
        </a:graphic>
      </p:graphicFrame>
      <p:graphicFrame>
        <p:nvGraphicFramePr>
          <p:cNvPr id="6" name="Tableau 5">
            <a:extLst>
              <a:ext uri="{FF2B5EF4-FFF2-40B4-BE49-F238E27FC236}">
                <a16:creationId xmlns:a16="http://schemas.microsoft.com/office/drawing/2014/main" id="{EC45023D-C611-4A3D-8FE7-4818E40F5EDC}"/>
              </a:ext>
            </a:extLst>
          </p:cNvPr>
          <p:cNvGraphicFramePr>
            <a:graphicFrameLocks noGrp="1"/>
          </p:cNvGraphicFramePr>
          <p:nvPr>
            <p:extLst>
              <p:ext uri="{D42A27DB-BD31-4B8C-83A1-F6EECF244321}">
                <p14:modId xmlns:p14="http://schemas.microsoft.com/office/powerpoint/2010/main" val="2245275291"/>
              </p:ext>
            </p:extLst>
          </p:nvPr>
        </p:nvGraphicFramePr>
        <p:xfrm>
          <a:off x="4722012" y="3248740"/>
          <a:ext cx="2984500" cy="1528763"/>
        </p:xfrm>
        <a:graphic>
          <a:graphicData uri="http://schemas.openxmlformats.org/drawingml/2006/table">
            <a:tbl>
              <a:tblPr>
                <a:tableStyleId>{5C22544A-7EE6-4342-B048-85BDC9FD1C3A}</a:tableStyleId>
              </a:tblPr>
              <a:tblGrid>
                <a:gridCol w="2984500">
                  <a:extLst>
                    <a:ext uri="{9D8B030D-6E8A-4147-A177-3AD203B41FA5}">
                      <a16:colId xmlns:a16="http://schemas.microsoft.com/office/drawing/2014/main" val="768383163"/>
                    </a:ext>
                  </a:extLst>
                </a:gridCol>
              </a:tblGrid>
              <a:tr h="0">
                <a:tc>
                  <a:txBody>
                    <a:bodyPr/>
                    <a:lstStyle/>
                    <a:p>
                      <a:pPr algn="l" fontAlgn="ctr"/>
                      <a:r>
                        <a:rPr lang="fr-FR" sz="1000" b="1" u="sng" strike="noStrike" dirty="0">
                          <a:effectLst/>
                          <a:latin typeface="Rubik Medium" panose="020B0604020202020204" charset="-79"/>
                          <a:cs typeface="Rubik Medium" panose="020B0604020202020204" charset="-79"/>
                        </a:rPr>
                        <a:t>Livrables et justificatifs: </a:t>
                      </a:r>
                    </a:p>
                    <a:p>
                      <a:pPr algn="l" fontAlgn="ctr"/>
                      <a:r>
                        <a:rPr lang="fr-FR" sz="1000" u="none" strike="noStrike" dirty="0">
                          <a:effectLst/>
                          <a:latin typeface="Rubik Medium" panose="020B0604020202020204" charset="-79"/>
                          <a:cs typeface="Rubik Medium" panose="020B0604020202020204" charset="-79"/>
                        </a:rPr>
                        <a:t>-  Dates des formations et participants</a:t>
                      </a:r>
                      <a:br>
                        <a:rPr lang="fr-FR" sz="1000" u="none" strike="noStrike" dirty="0">
                          <a:effectLst/>
                          <a:latin typeface="Rubik Medium" panose="020B0604020202020204" charset="-79"/>
                          <a:cs typeface="Rubik Medium" panose="020B0604020202020204" charset="-79"/>
                        </a:rPr>
                      </a:br>
                      <a:r>
                        <a:rPr lang="fr-FR" sz="1000" u="none" strike="noStrike" dirty="0">
                          <a:effectLst/>
                          <a:latin typeface="Rubik Medium" panose="020B0604020202020204" charset="-79"/>
                          <a:cs typeface="Rubik Medium" panose="020B0604020202020204" charset="-79"/>
                        </a:rPr>
                        <a:t> - Factures</a:t>
                      </a:r>
                      <a:br>
                        <a:rPr lang="fr-FR" sz="1000" u="none" strike="noStrike" dirty="0">
                          <a:effectLst/>
                          <a:latin typeface="Rubik Medium" panose="020B0604020202020204" charset="-79"/>
                          <a:cs typeface="Rubik Medium" panose="020B0604020202020204" charset="-79"/>
                        </a:rPr>
                      </a:br>
                      <a:r>
                        <a:rPr lang="fr-FR" sz="1000" u="none" strike="noStrike" dirty="0">
                          <a:effectLst/>
                          <a:latin typeface="Rubik Medium" panose="020B0604020202020204" charset="-79"/>
                          <a:cs typeface="Rubik Medium" panose="020B0604020202020204" charset="-79"/>
                        </a:rPr>
                        <a:t> - Emargements</a:t>
                      </a:r>
                      <a:br>
                        <a:rPr lang="fr-FR" sz="1000" u="none" strike="noStrike" dirty="0">
                          <a:effectLst/>
                          <a:latin typeface="Rubik Medium" panose="020B0604020202020204" charset="-79"/>
                          <a:cs typeface="Rubik Medium" panose="020B0604020202020204" charset="-79"/>
                        </a:rPr>
                      </a:br>
                      <a:r>
                        <a:rPr lang="fr-FR" sz="1000" u="none" strike="noStrike" dirty="0">
                          <a:effectLst/>
                          <a:latin typeface="Rubik Medium" panose="020B0604020202020204" charset="-79"/>
                          <a:cs typeface="Rubik Medium" panose="020B0604020202020204" charset="-79"/>
                        </a:rPr>
                        <a:t> - Programme de formation </a:t>
                      </a:r>
                      <a:br>
                        <a:rPr lang="fr-FR" sz="1000" u="none" strike="noStrike" dirty="0">
                          <a:effectLst/>
                          <a:latin typeface="Rubik Medium" panose="020B0604020202020204" charset="-79"/>
                          <a:cs typeface="Rubik Medium" panose="020B0604020202020204" charset="-79"/>
                        </a:rPr>
                      </a:br>
                      <a:r>
                        <a:rPr lang="fr-FR" sz="1000" u="none" strike="noStrike" dirty="0">
                          <a:effectLst/>
                          <a:latin typeface="Rubik Medium" panose="020B0604020202020204" charset="-79"/>
                          <a:cs typeface="Rubik Medium" panose="020B0604020202020204" charset="-79"/>
                        </a:rPr>
                        <a:t> - Evaluation de la formation / de l'atelier par les participants</a:t>
                      </a:r>
                      <a:br>
                        <a:rPr lang="fr-FR" sz="1000" u="none" strike="noStrike" dirty="0">
                          <a:effectLst/>
                          <a:latin typeface="Rubik Medium" panose="020B0604020202020204" charset="-79"/>
                          <a:cs typeface="Rubik Medium" panose="020B0604020202020204" charset="-79"/>
                        </a:rPr>
                      </a:br>
                      <a:r>
                        <a:rPr lang="fr-FR" sz="1000" u="none" strike="noStrike" dirty="0">
                          <a:effectLst/>
                          <a:latin typeface="Rubik Medium" panose="020B0604020202020204" charset="-79"/>
                          <a:cs typeface="Rubik Medium" panose="020B0604020202020204" charset="-79"/>
                        </a:rPr>
                        <a:t> - Bilan synthétique (la trame sera fournie)</a:t>
                      </a:r>
                      <a:br>
                        <a:rPr lang="fr-FR" sz="1000" u="none" strike="noStrike" dirty="0">
                          <a:effectLst/>
                          <a:latin typeface="Rubik Medium" panose="020B0604020202020204" charset="-79"/>
                          <a:cs typeface="Rubik Medium" panose="020B0604020202020204" charset="-79"/>
                        </a:rPr>
                      </a:br>
                      <a:r>
                        <a:rPr lang="fr-FR" sz="1000" u="none" strike="noStrike" dirty="0">
                          <a:effectLst/>
                          <a:latin typeface="Rubik Medium" panose="020B0604020202020204" charset="-79"/>
                          <a:cs typeface="Rubik Medium" panose="020B0604020202020204" charset="-79"/>
                        </a:rPr>
                        <a:t> - Tableau justificatif dépenses de personnel (modèle fourni)</a:t>
                      </a:r>
                      <a:endParaRPr lang="fr-FR" sz="1000" b="0" i="0" u="none" strike="noStrike" dirty="0">
                        <a:solidFill>
                          <a:srgbClr val="FFFFFF"/>
                        </a:solidFill>
                        <a:effectLst/>
                        <a:latin typeface="Rubik Medium" panose="020B0604020202020204" charset="-79"/>
                        <a:cs typeface="Rubik Medium" panose="020B0604020202020204" charset="-79"/>
                      </a:endParaRPr>
                    </a:p>
                  </a:txBody>
                  <a:tcPr marL="4763" marR="4763" marT="4763" marB="0" anchor="ctr">
                    <a:noFill/>
                  </a:tcPr>
                </a:tc>
                <a:extLst>
                  <a:ext uri="{0D108BD9-81ED-4DB2-BD59-A6C34878D82A}">
                    <a16:rowId xmlns:a16="http://schemas.microsoft.com/office/drawing/2014/main" val="93944158"/>
                  </a:ext>
                </a:extLst>
              </a:tr>
            </a:tbl>
          </a:graphicData>
        </a:graphic>
      </p:graphicFrame>
    </p:spTree>
    <p:extLst>
      <p:ext uri="{BB962C8B-B14F-4D97-AF65-F5344CB8AC3E}">
        <p14:creationId xmlns:p14="http://schemas.microsoft.com/office/powerpoint/2010/main" val="2692246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27"/>
          <p:cNvPicPr preferRelativeResize="0"/>
          <p:nvPr/>
        </p:nvPicPr>
        <p:blipFill>
          <a:blip r:embed="rId3">
            <a:alphaModFix/>
          </a:blip>
          <a:stretch>
            <a:fillRect/>
          </a:stretch>
        </p:blipFill>
        <p:spPr>
          <a:xfrm flipH="1">
            <a:off x="0" y="463742"/>
            <a:ext cx="8830638" cy="4679758"/>
          </a:xfrm>
          <a:prstGeom prst="rect">
            <a:avLst/>
          </a:prstGeom>
          <a:noFill/>
          <a:ln>
            <a:noFill/>
          </a:ln>
        </p:spPr>
      </p:pic>
      <p:sp>
        <p:nvSpPr>
          <p:cNvPr id="255" name="Google Shape;255;p27"/>
          <p:cNvSpPr txBox="1"/>
          <p:nvPr/>
        </p:nvSpPr>
        <p:spPr>
          <a:xfrm>
            <a:off x="329410" y="108050"/>
            <a:ext cx="4650345" cy="646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AXES </a:t>
            </a:r>
            <a:r>
              <a:rPr lang="fr" sz="3000" dirty="0">
                <a:solidFill>
                  <a:srgbClr val="5537AF"/>
                </a:solidFill>
                <a:latin typeface="Lilita One"/>
                <a:ea typeface="Lilita One"/>
                <a:cs typeface="Lilita One"/>
                <a:sym typeface="Lilita One"/>
              </a:rPr>
              <a:t>2025</a:t>
            </a:r>
            <a:endParaRPr sz="3000" dirty="0">
              <a:solidFill>
                <a:srgbClr val="5537AF"/>
              </a:solidFill>
              <a:latin typeface="Lilita One"/>
              <a:ea typeface="Lilita One"/>
              <a:cs typeface="Lilita One"/>
              <a:sym typeface="Lilita One"/>
            </a:endParaRPr>
          </a:p>
        </p:txBody>
      </p:sp>
      <p:pic>
        <p:nvPicPr>
          <p:cNvPr id="259" name="Google Shape;259;p27"/>
          <p:cNvPicPr preferRelativeResize="0"/>
          <p:nvPr/>
        </p:nvPicPr>
        <p:blipFill>
          <a:blip r:embed="rId4">
            <a:alphaModFix/>
          </a:blip>
          <a:stretch>
            <a:fillRect/>
          </a:stretch>
        </p:blipFill>
        <p:spPr>
          <a:xfrm>
            <a:off x="8338425" y="108050"/>
            <a:ext cx="400201" cy="400201"/>
          </a:xfrm>
          <a:prstGeom prst="rect">
            <a:avLst/>
          </a:prstGeom>
          <a:noFill/>
          <a:ln>
            <a:noFill/>
          </a:ln>
        </p:spPr>
      </p:pic>
      <p:sp>
        <p:nvSpPr>
          <p:cNvPr id="3" name="Rectangle 2">
            <a:extLst>
              <a:ext uri="{FF2B5EF4-FFF2-40B4-BE49-F238E27FC236}">
                <a16:creationId xmlns:a16="http://schemas.microsoft.com/office/drawing/2014/main" id="{05073E31-2234-4DCE-9022-B323EEFAF620}"/>
              </a:ext>
            </a:extLst>
          </p:cNvPr>
          <p:cNvSpPr/>
          <p:nvPr/>
        </p:nvSpPr>
        <p:spPr>
          <a:xfrm>
            <a:off x="329410" y="642853"/>
            <a:ext cx="3595856" cy="523220"/>
          </a:xfrm>
          <a:prstGeom prst="rect">
            <a:avLst/>
          </a:prstGeom>
        </p:spPr>
        <p:txBody>
          <a:bodyPr wrap="none">
            <a:spAutoFit/>
          </a:bodyPr>
          <a:lstStyle/>
          <a:p>
            <a:pPr lvl="0"/>
            <a:r>
              <a:rPr lang="fr-FR" dirty="0">
                <a:solidFill>
                  <a:srgbClr val="EB5A09"/>
                </a:solidFill>
                <a:latin typeface="Lilita One"/>
                <a:ea typeface="Lilita One"/>
                <a:cs typeface="Lilita One"/>
                <a:sym typeface="Lilita One"/>
              </a:rPr>
              <a:t>Axe 1: Pédagogie/Formation/Sensibilisation</a:t>
            </a:r>
          </a:p>
          <a:p>
            <a:pPr lvl="0"/>
            <a:r>
              <a:rPr lang="fr-FR" dirty="0">
                <a:solidFill>
                  <a:srgbClr val="EB5A09"/>
                </a:solidFill>
                <a:latin typeface="Lilita One"/>
                <a:ea typeface="Lilita One"/>
                <a:cs typeface="Lilita One"/>
                <a:sym typeface="Lilita One"/>
              </a:rPr>
              <a:t>Quelques exemples </a:t>
            </a:r>
          </a:p>
        </p:txBody>
      </p:sp>
      <p:graphicFrame>
        <p:nvGraphicFramePr>
          <p:cNvPr id="4" name="Tableau 3">
            <a:extLst>
              <a:ext uri="{FF2B5EF4-FFF2-40B4-BE49-F238E27FC236}">
                <a16:creationId xmlns:a16="http://schemas.microsoft.com/office/drawing/2014/main" id="{FBC4C5B6-2459-45B3-A3F2-B63159C1F508}"/>
              </a:ext>
            </a:extLst>
          </p:cNvPr>
          <p:cNvGraphicFramePr>
            <a:graphicFrameLocks noGrp="1"/>
          </p:cNvGraphicFramePr>
          <p:nvPr>
            <p:extLst>
              <p:ext uri="{D42A27DB-BD31-4B8C-83A1-F6EECF244321}">
                <p14:modId xmlns:p14="http://schemas.microsoft.com/office/powerpoint/2010/main" val="1735263654"/>
              </p:ext>
            </p:extLst>
          </p:nvPr>
        </p:nvGraphicFramePr>
        <p:xfrm>
          <a:off x="438578" y="1256851"/>
          <a:ext cx="8175098" cy="2100705"/>
        </p:xfrm>
        <a:graphic>
          <a:graphicData uri="http://schemas.openxmlformats.org/drawingml/2006/table">
            <a:tbl>
              <a:tblPr>
                <a:tableStyleId>{5C22544A-7EE6-4342-B048-85BDC9FD1C3A}</a:tableStyleId>
              </a:tblPr>
              <a:tblGrid>
                <a:gridCol w="5380936">
                  <a:extLst>
                    <a:ext uri="{9D8B030D-6E8A-4147-A177-3AD203B41FA5}">
                      <a16:colId xmlns:a16="http://schemas.microsoft.com/office/drawing/2014/main" val="3603785249"/>
                    </a:ext>
                  </a:extLst>
                </a:gridCol>
                <a:gridCol w="994911">
                  <a:extLst>
                    <a:ext uri="{9D8B030D-6E8A-4147-A177-3AD203B41FA5}">
                      <a16:colId xmlns:a16="http://schemas.microsoft.com/office/drawing/2014/main" val="369487204"/>
                    </a:ext>
                  </a:extLst>
                </a:gridCol>
                <a:gridCol w="1799251">
                  <a:extLst>
                    <a:ext uri="{9D8B030D-6E8A-4147-A177-3AD203B41FA5}">
                      <a16:colId xmlns:a16="http://schemas.microsoft.com/office/drawing/2014/main" val="2021802655"/>
                    </a:ext>
                  </a:extLst>
                </a:gridCol>
              </a:tblGrid>
              <a:tr h="308808">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Ateliers de sensibilisation grand public aux enjeux du réemploi du textile</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Medium" panose="020B0604020202020204" charset="-79"/>
                          <a:cs typeface="Rubik Medium" panose="020B0604020202020204" charset="-79"/>
                        </a:rPr>
                        <a:t>500</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 / demi journée</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1295807080"/>
                  </a:ext>
                </a:extLst>
              </a:tr>
              <a:tr h="308808">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Conception d'ateliers de sensibilisation grand public</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Medium" panose="020B0604020202020204" charset="-79"/>
                          <a:cs typeface="Rubik Medium" panose="020B0604020202020204" charset="-79"/>
                        </a:rPr>
                        <a:t>1 000</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a:solidFill>
                            <a:schemeClr val="bg1"/>
                          </a:solidFill>
                          <a:effectLst/>
                          <a:latin typeface="Rubik Medium" panose="020B0604020202020204" charset="-79"/>
                          <a:cs typeface="Rubik Medium" panose="020B0604020202020204" charset="-79"/>
                        </a:rPr>
                        <a:t>€ / Structure / an</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3986917116"/>
                  </a:ext>
                </a:extLst>
              </a:tr>
              <a:tr h="308808">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Ateliers d'autoréparation accompagnés, ateliers créatifs, ateliers d'</a:t>
                      </a:r>
                      <a:r>
                        <a:rPr lang="fr-FR" sz="1100" u="none" strike="noStrike" dirty="0" err="1">
                          <a:solidFill>
                            <a:schemeClr val="bg1"/>
                          </a:solidFill>
                          <a:effectLst/>
                          <a:latin typeface="Rubik Medium" panose="020B0604020202020204" charset="-79"/>
                          <a:cs typeface="Rubik Medium" panose="020B0604020202020204" charset="-79"/>
                        </a:rPr>
                        <a:t>upcycling</a:t>
                      </a:r>
                      <a:r>
                        <a:rPr lang="fr-FR" sz="1100" u="none" strike="noStrike" dirty="0">
                          <a:solidFill>
                            <a:schemeClr val="bg1"/>
                          </a:solidFill>
                          <a:effectLst/>
                          <a:latin typeface="Rubik Medium" panose="020B0604020202020204" charset="-79"/>
                          <a:cs typeface="Rubik Medium" panose="020B0604020202020204" charset="-79"/>
                        </a:rPr>
                        <a:t>, etc.</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Medium" panose="020B0604020202020204" charset="-79"/>
                          <a:cs typeface="Rubik Medium" panose="020B0604020202020204" charset="-79"/>
                        </a:rPr>
                        <a:t>1 000</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 / Structure / an</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1277727206"/>
                  </a:ext>
                </a:extLst>
              </a:tr>
              <a:tr h="386255">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Achat de matériel pédagogique pour des ateliers de sensibilisation grand public</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Medium" panose="020B0604020202020204" charset="-79"/>
                          <a:cs typeface="Rubik Medium" panose="020B0604020202020204" charset="-79"/>
                        </a:rPr>
                        <a:t>1 000</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 / Structure / an</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2883754929"/>
                  </a:ext>
                </a:extLst>
              </a:tr>
              <a:tr h="394013">
                <a:tc>
                  <a:txBody>
                    <a:bodyPr/>
                    <a:lstStyle/>
                    <a:p>
                      <a:pPr algn="l" fontAlgn="ctr"/>
                      <a:r>
                        <a:rPr lang="fr-FR" sz="1100" u="none" strike="noStrike">
                          <a:solidFill>
                            <a:schemeClr val="bg1"/>
                          </a:solidFill>
                          <a:effectLst/>
                          <a:latin typeface="Rubik Medium" panose="020B0604020202020204" charset="-79"/>
                          <a:cs typeface="Rubik Medium" panose="020B0604020202020204" charset="-79"/>
                        </a:rPr>
                        <a:t>Création et impression de supports d'information et de formation à destination des personnels</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Medium" panose="020B0604020202020204" charset="-79"/>
                          <a:cs typeface="Rubik Medium" panose="020B0604020202020204" charset="-79"/>
                        </a:rPr>
                        <a:t>1 000</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 / opération</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1801248445"/>
                  </a:ext>
                </a:extLst>
              </a:tr>
              <a:tr h="394013">
                <a:tc>
                  <a:txBody>
                    <a:bodyPr/>
                    <a:lstStyle/>
                    <a:p>
                      <a:pPr algn="l" fontAlgn="ctr"/>
                      <a:r>
                        <a:rPr lang="fr-FR" sz="1100" u="none" strike="noStrike">
                          <a:solidFill>
                            <a:schemeClr val="bg1"/>
                          </a:solidFill>
                          <a:effectLst/>
                          <a:latin typeface="Rubik Medium" panose="020B0604020202020204" charset="-79"/>
                          <a:cs typeface="Rubik Medium" panose="020B0604020202020204" charset="-79"/>
                        </a:rPr>
                        <a:t>Création et impression de supports de communication grand public pour la promotion du réemploi et de la réutilisation</a:t>
                      </a:r>
                      <a:endParaRPr lang="fr-FR" sz="1100" b="0" i="0" u="none" strike="noStrike">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ctr" fontAlgn="ctr"/>
                      <a:r>
                        <a:rPr lang="fr-FR" sz="1100" u="none" strike="noStrike" dirty="0">
                          <a:solidFill>
                            <a:schemeClr val="bg1"/>
                          </a:solidFill>
                          <a:effectLst/>
                          <a:latin typeface="Rubik Medium" panose="020B0604020202020204" charset="-79"/>
                          <a:cs typeface="Rubik Medium" panose="020B0604020202020204" charset="-79"/>
                        </a:rPr>
                        <a:t>5 000</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tc>
                  <a:txBody>
                    <a:bodyPr/>
                    <a:lstStyle/>
                    <a:p>
                      <a:pPr algn="l" fontAlgn="ctr"/>
                      <a:r>
                        <a:rPr lang="fr-FR" sz="1100" u="none" strike="noStrike" dirty="0">
                          <a:solidFill>
                            <a:schemeClr val="bg1"/>
                          </a:solidFill>
                          <a:effectLst/>
                          <a:latin typeface="Rubik Medium" panose="020B0604020202020204" charset="-79"/>
                          <a:cs typeface="Rubik Medium" panose="020B0604020202020204" charset="-79"/>
                        </a:rPr>
                        <a:t>€ / Structure / an</a:t>
                      </a:r>
                      <a:endParaRPr lang="fr-FR" sz="1100" b="0" i="0" u="none" strike="noStrike" dirty="0">
                        <a:solidFill>
                          <a:schemeClr val="bg1"/>
                        </a:solidFill>
                        <a:effectLst/>
                        <a:latin typeface="Rubik Medium" panose="020B0604020202020204" charset="-79"/>
                        <a:cs typeface="Rubik Medium" panose="020B0604020202020204" charset="-79"/>
                      </a:endParaRPr>
                    </a:p>
                  </a:txBody>
                  <a:tcPr marL="3158" marR="3158" marT="3158" marB="0" anchor="ctr">
                    <a:solidFill>
                      <a:srgbClr val="5537AF"/>
                    </a:solidFill>
                  </a:tcPr>
                </a:tc>
                <a:extLst>
                  <a:ext uri="{0D108BD9-81ED-4DB2-BD59-A6C34878D82A}">
                    <a16:rowId xmlns:a16="http://schemas.microsoft.com/office/drawing/2014/main" val="3137729363"/>
                  </a:ext>
                </a:extLst>
              </a:tr>
            </a:tbl>
          </a:graphicData>
        </a:graphic>
      </p:graphicFrame>
      <p:graphicFrame>
        <p:nvGraphicFramePr>
          <p:cNvPr id="2" name="Tableau 1">
            <a:extLst>
              <a:ext uri="{FF2B5EF4-FFF2-40B4-BE49-F238E27FC236}">
                <a16:creationId xmlns:a16="http://schemas.microsoft.com/office/drawing/2014/main" id="{6B1B8B25-8623-448C-A5FD-925A5A239D06}"/>
              </a:ext>
            </a:extLst>
          </p:cNvPr>
          <p:cNvGraphicFramePr>
            <a:graphicFrameLocks noGrp="1"/>
          </p:cNvGraphicFramePr>
          <p:nvPr>
            <p:extLst>
              <p:ext uri="{D42A27DB-BD31-4B8C-83A1-F6EECF244321}">
                <p14:modId xmlns:p14="http://schemas.microsoft.com/office/powerpoint/2010/main" val="4071668040"/>
              </p:ext>
            </p:extLst>
          </p:nvPr>
        </p:nvGraphicFramePr>
        <p:xfrm>
          <a:off x="5259219" y="3532945"/>
          <a:ext cx="2984500" cy="1793886"/>
        </p:xfrm>
        <a:graphic>
          <a:graphicData uri="http://schemas.openxmlformats.org/drawingml/2006/table">
            <a:tbl>
              <a:tblPr>
                <a:tableStyleId>{5C22544A-7EE6-4342-B048-85BDC9FD1C3A}</a:tableStyleId>
              </a:tblPr>
              <a:tblGrid>
                <a:gridCol w="2984500">
                  <a:extLst>
                    <a:ext uri="{9D8B030D-6E8A-4147-A177-3AD203B41FA5}">
                      <a16:colId xmlns:a16="http://schemas.microsoft.com/office/drawing/2014/main" val="2273286172"/>
                    </a:ext>
                  </a:extLst>
                </a:gridCol>
              </a:tblGrid>
              <a:tr h="1607724">
                <a:tc>
                  <a:txBody>
                    <a:bodyPr/>
                    <a:lstStyle/>
                    <a:p>
                      <a:pPr marL="0" indent="0" algn="l" fontAlgn="ctr">
                        <a:buFontTx/>
                        <a:buNone/>
                      </a:pPr>
                      <a:r>
                        <a:rPr lang="fr-FR" sz="1000" b="1" u="sng" strike="noStrike" dirty="0">
                          <a:effectLst/>
                          <a:latin typeface="Rubik Medium" panose="020B0604020202020204" charset="-79"/>
                          <a:cs typeface="Rubik Medium" panose="020B0604020202020204" charset="-79"/>
                        </a:rPr>
                        <a:t>Livrables et justificatifs: </a:t>
                      </a:r>
                    </a:p>
                    <a:p>
                      <a:pPr marL="171450" indent="-171450" algn="l" fontAlgn="ctr">
                        <a:buFontTx/>
                        <a:buChar char="-"/>
                      </a:pPr>
                      <a:r>
                        <a:rPr lang="fr-FR" sz="1000" u="none" strike="noStrike" dirty="0">
                          <a:effectLst/>
                          <a:latin typeface="Rubik Medium" panose="020B0604020202020204" charset="-79"/>
                          <a:cs typeface="Rubik Medium" panose="020B0604020202020204" charset="-79"/>
                        </a:rPr>
                        <a:t>Listes des dépenses soutenues</a:t>
                      </a:r>
                    </a:p>
                    <a:p>
                      <a:pPr marL="171450" indent="-171450" algn="l" fontAlgn="ctr">
                        <a:buFontTx/>
                        <a:buChar char="-"/>
                      </a:pPr>
                      <a:r>
                        <a:rPr lang="fr-FR" sz="1000" u="none" strike="noStrike" dirty="0">
                          <a:effectLst/>
                          <a:latin typeface="Rubik Medium" panose="020B0604020202020204" charset="-79"/>
                          <a:cs typeface="Rubik Medium" panose="020B0604020202020204" charset="-79"/>
                        </a:rPr>
                        <a:t>Factures</a:t>
                      </a:r>
                    </a:p>
                    <a:p>
                      <a:pPr marL="171450" indent="-171450" algn="l" fontAlgn="ctr">
                        <a:buFontTx/>
                        <a:buChar char="-"/>
                      </a:pPr>
                      <a:r>
                        <a:rPr lang="fr-FR" sz="1000" u="none" strike="noStrike" dirty="0">
                          <a:effectLst/>
                          <a:latin typeface="Rubik Medium" panose="020B0604020202020204" charset="-79"/>
                          <a:cs typeface="Rubik Medium" panose="020B0604020202020204" charset="-79"/>
                        </a:rPr>
                        <a:t>Bilan synthétique (la trame sera fournie)</a:t>
                      </a:r>
                    </a:p>
                    <a:p>
                      <a:pPr marL="171450" indent="-171450" algn="l" fontAlgn="ctr">
                        <a:buFontTx/>
                        <a:buChar char="-"/>
                      </a:pPr>
                      <a:r>
                        <a:rPr lang="fr-FR" sz="1000" u="none" strike="noStrike" dirty="0">
                          <a:effectLst/>
                          <a:latin typeface="Rubik Medium" panose="020B0604020202020204" charset="-79"/>
                          <a:cs typeface="Rubik Medium" panose="020B0604020202020204" charset="-79"/>
                        </a:rPr>
                        <a:t>Supports produits</a:t>
                      </a:r>
                    </a:p>
                    <a:p>
                      <a:pPr marL="171450" indent="-171450" algn="l" fontAlgn="ctr">
                        <a:buFontTx/>
                        <a:buChar char="-"/>
                      </a:pPr>
                      <a:r>
                        <a:rPr lang="fr-FR" sz="1000" u="none" strike="noStrike" dirty="0">
                          <a:effectLst/>
                          <a:latin typeface="Rubik Medium" panose="020B0604020202020204" charset="-79"/>
                          <a:cs typeface="Rubik Medium" panose="020B0604020202020204" charset="-79"/>
                        </a:rPr>
                        <a:t>Tableau justificatif dépenses de personnel (modèle fourni)</a:t>
                      </a:r>
                    </a:p>
                    <a:p>
                      <a:pPr marL="171450" indent="-171450" algn="l" fontAlgn="ctr">
                        <a:buFontTx/>
                        <a:buChar char="-"/>
                      </a:pPr>
                      <a:r>
                        <a:rPr lang="fr-FR" sz="1000" u="none" strike="noStrike" dirty="0">
                          <a:effectLst/>
                          <a:latin typeface="Rubik Medium" panose="020B0604020202020204" charset="-79"/>
                          <a:cs typeface="Rubik Medium" panose="020B0604020202020204" charset="-79"/>
                        </a:rPr>
                        <a:t>Bilan synthétique (la trame sera fournie) </a:t>
                      </a:r>
                      <a:endParaRPr lang="fr-FR" sz="1000" b="0" i="0" u="none" strike="noStrike" dirty="0">
                        <a:solidFill>
                          <a:srgbClr val="FFFFFF"/>
                        </a:solidFill>
                        <a:effectLst/>
                        <a:latin typeface="Rubik Medium" panose="020B0604020202020204" charset="-79"/>
                        <a:cs typeface="Rubik Medium" panose="020B0604020202020204" charset="-79"/>
                      </a:endParaRPr>
                    </a:p>
                  </a:txBody>
                  <a:tcPr marL="4763" marR="4763" marT="4763" marB="0" anchor="ctr">
                    <a:noFill/>
                  </a:tcPr>
                </a:tc>
                <a:extLst>
                  <a:ext uri="{0D108BD9-81ED-4DB2-BD59-A6C34878D82A}">
                    <a16:rowId xmlns:a16="http://schemas.microsoft.com/office/drawing/2014/main" val="3689290451"/>
                  </a:ext>
                </a:extLst>
              </a:tr>
              <a:tr h="186162">
                <a:tc>
                  <a:txBody>
                    <a:bodyPr/>
                    <a:lstStyle/>
                    <a:p>
                      <a:pPr algn="l" fontAlgn="ctr"/>
                      <a:r>
                        <a:rPr lang="fr-FR" sz="1000" u="none" strike="noStrike" dirty="0">
                          <a:effectLst/>
                        </a:rPr>
                        <a:t> </a:t>
                      </a:r>
                      <a:endParaRPr lang="fr-FR" sz="1000" b="0" i="0" u="none" strike="noStrike" dirty="0">
                        <a:solidFill>
                          <a:srgbClr val="FFFFFF"/>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435011192"/>
                  </a:ext>
                </a:extLst>
              </a:tr>
            </a:tbl>
          </a:graphicData>
        </a:graphic>
      </p:graphicFrame>
    </p:spTree>
    <p:extLst>
      <p:ext uri="{BB962C8B-B14F-4D97-AF65-F5344CB8AC3E}">
        <p14:creationId xmlns:p14="http://schemas.microsoft.com/office/powerpoint/2010/main" val="1134880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27"/>
          <p:cNvPicPr preferRelativeResize="0"/>
          <p:nvPr/>
        </p:nvPicPr>
        <p:blipFill>
          <a:blip r:embed="rId3">
            <a:alphaModFix/>
          </a:blip>
          <a:stretch>
            <a:fillRect/>
          </a:stretch>
        </p:blipFill>
        <p:spPr>
          <a:xfrm flipH="1">
            <a:off x="0" y="463742"/>
            <a:ext cx="8830638" cy="4679758"/>
          </a:xfrm>
          <a:prstGeom prst="rect">
            <a:avLst/>
          </a:prstGeom>
          <a:noFill/>
          <a:ln>
            <a:noFill/>
          </a:ln>
        </p:spPr>
      </p:pic>
      <p:sp>
        <p:nvSpPr>
          <p:cNvPr id="255" name="Google Shape;255;p27"/>
          <p:cNvSpPr txBox="1"/>
          <p:nvPr/>
        </p:nvSpPr>
        <p:spPr>
          <a:xfrm>
            <a:off x="329410" y="108050"/>
            <a:ext cx="4650345" cy="646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AXES </a:t>
            </a:r>
            <a:r>
              <a:rPr lang="fr" sz="3000" dirty="0">
                <a:solidFill>
                  <a:srgbClr val="5537AF"/>
                </a:solidFill>
                <a:latin typeface="Lilita One"/>
                <a:ea typeface="Lilita One"/>
                <a:cs typeface="Lilita One"/>
                <a:sym typeface="Lilita One"/>
              </a:rPr>
              <a:t>2025</a:t>
            </a:r>
            <a:endParaRPr sz="3000" dirty="0">
              <a:solidFill>
                <a:srgbClr val="5537AF"/>
              </a:solidFill>
              <a:latin typeface="Lilita One"/>
              <a:ea typeface="Lilita One"/>
              <a:cs typeface="Lilita One"/>
              <a:sym typeface="Lilita One"/>
            </a:endParaRPr>
          </a:p>
        </p:txBody>
      </p:sp>
      <p:pic>
        <p:nvPicPr>
          <p:cNvPr id="259" name="Google Shape;259;p27"/>
          <p:cNvPicPr preferRelativeResize="0"/>
          <p:nvPr/>
        </p:nvPicPr>
        <p:blipFill>
          <a:blip r:embed="rId4">
            <a:alphaModFix/>
          </a:blip>
          <a:stretch>
            <a:fillRect/>
          </a:stretch>
        </p:blipFill>
        <p:spPr>
          <a:xfrm>
            <a:off x="8338425" y="108050"/>
            <a:ext cx="400201" cy="400201"/>
          </a:xfrm>
          <a:prstGeom prst="rect">
            <a:avLst/>
          </a:prstGeom>
          <a:noFill/>
          <a:ln>
            <a:noFill/>
          </a:ln>
        </p:spPr>
      </p:pic>
      <p:sp>
        <p:nvSpPr>
          <p:cNvPr id="3" name="Rectangle 2">
            <a:extLst>
              <a:ext uri="{FF2B5EF4-FFF2-40B4-BE49-F238E27FC236}">
                <a16:creationId xmlns:a16="http://schemas.microsoft.com/office/drawing/2014/main" id="{05073E31-2234-4DCE-9022-B323EEFAF620}"/>
              </a:ext>
            </a:extLst>
          </p:cNvPr>
          <p:cNvSpPr/>
          <p:nvPr/>
        </p:nvSpPr>
        <p:spPr>
          <a:xfrm>
            <a:off x="329410" y="642853"/>
            <a:ext cx="3504486" cy="523220"/>
          </a:xfrm>
          <a:prstGeom prst="rect">
            <a:avLst/>
          </a:prstGeom>
        </p:spPr>
        <p:txBody>
          <a:bodyPr wrap="none">
            <a:spAutoFit/>
          </a:bodyPr>
          <a:lstStyle/>
          <a:p>
            <a:pPr lvl="0"/>
            <a:r>
              <a:rPr lang="fr-FR" dirty="0">
                <a:solidFill>
                  <a:srgbClr val="EB5A09"/>
                </a:solidFill>
                <a:latin typeface="Lilita One"/>
                <a:ea typeface="Lilita One"/>
                <a:cs typeface="Lilita One"/>
                <a:sym typeface="Lilita One"/>
              </a:rPr>
              <a:t>Axe 2: Remise en état/ Valorisation des TLC</a:t>
            </a:r>
          </a:p>
          <a:p>
            <a:pPr lvl="0"/>
            <a:r>
              <a:rPr lang="fr-FR" dirty="0">
                <a:solidFill>
                  <a:srgbClr val="EB5A09"/>
                </a:solidFill>
                <a:latin typeface="Lilita One"/>
                <a:ea typeface="Lilita One"/>
                <a:cs typeface="Lilita One"/>
                <a:sym typeface="Lilita One"/>
              </a:rPr>
              <a:t>Quelques exemples </a:t>
            </a:r>
          </a:p>
        </p:txBody>
      </p:sp>
      <p:sp>
        <p:nvSpPr>
          <p:cNvPr id="5" name="Rectangle 4">
            <a:extLst>
              <a:ext uri="{FF2B5EF4-FFF2-40B4-BE49-F238E27FC236}">
                <a16:creationId xmlns:a16="http://schemas.microsoft.com/office/drawing/2014/main" id="{5732EDC8-F5A7-4ACF-AAE3-A4C7CAD88D07}"/>
              </a:ext>
            </a:extLst>
          </p:cNvPr>
          <p:cNvSpPr/>
          <p:nvPr/>
        </p:nvSpPr>
        <p:spPr>
          <a:xfrm>
            <a:off x="4112192" y="3168587"/>
            <a:ext cx="4572000" cy="1831271"/>
          </a:xfrm>
          <a:prstGeom prst="rect">
            <a:avLst/>
          </a:prstGeom>
        </p:spPr>
        <p:txBody>
          <a:bodyPr>
            <a:spAutoFit/>
          </a:bodyPr>
          <a:lstStyle/>
          <a:p>
            <a:pPr fontAlgn="ctr"/>
            <a:r>
              <a:rPr lang="fr-FR" sz="1050" b="1" u="sng" dirty="0">
                <a:latin typeface="Rubik Medium" panose="020B0604020202020204" charset="-79"/>
                <a:cs typeface="Rubik Medium" panose="020B0604020202020204" charset="-79"/>
              </a:rPr>
              <a:t>Livrables / justificatifs :</a:t>
            </a:r>
          </a:p>
          <a:p>
            <a:pPr marL="171450" indent="-171450" fontAlgn="ctr">
              <a:buFontTx/>
              <a:buChar char="-"/>
            </a:pPr>
            <a:r>
              <a:rPr lang="fr-FR" sz="1050" dirty="0">
                <a:latin typeface="Rubik Medium" panose="020B0604020202020204" charset="-79"/>
                <a:cs typeface="Rubik Medium" panose="020B0604020202020204" charset="-79"/>
              </a:rPr>
              <a:t>Factures</a:t>
            </a:r>
          </a:p>
          <a:p>
            <a:pPr marL="171450" indent="-171450" fontAlgn="ctr">
              <a:buFontTx/>
              <a:buChar char="-"/>
            </a:pPr>
            <a:r>
              <a:rPr lang="fr-FR" sz="1050" dirty="0">
                <a:latin typeface="Rubik Medium" panose="020B0604020202020204" charset="-79"/>
                <a:cs typeface="Rubik Medium" panose="020B0604020202020204" charset="-79"/>
              </a:rPr>
              <a:t>Liste des dépenses soutenues</a:t>
            </a:r>
          </a:p>
          <a:p>
            <a:pPr marL="171450" indent="-171450" fontAlgn="ctr">
              <a:buFontTx/>
              <a:buChar char="-"/>
            </a:pPr>
            <a:r>
              <a:rPr lang="fr-FR" sz="1050" dirty="0">
                <a:latin typeface="Rubik Medium" panose="020B0604020202020204" charset="-79"/>
                <a:cs typeface="Rubik Medium" panose="020B0604020202020204" charset="-79"/>
              </a:rPr>
              <a:t>Factures</a:t>
            </a:r>
          </a:p>
          <a:p>
            <a:pPr marL="171450" indent="-171450" fontAlgn="ctr">
              <a:buFontTx/>
              <a:buChar char="-"/>
            </a:pPr>
            <a:r>
              <a:rPr lang="fr-FR" sz="1050" dirty="0">
                <a:latin typeface="Rubik Medium" panose="020B0604020202020204" charset="-79"/>
                <a:cs typeface="Rubik Medium" panose="020B0604020202020204" charset="-79"/>
              </a:rPr>
              <a:t>Photos</a:t>
            </a:r>
          </a:p>
          <a:p>
            <a:pPr marL="171450" indent="-171450" fontAlgn="ctr">
              <a:buFontTx/>
              <a:buChar char="-"/>
            </a:pPr>
            <a:r>
              <a:rPr lang="fr-FR" sz="1050" dirty="0">
                <a:latin typeface="Rubik Medium" panose="020B0604020202020204" charset="-79"/>
                <a:cs typeface="Rubik Medium" panose="020B0604020202020204" charset="-79"/>
              </a:rPr>
              <a:t>Bilan synthétique (la trame sera fournie)</a:t>
            </a:r>
          </a:p>
          <a:p>
            <a:pPr marL="171450" indent="-171450" fontAlgn="ctr">
              <a:buFontTx/>
              <a:buChar char="-"/>
            </a:pPr>
            <a:r>
              <a:rPr lang="fr-FR" sz="1050" dirty="0">
                <a:latin typeface="Rubik Medium" panose="020B0604020202020204" charset="-79"/>
                <a:cs typeface="Rubik Medium" panose="020B0604020202020204" charset="-79"/>
              </a:rPr>
              <a:t>Upcycling; Nombre de pièces, types d'articles, photos de quelques pièces</a:t>
            </a:r>
          </a:p>
          <a:p>
            <a:pPr marL="171450" indent="-171450" fontAlgn="ctr">
              <a:buFontTx/>
              <a:buChar char="-"/>
            </a:pPr>
            <a:r>
              <a:rPr lang="fr-FR" sz="1050" dirty="0">
                <a:latin typeface="Rubik Medium" panose="020B0604020202020204" charset="-79"/>
                <a:cs typeface="Rubik Medium" panose="020B0604020202020204" charset="-79"/>
              </a:rPr>
              <a:t>Tableau justificatif dépenses de personnel (modèle fourni) </a:t>
            </a:r>
          </a:p>
          <a:p>
            <a:pPr marL="171450" indent="-171450" fontAlgn="ctr">
              <a:buFontTx/>
              <a:buChar char="-"/>
            </a:pPr>
            <a:r>
              <a:rPr lang="fr-FR" sz="1050" dirty="0">
                <a:latin typeface="Rubik Medium" panose="020B0604020202020204" charset="-79"/>
                <a:cs typeface="Rubik Medium" panose="020B0604020202020204" charset="-79"/>
              </a:rPr>
              <a:t>Bilan synthétique (la trame sera fournie</a:t>
            </a:r>
            <a:r>
              <a:rPr lang="fr-FR" sz="900" dirty="0">
                <a:latin typeface="Rubik Medium" panose="020B0604020202020204" charset="-79"/>
                <a:cs typeface="Rubik Medium" panose="020B0604020202020204" charset="-79"/>
              </a:rPr>
              <a:t>)</a:t>
            </a:r>
          </a:p>
          <a:p>
            <a:pPr marL="171450" indent="-171450" fontAlgn="ctr">
              <a:buFontTx/>
              <a:buChar char="-"/>
            </a:pPr>
            <a:endParaRPr lang="fr-FR" sz="800" dirty="0">
              <a:latin typeface="Calibri" panose="020F0502020204030204" pitchFamily="34" charset="0"/>
            </a:endParaRPr>
          </a:p>
        </p:txBody>
      </p:sp>
      <p:graphicFrame>
        <p:nvGraphicFramePr>
          <p:cNvPr id="6" name="Tableau 5">
            <a:extLst>
              <a:ext uri="{FF2B5EF4-FFF2-40B4-BE49-F238E27FC236}">
                <a16:creationId xmlns:a16="http://schemas.microsoft.com/office/drawing/2014/main" id="{5BC33F48-E877-450A-AFE8-93E62075FBD7}"/>
              </a:ext>
            </a:extLst>
          </p:cNvPr>
          <p:cNvGraphicFramePr>
            <a:graphicFrameLocks noGrp="1"/>
          </p:cNvGraphicFramePr>
          <p:nvPr>
            <p:extLst>
              <p:ext uri="{D42A27DB-BD31-4B8C-83A1-F6EECF244321}">
                <p14:modId xmlns:p14="http://schemas.microsoft.com/office/powerpoint/2010/main" val="2515686910"/>
              </p:ext>
            </p:extLst>
          </p:nvPr>
        </p:nvGraphicFramePr>
        <p:xfrm>
          <a:off x="442709" y="1232247"/>
          <a:ext cx="7831806" cy="1461223"/>
        </p:xfrm>
        <a:graphic>
          <a:graphicData uri="http://schemas.openxmlformats.org/drawingml/2006/table">
            <a:tbl>
              <a:tblPr>
                <a:tableStyleId>{5C22544A-7EE6-4342-B048-85BDC9FD1C3A}</a:tableStyleId>
              </a:tblPr>
              <a:tblGrid>
                <a:gridCol w="5717516">
                  <a:extLst>
                    <a:ext uri="{9D8B030D-6E8A-4147-A177-3AD203B41FA5}">
                      <a16:colId xmlns:a16="http://schemas.microsoft.com/office/drawing/2014/main" val="1958585024"/>
                    </a:ext>
                  </a:extLst>
                </a:gridCol>
                <a:gridCol w="1057145">
                  <a:extLst>
                    <a:ext uri="{9D8B030D-6E8A-4147-A177-3AD203B41FA5}">
                      <a16:colId xmlns:a16="http://schemas.microsoft.com/office/drawing/2014/main" val="385327535"/>
                    </a:ext>
                  </a:extLst>
                </a:gridCol>
                <a:gridCol w="1057145">
                  <a:extLst>
                    <a:ext uri="{9D8B030D-6E8A-4147-A177-3AD203B41FA5}">
                      <a16:colId xmlns:a16="http://schemas.microsoft.com/office/drawing/2014/main" val="2029860816"/>
                    </a:ext>
                  </a:extLst>
                </a:gridCol>
              </a:tblGrid>
              <a:tr h="297667">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Achat de matériel pour développer la remise en état : machine à coudre, fer à repasser, </a:t>
                      </a:r>
                      <a:r>
                        <a:rPr lang="fr-FR" sz="1100" u="none" strike="noStrike" dirty="0" err="1">
                          <a:solidFill>
                            <a:schemeClr val="bg1"/>
                          </a:solidFill>
                          <a:effectLst/>
                          <a:latin typeface="Rubik Light" panose="020B0604020202020204" charset="-79"/>
                          <a:cs typeface="Rubik Light" panose="020B0604020202020204" charset="-79"/>
                        </a:rPr>
                        <a:t>défroisseur</a:t>
                      </a:r>
                      <a:r>
                        <a:rPr lang="fr-FR" sz="1100" u="none" strike="noStrike" dirty="0">
                          <a:solidFill>
                            <a:schemeClr val="bg1"/>
                          </a:solidFill>
                          <a:effectLst/>
                          <a:latin typeface="Rubik Light" panose="020B0604020202020204" charset="-79"/>
                          <a:cs typeface="Rubik Light" panose="020B0604020202020204" charset="-79"/>
                        </a:rPr>
                        <a:t>, machines à laver, ciseaux, consommables…</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tc>
                  <a:txBody>
                    <a:bodyPr/>
                    <a:lstStyle/>
                    <a:p>
                      <a:pPr algn="ctr" fontAlgn="ctr"/>
                      <a:r>
                        <a:rPr lang="fr-FR" sz="1100" u="none" strike="noStrike" dirty="0">
                          <a:solidFill>
                            <a:schemeClr val="bg1"/>
                          </a:solidFill>
                          <a:effectLst/>
                          <a:latin typeface="Rubik Light" panose="020B0604020202020204" charset="-79"/>
                          <a:cs typeface="Rubik Light" panose="020B0604020202020204" charset="-79"/>
                        </a:rPr>
                        <a:t>8 000</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tc>
                  <a:txBody>
                    <a:bodyPr/>
                    <a:lstStyle/>
                    <a:p>
                      <a:pPr algn="l" fontAlgn="ctr"/>
                      <a:r>
                        <a:rPr lang="fr-FR" sz="1100" u="none" strike="noStrike">
                          <a:solidFill>
                            <a:schemeClr val="bg1"/>
                          </a:solidFill>
                          <a:effectLst/>
                          <a:latin typeface="Rubik Light" panose="020B0604020202020204" charset="-79"/>
                          <a:cs typeface="Rubik Light" panose="020B0604020202020204" charset="-79"/>
                        </a:rPr>
                        <a:t>€ / Structure / an</a:t>
                      </a:r>
                      <a:endParaRPr lang="fr-FR" sz="1100" b="0" i="0" u="none" strike="noStrike">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extLst>
                  <a:ext uri="{0D108BD9-81ED-4DB2-BD59-A6C34878D82A}">
                    <a16:rowId xmlns:a16="http://schemas.microsoft.com/office/drawing/2014/main" val="3319863533"/>
                  </a:ext>
                </a:extLst>
              </a:tr>
              <a:tr h="377662">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Achat de matériel pour améliorer la circulation des flux au sein des structures : manutention, tri, logistique…(</a:t>
                      </a:r>
                      <a:r>
                        <a:rPr lang="fr-FR" sz="1100" u="none" strike="noStrike" dirty="0" err="1">
                          <a:solidFill>
                            <a:schemeClr val="bg1"/>
                          </a:solidFill>
                          <a:effectLst/>
                          <a:latin typeface="Rubik Light" panose="020B0604020202020204" charset="-79"/>
                          <a:cs typeface="Rubik Light" panose="020B0604020202020204" charset="-79"/>
                        </a:rPr>
                        <a:t>rolls</a:t>
                      </a:r>
                      <a:r>
                        <a:rPr lang="fr-FR" sz="1100" u="none" strike="noStrike" dirty="0">
                          <a:solidFill>
                            <a:schemeClr val="bg1"/>
                          </a:solidFill>
                          <a:effectLst/>
                          <a:latin typeface="Rubik Light" panose="020B0604020202020204" charset="-79"/>
                          <a:cs typeface="Rubik Light" panose="020B0604020202020204" charset="-79"/>
                        </a:rPr>
                        <a:t>, tables hautes, chaises hautes, etc.)</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tc>
                  <a:txBody>
                    <a:bodyPr/>
                    <a:lstStyle/>
                    <a:p>
                      <a:pPr algn="ctr" fontAlgn="ctr"/>
                      <a:r>
                        <a:rPr lang="fr-FR" sz="1100" u="none" strike="noStrike">
                          <a:solidFill>
                            <a:schemeClr val="bg1"/>
                          </a:solidFill>
                          <a:effectLst/>
                          <a:latin typeface="Rubik Light" panose="020B0604020202020204" charset="-79"/>
                          <a:cs typeface="Rubik Light" panose="020B0604020202020204" charset="-79"/>
                        </a:rPr>
                        <a:t>10 000</a:t>
                      </a:r>
                      <a:endParaRPr lang="fr-FR" sz="1100" b="0" i="0" u="none" strike="noStrike">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tc>
                  <a:txBody>
                    <a:bodyPr/>
                    <a:lstStyle/>
                    <a:p>
                      <a:pPr algn="l" fontAlgn="ctr"/>
                      <a:r>
                        <a:rPr lang="fr-FR" sz="1100" u="none" strike="noStrike">
                          <a:solidFill>
                            <a:schemeClr val="bg1"/>
                          </a:solidFill>
                          <a:effectLst/>
                          <a:latin typeface="Rubik Light" panose="020B0604020202020204" charset="-79"/>
                          <a:cs typeface="Rubik Light" panose="020B0604020202020204" charset="-79"/>
                        </a:rPr>
                        <a:t>€ / Structure / an</a:t>
                      </a:r>
                      <a:endParaRPr lang="fr-FR" sz="1100" b="0" i="0" u="none" strike="noStrike">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extLst>
                  <a:ext uri="{0D108BD9-81ED-4DB2-BD59-A6C34878D82A}">
                    <a16:rowId xmlns:a16="http://schemas.microsoft.com/office/drawing/2014/main" val="874721249"/>
                  </a:ext>
                </a:extLst>
              </a:tr>
              <a:tr h="744168">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Développement de l'activité </a:t>
                      </a:r>
                      <a:r>
                        <a:rPr lang="fr-FR" sz="1100" u="none" strike="noStrike" dirty="0" err="1">
                          <a:solidFill>
                            <a:schemeClr val="bg1"/>
                          </a:solidFill>
                          <a:effectLst/>
                          <a:latin typeface="Rubik Light" panose="020B0604020202020204" charset="-79"/>
                          <a:cs typeface="Rubik Light" panose="020B0604020202020204" charset="-79"/>
                        </a:rPr>
                        <a:t>upcycling</a:t>
                      </a:r>
                      <a:r>
                        <a:rPr lang="fr-FR" sz="1100" u="none" strike="noStrike" dirty="0">
                          <a:solidFill>
                            <a:schemeClr val="bg1"/>
                          </a:solidFill>
                          <a:effectLst/>
                          <a:latin typeface="Rubik Light" panose="020B0604020202020204" charset="-79"/>
                          <a:cs typeface="Rubik Light" panose="020B0604020202020204" charset="-79"/>
                        </a:rPr>
                        <a:t> : recherche, développement, production de petites séries, matériel et fournitures</a:t>
                      </a:r>
                    </a:p>
                  </a:txBody>
                  <a:tcPr marL="4113" marR="4113" marT="4113" marB="0" anchor="ctr">
                    <a:solidFill>
                      <a:srgbClr val="5537AF"/>
                    </a:solidFill>
                  </a:tcPr>
                </a:tc>
                <a:tc>
                  <a:txBody>
                    <a:bodyPr/>
                    <a:lstStyle/>
                    <a:p>
                      <a:pPr algn="ctr" fontAlgn="ctr"/>
                      <a:r>
                        <a:rPr lang="fr-FR" sz="1100" u="none" strike="noStrike" dirty="0">
                          <a:solidFill>
                            <a:schemeClr val="bg1"/>
                          </a:solidFill>
                          <a:effectLst/>
                          <a:latin typeface="Rubik Light" panose="020B0604020202020204" charset="-79"/>
                          <a:cs typeface="Rubik Light" panose="020B0604020202020204" charset="-79"/>
                        </a:rPr>
                        <a:t>20 000</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 / opération</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extLst>
                  <a:ext uri="{0D108BD9-81ED-4DB2-BD59-A6C34878D82A}">
                    <a16:rowId xmlns:a16="http://schemas.microsoft.com/office/drawing/2014/main" val="815172675"/>
                  </a:ext>
                </a:extLst>
              </a:tr>
            </a:tbl>
          </a:graphicData>
        </a:graphic>
      </p:graphicFrame>
    </p:spTree>
    <p:extLst>
      <p:ext uri="{BB962C8B-B14F-4D97-AF65-F5344CB8AC3E}">
        <p14:creationId xmlns:p14="http://schemas.microsoft.com/office/powerpoint/2010/main" val="3370682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27"/>
          <p:cNvPicPr preferRelativeResize="0"/>
          <p:nvPr/>
        </p:nvPicPr>
        <p:blipFill>
          <a:blip r:embed="rId3">
            <a:alphaModFix/>
          </a:blip>
          <a:stretch>
            <a:fillRect/>
          </a:stretch>
        </p:blipFill>
        <p:spPr>
          <a:xfrm flipH="1">
            <a:off x="0" y="463742"/>
            <a:ext cx="8830638" cy="4679758"/>
          </a:xfrm>
          <a:prstGeom prst="rect">
            <a:avLst/>
          </a:prstGeom>
          <a:noFill/>
          <a:ln>
            <a:noFill/>
          </a:ln>
        </p:spPr>
      </p:pic>
      <p:sp>
        <p:nvSpPr>
          <p:cNvPr id="255" name="Google Shape;255;p27"/>
          <p:cNvSpPr txBox="1"/>
          <p:nvPr/>
        </p:nvSpPr>
        <p:spPr>
          <a:xfrm>
            <a:off x="329410" y="108050"/>
            <a:ext cx="4650345" cy="646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AXES </a:t>
            </a:r>
            <a:r>
              <a:rPr lang="fr" sz="3000" dirty="0">
                <a:solidFill>
                  <a:srgbClr val="5537AF"/>
                </a:solidFill>
                <a:latin typeface="Lilita One"/>
                <a:ea typeface="Lilita One"/>
                <a:cs typeface="Lilita One"/>
                <a:sym typeface="Lilita One"/>
              </a:rPr>
              <a:t>2025</a:t>
            </a:r>
            <a:endParaRPr sz="3000" dirty="0">
              <a:solidFill>
                <a:srgbClr val="5537AF"/>
              </a:solidFill>
              <a:latin typeface="Lilita One"/>
              <a:ea typeface="Lilita One"/>
              <a:cs typeface="Lilita One"/>
              <a:sym typeface="Lilita One"/>
            </a:endParaRPr>
          </a:p>
        </p:txBody>
      </p:sp>
      <p:pic>
        <p:nvPicPr>
          <p:cNvPr id="259" name="Google Shape;259;p27"/>
          <p:cNvPicPr preferRelativeResize="0"/>
          <p:nvPr/>
        </p:nvPicPr>
        <p:blipFill>
          <a:blip r:embed="rId4">
            <a:alphaModFix/>
          </a:blip>
          <a:stretch>
            <a:fillRect/>
          </a:stretch>
        </p:blipFill>
        <p:spPr>
          <a:xfrm>
            <a:off x="8338425" y="108050"/>
            <a:ext cx="400201" cy="400201"/>
          </a:xfrm>
          <a:prstGeom prst="rect">
            <a:avLst/>
          </a:prstGeom>
          <a:noFill/>
          <a:ln>
            <a:noFill/>
          </a:ln>
        </p:spPr>
      </p:pic>
      <p:sp>
        <p:nvSpPr>
          <p:cNvPr id="3" name="Rectangle 2">
            <a:extLst>
              <a:ext uri="{FF2B5EF4-FFF2-40B4-BE49-F238E27FC236}">
                <a16:creationId xmlns:a16="http://schemas.microsoft.com/office/drawing/2014/main" id="{05073E31-2234-4DCE-9022-B323EEFAF620}"/>
              </a:ext>
            </a:extLst>
          </p:cNvPr>
          <p:cNvSpPr/>
          <p:nvPr/>
        </p:nvSpPr>
        <p:spPr>
          <a:xfrm>
            <a:off x="329410" y="642853"/>
            <a:ext cx="3714478" cy="523220"/>
          </a:xfrm>
          <a:prstGeom prst="rect">
            <a:avLst/>
          </a:prstGeom>
        </p:spPr>
        <p:txBody>
          <a:bodyPr wrap="none">
            <a:spAutoFit/>
          </a:bodyPr>
          <a:lstStyle/>
          <a:p>
            <a:pPr lvl="0"/>
            <a:r>
              <a:rPr lang="fr-FR" dirty="0">
                <a:solidFill>
                  <a:srgbClr val="EB5A09"/>
                </a:solidFill>
                <a:latin typeface="Lilita One"/>
                <a:ea typeface="Lilita One"/>
                <a:cs typeface="Lilita One"/>
                <a:sym typeface="Lilita One"/>
              </a:rPr>
              <a:t>Axe 3 : Amélioration de surfaces commerciales</a:t>
            </a:r>
          </a:p>
          <a:p>
            <a:pPr lvl="0"/>
            <a:r>
              <a:rPr lang="fr-FR" dirty="0">
                <a:solidFill>
                  <a:srgbClr val="EB5A09"/>
                </a:solidFill>
                <a:latin typeface="Lilita One"/>
                <a:ea typeface="Lilita One"/>
                <a:cs typeface="Lilita One"/>
                <a:sym typeface="Lilita One"/>
              </a:rPr>
              <a:t>Quelques exemples </a:t>
            </a:r>
          </a:p>
        </p:txBody>
      </p:sp>
      <p:sp>
        <p:nvSpPr>
          <p:cNvPr id="5" name="Rectangle 4">
            <a:extLst>
              <a:ext uri="{FF2B5EF4-FFF2-40B4-BE49-F238E27FC236}">
                <a16:creationId xmlns:a16="http://schemas.microsoft.com/office/drawing/2014/main" id="{5732EDC8-F5A7-4ACF-AAE3-A4C7CAD88D07}"/>
              </a:ext>
            </a:extLst>
          </p:cNvPr>
          <p:cNvSpPr/>
          <p:nvPr/>
        </p:nvSpPr>
        <p:spPr>
          <a:xfrm>
            <a:off x="3003516" y="3708122"/>
            <a:ext cx="4572000" cy="1585049"/>
          </a:xfrm>
          <a:prstGeom prst="rect">
            <a:avLst/>
          </a:prstGeom>
        </p:spPr>
        <p:txBody>
          <a:bodyPr>
            <a:spAutoFit/>
          </a:bodyPr>
          <a:lstStyle/>
          <a:p>
            <a:pPr fontAlgn="ctr"/>
            <a:r>
              <a:rPr lang="fr-FR" sz="900" b="1" u="sng" dirty="0">
                <a:latin typeface="Rubik Medium" panose="020B0604020202020204" charset="-79"/>
                <a:cs typeface="Rubik Medium" panose="020B0604020202020204" charset="-79"/>
              </a:rPr>
              <a:t>Livrables / justificatifs :</a:t>
            </a:r>
          </a:p>
          <a:p>
            <a:pPr marL="171450" indent="-171450" fontAlgn="ctr">
              <a:buFontTx/>
              <a:buChar char="-"/>
            </a:pPr>
            <a:r>
              <a:rPr lang="fr-FR" sz="900" dirty="0">
                <a:latin typeface="Rubik Medium" panose="020B0604020202020204" charset="-79"/>
                <a:cs typeface="Rubik Medium" panose="020B0604020202020204" charset="-79"/>
              </a:rPr>
              <a:t>Rapport / Préconisations</a:t>
            </a:r>
          </a:p>
          <a:p>
            <a:pPr marL="171450" indent="-171450" fontAlgn="ctr">
              <a:buFontTx/>
              <a:buChar char="-"/>
            </a:pPr>
            <a:r>
              <a:rPr lang="fr-FR" sz="900" dirty="0">
                <a:latin typeface="Rubik Medium" panose="020B0604020202020204" charset="-79"/>
                <a:cs typeface="Rubik Medium" panose="020B0604020202020204" charset="-79"/>
              </a:rPr>
              <a:t>Photos</a:t>
            </a:r>
          </a:p>
          <a:p>
            <a:pPr marL="171450" indent="-171450" fontAlgn="ctr">
              <a:buFontTx/>
              <a:buChar char="-"/>
            </a:pPr>
            <a:r>
              <a:rPr lang="fr-FR" sz="900" dirty="0">
                <a:latin typeface="Rubik Medium" panose="020B0604020202020204" charset="-79"/>
                <a:cs typeface="Rubik Medium" panose="020B0604020202020204" charset="-79"/>
              </a:rPr>
              <a:t>Factures</a:t>
            </a:r>
          </a:p>
          <a:p>
            <a:pPr marL="171450" indent="-171450" fontAlgn="ctr">
              <a:buFontTx/>
              <a:buChar char="-"/>
            </a:pPr>
            <a:r>
              <a:rPr lang="fr-FR" sz="900" dirty="0">
                <a:latin typeface="Rubik Medium" panose="020B0604020202020204" charset="-79"/>
                <a:cs typeface="Rubik Medium" panose="020B0604020202020204" charset="-79"/>
              </a:rPr>
              <a:t>Tableau justificatif dépenses de personnel (modèle fourni) </a:t>
            </a:r>
          </a:p>
          <a:p>
            <a:pPr marL="171450" indent="-171450" fontAlgn="ctr">
              <a:buFontTx/>
              <a:buChar char="-"/>
            </a:pPr>
            <a:r>
              <a:rPr lang="fr-FR" sz="900" dirty="0">
                <a:latin typeface="Rubik Medium" panose="020B0604020202020204" charset="-79"/>
                <a:cs typeface="Rubik Medium" panose="020B0604020202020204" charset="-79"/>
              </a:rPr>
              <a:t>Bilan synthétique (la trame sera fournie)</a:t>
            </a:r>
          </a:p>
          <a:p>
            <a:pPr marL="171450" indent="-171450" fontAlgn="ctr">
              <a:buFontTx/>
              <a:buChar char="-"/>
            </a:pPr>
            <a:r>
              <a:rPr lang="fr-FR" sz="900" dirty="0">
                <a:latin typeface="Rubik Medium" panose="020B0604020202020204" charset="-79"/>
                <a:cs typeface="Rubik Medium" panose="020B0604020202020204" charset="-79"/>
              </a:rPr>
              <a:t>Lien vers la solution de vente en ligne (ex : page boutique sur label </a:t>
            </a:r>
            <a:r>
              <a:rPr lang="fr-FR" sz="900" dirty="0" err="1">
                <a:latin typeface="Rubik Medium" panose="020B0604020202020204" charset="-79"/>
                <a:cs typeface="Rubik Medium" panose="020B0604020202020204" charset="-79"/>
              </a:rPr>
              <a:t>emmaüs</a:t>
            </a:r>
            <a:r>
              <a:rPr lang="fr-FR" sz="900" dirty="0">
                <a:latin typeface="Rubik Medium" panose="020B0604020202020204" charset="-79"/>
                <a:cs typeface="Rubik Medium" panose="020B0604020202020204" charset="-79"/>
              </a:rPr>
              <a:t>)</a:t>
            </a:r>
          </a:p>
          <a:p>
            <a:pPr marL="171450" indent="-171450" fontAlgn="ctr">
              <a:buFontTx/>
              <a:buChar char="-"/>
            </a:pPr>
            <a:r>
              <a:rPr lang="fr-FR" sz="900" dirty="0">
                <a:latin typeface="Rubik Medium" panose="020B0604020202020204" charset="-79"/>
                <a:cs typeface="Rubik Medium" panose="020B0604020202020204" charset="-79"/>
              </a:rPr>
              <a:t>Indicateurs de nombre d'objets mis en vente</a:t>
            </a:r>
          </a:p>
          <a:p>
            <a:pPr marL="171450" indent="-171450" fontAlgn="ctr">
              <a:buFontTx/>
              <a:buChar char="-"/>
            </a:pPr>
            <a:r>
              <a:rPr lang="fr-FR" sz="900" dirty="0">
                <a:latin typeface="Rubik Medium" panose="020B0604020202020204" charset="-79"/>
                <a:cs typeface="Rubik Medium" panose="020B0604020202020204" charset="-79"/>
              </a:rPr>
              <a:t>Nombre d'objets vendus et chiffre d'affaire généré</a:t>
            </a:r>
            <a:br>
              <a:rPr lang="fr-FR" sz="800" dirty="0"/>
            </a:br>
            <a:endParaRPr lang="fr-FR" sz="800" dirty="0">
              <a:solidFill>
                <a:srgbClr val="FFFFFF"/>
              </a:solidFill>
              <a:latin typeface="Calibri" panose="020F0502020204030204" pitchFamily="34" charset="0"/>
            </a:endParaRPr>
          </a:p>
          <a:p>
            <a:pPr marL="171450" indent="-171450" fontAlgn="ctr">
              <a:buFontTx/>
              <a:buChar char="-"/>
            </a:pPr>
            <a:endParaRPr lang="fr-FR" sz="800" dirty="0">
              <a:latin typeface="Calibri" panose="020F0502020204030204" pitchFamily="34" charset="0"/>
            </a:endParaRPr>
          </a:p>
        </p:txBody>
      </p:sp>
      <p:sp>
        <p:nvSpPr>
          <p:cNvPr id="4" name="Rectangle 3">
            <a:extLst>
              <a:ext uri="{FF2B5EF4-FFF2-40B4-BE49-F238E27FC236}">
                <a16:creationId xmlns:a16="http://schemas.microsoft.com/office/drawing/2014/main" id="{7C3DF360-D80B-4D16-B9C5-294BDA940FE9}"/>
              </a:ext>
            </a:extLst>
          </p:cNvPr>
          <p:cNvSpPr/>
          <p:nvPr/>
        </p:nvSpPr>
        <p:spPr>
          <a:xfrm>
            <a:off x="7575516" y="3861450"/>
            <a:ext cx="1409457" cy="1323439"/>
          </a:xfrm>
          <a:prstGeom prst="rect">
            <a:avLst/>
          </a:prstGeom>
        </p:spPr>
        <p:txBody>
          <a:bodyPr wrap="square">
            <a:spAutoFit/>
          </a:bodyPr>
          <a:lstStyle/>
          <a:p>
            <a:pPr fontAlgn="ctr"/>
            <a:r>
              <a:rPr lang="fr-FR" sz="800" b="1" dirty="0">
                <a:latin typeface="Rubik Medium" panose="020B0604020202020204" charset="-79"/>
                <a:cs typeface="Rubik Medium" panose="020B0604020202020204" charset="-79"/>
              </a:rPr>
              <a:t>*Hors financement immobilier (achat/loyer), travaux de mise aux normes des surfaces commerciales, quelques travaux de rénovation des espaces de stockage</a:t>
            </a:r>
            <a:br>
              <a:rPr lang="fr-FR" sz="800" b="1" dirty="0"/>
            </a:br>
            <a:endParaRPr lang="fr-FR" sz="800" b="1" dirty="0"/>
          </a:p>
          <a:p>
            <a:pPr fontAlgn="ctr"/>
            <a:endParaRPr lang="fr-FR" sz="800" dirty="0">
              <a:solidFill>
                <a:srgbClr val="FFFFFF"/>
              </a:solidFill>
              <a:latin typeface="Calibri" panose="020F0502020204030204" pitchFamily="34" charset="0"/>
            </a:endParaRPr>
          </a:p>
        </p:txBody>
      </p:sp>
      <p:graphicFrame>
        <p:nvGraphicFramePr>
          <p:cNvPr id="6" name="Tableau 5">
            <a:extLst>
              <a:ext uri="{FF2B5EF4-FFF2-40B4-BE49-F238E27FC236}">
                <a16:creationId xmlns:a16="http://schemas.microsoft.com/office/drawing/2014/main" id="{5993FBF1-4B7B-431E-B4C8-033FA050FB70}"/>
              </a:ext>
            </a:extLst>
          </p:cNvPr>
          <p:cNvGraphicFramePr>
            <a:graphicFrameLocks noGrp="1"/>
          </p:cNvGraphicFramePr>
          <p:nvPr>
            <p:extLst>
              <p:ext uri="{D42A27DB-BD31-4B8C-83A1-F6EECF244321}">
                <p14:modId xmlns:p14="http://schemas.microsoft.com/office/powerpoint/2010/main" val="4196802156"/>
              </p:ext>
            </p:extLst>
          </p:nvPr>
        </p:nvGraphicFramePr>
        <p:xfrm>
          <a:off x="435735" y="1166073"/>
          <a:ext cx="8134108" cy="2499907"/>
        </p:xfrm>
        <a:graphic>
          <a:graphicData uri="http://schemas.openxmlformats.org/drawingml/2006/table">
            <a:tbl>
              <a:tblPr>
                <a:tableStyleId>{5C22544A-7EE6-4342-B048-85BDC9FD1C3A}</a:tableStyleId>
              </a:tblPr>
              <a:tblGrid>
                <a:gridCol w="5938208">
                  <a:extLst>
                    <a:ext uri="{9D8B030D-6E8A-4147-A177-3AD203B41FA5}">
                      <a16:colId xmlns:a16="http://schemas.microsoft.com/office/drawing/2014/main" val="2255162913"/>
                    </a:ext>
                  </a:extLst>
                </a:gridCol>
                <a:gridCol w="1097950">
                  <a:extLst>
                    <a:ext uri="{9D8B030D-6E8A-4147-A177-3AD203B41FA5}">
                      <a16:colId xmlns:a16="http://schemas.microsoft.com/office/drawing/2014/main" val="4049260887"/>
                    </a:ext>
                  </a:extLst>
                </a:gridCol>
                <a:gridCol w="1097950">
                  <a:extLst>
                    <a:ext uri="{9D8B030D-6E8A-4147-A177-3AD203B41FA5}">
                      <a16:colId xmlns:a16="http://schemas.microsoft.com/office/drawing/2014/main" val="2136546152"/>
                    </a:ext>
                  </a:extLst>
                </a:gridCol>
              </a:tblGrid>
              <a:tr h="584190">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Accompagnement Business Plan, définition stratégie marketing / commerciale, conseil en valorisation des boutiques</a:t>
                      </a:r>
                      <a:endParaRPr lang="fr-FR" sz="1100" b="0" i="0" u="none" strike="noStrike" dirty="0">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ctr" fontAlgn="ctr"/>
                      <a:r>
                        <a:rPr lang="fr-FR" sz="1100" u="none" strike="noStrike" dirty="0">
                          <a:solidFill>
                            <a:schemeClr val="bg1"/>
                          </a:solidFill>
                          <a:effectLst/>
                          <a:latin typeface="Rubik Light" panose="020B0604020202020204" charset="-79"/>
                          <a:cs typeface="Rubik Light" panose="020B0604020202020204" charset="-79"/>
                        </a:rPr>
                        <a:t>2 000</a:t>
                      </a:r>
                      <a:endParaRPr lang="fr-FR" sz="1100" b="0" i="0" u="none" strike="noStrike" dirty="0">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l" fontAlgn="ctr"/>
                      <a:r>
                        <a:rPr lang="fr-FR" sz="1100" u="none" strike="noStrike">
                          <a:solidFill>
                            <a:schemeClr val="bg1"/>
                          </a:solidFill>
                          <a:effectLst/>
                          <a:latin typeface="Rubik Light" panose="020B0604020202020204" charset="-79"/>
                          <a:cs typeface="Rubik Light" panose="020B0604020202020204" charset="-79"/>
                        </a:rPr>
                        <a:t>€ / 5 ans</a:t>
                      </a:r>
                      <a:endParaRPr lang="fr-FR" sz="1100" b="0" i="0" u="none" strike="noStrike">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extLst>
                  <a:ext uri="{0D108BD9-81ED-4DB2-BD59-A6C34878D82A}">
                    <a16:rowId xmlns:a16="http://schemas.microsoft.com/office/drawing/2014/main" val="445035326"/>
                  </a:ext>
                </a:extLst>
              </a:tr>
              <a:tr h="778920">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Développement d'un site web, du e-commerce et promotion des ventes en ligne</a:t>
                      </a:r>
                      <a:endParaRPr lang="fr-FR" sz="1100" b="0" i="0" u="none" strike="noStrike" dirty="0">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Light" panose="020B0604020202020204" charset="-79"/>
                          <a:cs typeface="Rubik Light" panose="020B0604020202020204" charset="-79"/>
                        </a:rPr>
                        <a:t>5 000</a:t>
                      </a:r>
                      <a:endParaRPr lang="fr-FR" sz="1100" b="0" i="0" u="none" strike="noStrike">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l" fontAlgn="ctr"/>
                      <a:r>
                        <a:rPr lang="fr-FR" sz="1100" u="none" strike="noStrike">
                          <a:solidFill>
                            <a:schemeClr val="bg1"/>
                          </a:solidFill>
                          <a:effectLst/>
                          <a:latin typeface="Rubik Light" panose="020B0604020202020204" charset="-79"/>
                          <a:cs typeface="Rubik Light" panose="020B0604020202020204" charset="-79"/>
                        </a:rPr>
                        <a:t>€ / opération</a:t>
                      </a:r>
                      <a:endParaRPr lang="fr-FR" sz="1100" b="0" i="0" u="none" strike="noStrike">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extLst>
                  <a:ext uri="{0D108BD9-81ED-4DB2-BD59-A6C34878D82A}">
                    <a16:rowId xmlns:a16="http://schemas.microsoft.com/office/drawing/2014/main" val="543827350"/>
                  </a:ext>
                </a:extLst>
              </a:tr>
              <a:tr h="298152">
                <a:tc>
                  <a:txBody>
                    <a:bodyPr/>
                    <a:lstStyle/>
                    <a:p>
                      <a:pPr algn="l" fontAlgn="ctr"/>
                      <a:r>
                        <a:rPr lang="fr-FR" sz="1100" u="none" strike="noStrike">
                          <a:solidFill>
                            <a:schemeClr val="bg1"/>
                          </a:solidFill>
                          <a:effectLst/>
                          <a:latin typeface="Rubik Light" panose="020B0604020202020204" charset="-79"/>
                          <a:cs typeface="Rubik Light" panose="020B0604020202020204" charset="-79"/>
                        </a:rPr>
                        <a:t>Achat / réparation d'éléments de merchandising et de mise en avant de l’offre : mobilier, mannequin, cintres, étals…</a:t>
                      </a:r>
                      <a:endParaRPr lang="fr-FR" sz="1100" b="0" i="0" u="none" strike="noStrike">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Light" panose="020B0604020202020204" charset="-79"/>
                          <a:cs typeface="Rubik Light" panose="020B0604020202020204" charset="-79"/>
                        </a:rPr>
                        <a:t>5 000</a:t>
                      </a:r>
                      <a:endParaRPr lang="fr-FR" sz="1100" b="0" i="0" u="none" strike="noStrike">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 / opération</a:t>
                      </a:r>
                      <a:endParaRPr lang="fr-FR" sz="1100" b="0" i="0" u="none" strike="noStrike" dirty="0">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extLst>
                  <a:ext uri="{0D108BD9-81ED-4DB2-BD59-A6C34878D82A}">
                    <a16:rowId xmlns:a16="http://schemas.microsoft.com/office/drawing/2014/main" val="3522416894"/>
                  </a:ext>
                </a:extLst>
              </a:tr>
              <a:tr h="292281">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Aménagement d'espaces de vente (hors foncier et bâti)</a:t>
                      </a:r>
                      <a:endParaRPr lang="fr-FR" sz="1100" b="0" i="0" u="none" strike="noStrike" dirty="0">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ctr" fontAlgn="ctr"/>
                      <a:r>
                        <a:rPr lang="fr-FR" sz="1100" u="none" strike="noStrike">
                          <a:solidFill>
                            <a:schemeClr val="bg1"/>
                          </a:solidFill>
                          <a:effectLst/>
                          <a:latin typeface="Rubik Light" panose="020B0604020202020204" charset="-79"/>
                          <a:cs typeface="Rubik Light" panose="020B0604020202020204" charset="-79"/>
                        </a:rPr>
                        <a:t>20 000</a:t>
                      </a:r>
                      <a:endParaRPr lang="fr-FR" sz="1100" b="0" i="0" u="none" strike="noStrike">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l" fontAlgn="ctr"/>
                      <a:r>
                        <a:rPr lang="fr-FR" sz="1100" u="none" strike="noStrike">
                          <a:solidFill>
                            <a:schemeClr val="bg1"/>
                          </a:solidFill>
                          <a:effectLst/>
                          <a:latin typeface="Rubik Light" panose="020B0604020202020204" charset="-79"/>
                          <a:cs typeface="Rubik Light" panose="020B0604020202020204" charset="-79"/>
                        </a:rPr>
                        <a:t>€ / opération</a:t>
                      </a:r>
                      <a:endParaRPr lang="fr-FR" sz="1100" b="0" i="0" u="none" strike="noStrike">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extLst>
                  <a:ext uri="{0D108BD9-81ED-4DB2-BD59-A6C34878D82A}">
                    <a16:rowId xmlns:a16="http://schemas.microsoft.com/office/drawing/2014/main" val="3460454585"/>
                  </a:ext>
                </a:extLst>
              </a:tr>
              <a:tr h="445836">
                <a:tc>
                  <a:txBody>
                    <a:bodyPr/>
                    <a:lstStyle/>
                    <a:p>
                      <a:pPr algn="l" fontAlgn="ctr"/>
                      <a:r>
                        <a:rPr lang="fr-FR" sz="1100" u="none" strike="noStrike">
                          <a:solidFill>
                            <a:schemeClr val="bg1"/>
                          </a:solidFill>
                          <a:effectLst/>
                          <a:latin typeface="Rubik Light" panose="020B0604020202020204" charset="-79"/>
                          <a:cs typeface="Rubik Light" panose="020B0604020202020204" charset="-79"/>
                        </a:rPr>
                        <a:t>Rénovation, décoration de l'espace de vente / don : travaux d'amélioration qualitative des surfaces commerciales (murs, peintures, parquet, luminaires, etc...), travaux d'agencement de nouveaux espaces de vente</a:t>
                      </a:r>
                      <a:endParaRPr lang="fr-FR" sz="1100" b="0" i="0" u="none" strike="noStrike">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ctr" fontAlgn="ctr"/>
                      <a:r>
                        <a:rPr lang="fr-FR" sz="1100" u="none" strike="noStrike" dirty="0">
                          <a:solidFill>
                            <a:schemeClr val="bg1"/>
                          </a:solidFill>
                          <a:effectLst/>
                          <a:latin typeface="Rubik Light" panose="020B0604020202020204" charset="-79"/>
                          <a:cs typeface="Rubik Light" panose="020B0604020202020204" charset="-79"/>
                        </a:rPr>
                        <a:t>20 000</a:t>
                      </a:r>
                      <a:endParaRPr lang="fr-FR" sz="1100" b="0" i="0" u="none" strike="noStrike" dirty="0">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 / opération</a:t>
                      </a:r>
                      <a:endParaRPr lang="fr-FR" sz="1100" b="0" i="0" u="none" strike="noStrike" dirty="0">
                        <a:solidFill>
                          <a:schemeClr val="bg1"/>
                        </a:solidFill>
                        <a:effectLst/>
                        <a:latin typeface="Rubik Light" panose="020B0604020202020204" charset="-79"/>
                        <a:cs typeface="Rubik Light" panose="020B0604020202020204" charset="-79"/>
                      </a:endParaRPr>
                    </a:p>
                  </a:txBody>
                  <a:tcPr marL="3158" marR="3158" marT="3158" marB="0" anchor="ctr">
                    <a:solidFill>
                      <a:srgbClr val="5537AF"/>
                    </a:solidFill>
                  </a:tcPr>
                </a:tc>
                <a:extLst>
                  <a:ext uri="{0D108BD9-81ED-4DB2-BD59-A6C34878D82A}">
                    <a16:rowId xmlns:a16="http://schemas.microsoft.com/office/drawing/2014/main" val="443969914"/>
                  </a:ext>
                </a:extLst>
              </a:tr>
            </a:tbl>
          </a:graphicData>
        </a:graphic>
      </p:graphicFrame>
    </p:spTree>
    <p:extLst>
      <p:ext uri="{BB962C8B-B14F-4D97-AF65-F5344CB8AC3E}">
        <p14:creationId xmlns:p14="http://schemas.microsoft.com/office/powerpoint/2010/main" val="3355678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27"/>
          <p:cNvPicPr preferRelativeResize="0"/>
          <p:nvPr/>
        </p:nvPicPr>
        <p:blipFill>
          <a:blip r:embed="rId3">
            <a:alphaModFix/>
          </a:blip>
          <a:stretch>
            <a:fillRect/>
          </a:stretch>
        </p:blipFill>
        <p:spPr>
          <a:xfrm flipH="1">
            <a:off x="0" y="463742"/>
            <a:ext cx="8830638" cy="4679758"/>
          </a:xfrm>
          <a:prstGeom prst="rect">
            <a:avLst/>
          </a:prstGeom>
          <a:noFill/>
          <a:ln>
            <a:noFill/>
          </a:ln>
        </p:spPr>
      </p:pic>
      <p:sp>
        <p:nvSpPr>
          <p:cNvPr id="255" name="Google Shape;255;p27"/>
          <p:cNvSpPr txBox="1"/>
          <p:nvPr/>
        </p:nvSpPr>
        <p:spPr>
          <a:xfrm>
            <a:off x="329410" y="108050"/>
            <a:ext cx="4650345" cy="646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AXES </a:t>
            </a:r>
            <a:r>
              <a:rPr lang="fr" sz="3000" dirty="0">
                <a:solidFill>
                  <a:srgbClr val="5537AF"/>
                </a:solidFill>
                <a:latin typeface="Lilita One"/>
                <a:ea typeface="Lilita One"/>
                <a:cs typeface="Lilita One"/>
                <a:sym typeface="Lilita One"/>
              </a:rPr>
              <a:t>2025</a:t>
            </a:r>
            <a:endParaRPr sz="3000" dirty="0">
              <a:solidFill>
                <a:srgbClr val="5537AF"/>
              </a:solidFill>
              <a:latin typeface="Lilita One"/>
              <a:ea typeface="Lilita One"/>
              <a:cs typeface="Lilita One"/>
              <a:sym typeface="Lilita One"/>
            </a:endParaRPr>
          </a:p>
        </p:txBody>
      </p:sp>
      <p:pic>
        <p:nvPicPr>
          <p:cNvPr id="259" name="Google Shape;259;p27"/>
          <p:cNvPicPr preferRelativeResize="0"/>
          <p:nvPr/>
        </p:nvPicPr>
        <p:blipFill>
          <a:blip r:embed="rId4">
            <a:alphaModFix/>
          </a:blip>
          <a:stretch>
            <a:fillRect/>
          </a:stretch>
        </p:blipFill>
        <p:spPr>
          <a:xfrm>
            <a:off x="8338425" y="108050"/>
            <a:ext cx="400201" cy="400201"/>
          </a:xfrm>
          <a:prstGeom prst="rect">
            <a:avLst/>
          </a:prstGeom>
          <a:noFill/>
          <a:ln>
            <a:noFill/>
          </a:ln>
        </p:spPr>
      </p:pic>
      <p:sp>
        <p:nvSpPr>
          <p:cNvPr id="3" name="Rectangle 2">
            <a:extLst>
              <a:ext uri="{FF2B5EF4-FFF2-40B4-BE49-F238E27FC236}">
                <a16:creationId xmlns:a16="http://schemas.microsoft.com/office/drawing/2014/main" id="{05073E31-2234-4DCE-9022-B323EEFAF620}"/>
              </a:ext>
            </a:extLst>
          </p:cNvPr>
          <p:cNvSpPr/>
          <p:nvPr/>
        </p:nvSpPr>
        <p:spPr>
          <a:xfrm>
            <a:off x="329410" y="642853"/>
            <a:ext cx="4592924" cy="523220"/>
          </a:xfrm>
          <a:prstGeom prst="rect">
            <a:avLst/>
          </a:prstGeom>
        </p:spPr>
        <p:txBody>
          <a:bodyPr wrap="none">
            <a:spAutoFit/>
          </a:bodyPr>
          <a:lstStyle/>
          <a:p>
            <a:pPr lvl="0"/>
            <a:r>
              <a:rPr lang="fr-FR" dirty="0">
                <a:solidFill>
                  <a:srgbClr val="EB5A09"/>
                </a:solidFill>
                <a:latin typeface="Lilita One"/>
                <a:ea typeface="Lilita One"/>
                <a:cs typeface="Lilita One"/>
                <a:sym typeface="Lilita One"/>
              </a:rPr>
              <a:t>Axe 4 : Création/ développement de boutiques éphémères</a:t>
            </a:r>
          </a:p>
          <a:p>
            <a:pPr lvl="0"/>
            <a:r>
              <a:rPr lang="fr-FR" dirty="0">
                <a:solidFill>
                  <a:srgbClr val="EB5A09"/>
                </a:solidFill>
                <a:latin typeface="Lilita One"/>
                <a:ea typeface="Lilita One"/>
                <a:cs typeface="Lilita One"/>
                <a:sym typeface="Lilita One"/>
              </a:rPr>
              <a:t>Quelques exemples </a:t>
            </a:r>
          </a:p>
        </p:txBody>
      </p:sp>
      <p:sp>
        <p:nvSpPr>
          <p:cNvPr id="5" name="Rectangle 4">
            <a:extLst>
              <a:ext uri="{FF2B5EF4-FFF2-40B4-BE49-F238E27FC236}">
                <a16:creationId xmlns:a16="http://schemas.microsoft.com/office/drawing/2014/main" id="{5732EDC8-F5A7-4ACF-AAE3-A4C7CAD88D07}"/>
              </a:ext>
            </a:extLst>
          </p:cNvPr>
          <p:cNvSpPr/>
          <p:nvPr/>
        </p:nvSpPr>
        <p:spPr>
          <a:xfrm>
            <a:off x="2693755" y="3554789"/>
            <a:ext cx="4572000" cy="1384995"/>
          </a:xfrm>
          <a:prstGeom prst="rect">
            <a:avLst/>
          </a:prstGeom>
        </p:spPr>
        <p:txBody>
          <a:bodyPr>
            <a:spAutoFit/>
          </a:bodyPr>
          <a:lstStyle/>
          <a:p>
            <a:pPr fontAlgn="ctr"/>
            <a:r>
              <a:rPr lang="fr-FR" sz="1050" b="1" u="sng" dirty="0">
                <a:latin typeface="Rubik Medium" panose="020B0604020202020204" charset="-79"/>
                <a:cs typeface="Rubik Medium" panose="020B0604020202020204" charset="-79"/>
              </a:rPr>
              <a:t>Livrables / justificatifs :</a:t>
            </a:r>
          </a:p>
          <a:p>
            <a:pPr marL="171450" indent="-171450" fontAlgn="ctr">
              <a:buFontTx/>
              <a:buChar char="-"/>
            </a:pPr>
            <a:r>
              <a:rPr lang="fr-FR" sz="1050" dirty="0">
                <a:latin typeface="Rubik Medium" panose="020B0604020202020204" charset="-79"/>
                <a:cs typeface="Rubik Medium" panose="020B0604020202020204" charset="-79"/>
              </a:rPr>
              <a:t>Liste des dépenses soutenues</a:t>
            </a:r>
          </a:p>
          <a:p>
            <a:pPr marL="171450" indent="-171450" fontAlgn="ctr">
              <a:buFontTx/>
              <a:buChar char="-"/>
            </a:pPr>
            <a:r>
              <a:rPr lang="fr-FR" sz="1050" dirty="0">
                <a:latin typeface="Rubik Medium" panose="020B0604020202020204" charset="-79"/>
                <a:cs typeface="Rubik Medium" panose="020B0604020202020204" charset="-79"/>
              </a:rPr>
              <a:t>Date(s) </a:t>
            </a:r>
            <a:r>
              <a:rPr lang="fr-FR" sz="1050" dirty="0" err="1">
                <a:latin typeface="Rubik Medium" panose="020B0604020202020204" charset="-79"/>
                <a:cs typeface="Rubik Medium" panose="020B0604020202020204" charset="-79"/>
              </a:rPr>
              <a:t>douverture</a:t>
            </a:r>
            <a:r>
              <a:rPr lang="fr-FR" sz="1050" dirty="0">
                <a:latin typeface="Rubik Medium" panose="020B0604020202020204" charset="-79"/>
                <a:cs typeface="Rubik Medium" panose="020B0604020202020204" charset="-79"/>
              </a:rPr>
              <a:t>(s) de la boutique</a:t>
            </a:r>
          </a:p>
          <a:p>
            <a:pPr marL="171450" indent="-171450" fontAlgn="ctr">
              <a:buFontTx/>
              <a:buChar char="-"/>
            </a:pPr>
            <a:r>
              <a:rPr lang="fr-FR" sz="1050" dirty="0">
                <a:latin typeface="Rubik Medium" panose="020B0604020202020204" charset="-79"/>
                <a:cs typeface="Rubik Medium" panose="020B0604020202020204" charset="-79"/>
              </a:rPr>
              <a:t>Indicateurs de fréquentation et de vente (volumes, Chiffre d'affaire...</a:t>
            </a:r>
          </a:p>
          <a:p>
            <a:pPr marL="171450" indent="-171450" fontAlgn="ctr">
              <a:buFontTx/>
              <a:buChar char="-"/>
            </a:pPr>
            <a:r>
              <a:rPr lang="fr-FR" sz="1050" dirty="0">
                <a:latin typeface="Rubik Medium" panose="020B0604020202020204" charset="-79"/>
                <a:cs typeface="Rubik Medium" panose="020B0604020202020204" charset="-79"/>
              </a:rPr>
              <a:t>Plan / photos</a:t>
            </a:r>
          </a:p>
          <a:p>
            <a:pPr marL="171450" indent="-171450" fontAlgn="ctr">
              <a:buFontTx/>
              <a:buChar char="-"/>
            </a:pPr>
            <a:r>
              <a:rPr lang="fr-FR" sz="1050" dirty="0">
                <a:latin typeface="Rubik Medium" panose="020B0604020202020204" charset="-79"/>
                <a:cs typeface="Rubik Medium" panose="020B0604020202020204" charset="-79"/>
              </a:rPr>
              <a:t>Factures</a:t>
            </a:r>
          </a:p>
          <a:p>
            <a:pPr marL="171450" indent="-171450" fontAlgn="ctr">
              <a:buFontTx/>
              <a:buChar char="-"/>
            </a:pPr>
            <a:r>
              <a:rPr lang="fr-FR" sz="1050" dirty="0">
                <a:latin typeface="Rubik Medium" panose="020B0604020202020204" charset="-79"/>
                <a:cs typeface="Rubik Medium" panose="020B0604020202020204" charset="-79"/>
              </a:rPr>
              <a:t>Tableau justificatif dépenses de personnel (modèle fourni) </a:t>
            </a:r>
          </a:p>
          <a:p>
            <a:pPr marL="171450" indent="-171450" fontAlgn="ctr">
              <a:buFontTx/>
              <a:buChar char="-"/>
            </a:pPr>
            <a:r>
              <a:rPr lang="fr-FR" sz="1050" dirty="0">
                <a:latin typeface="Rubik Medium" panose="020B0604020202020204" charset="-79"/>
                <a:cs typeface="Rubik Medium" panose="020B0604020202020204" charset="-79"/>
              </a:rPr>
              <a:t>Bilan synthétique (la trame sera fournie)</a:t>
            </a:r>
            <a:endParaRPr lang="fr-FR" sz="800" dirty="0">
              <a:latin typeface="Calibri" panose="020F0502020204030204" pitchFamily="34" charset="0"/>
            </a:endParaRPr>
          </a:p>
        </p:txBody>
      </p:sp>
      <p:sp>
        <p:nvSpPr>
          <p:cNvPr id="12" name="Rectangle 11">
            <a:extLst>
              <a:ext uri="{FF2B5EF4-FFF2-40B4-BE49-F238E27FC236}">
                <a16:creationId xmlns:a16="http://schemas.microsoft.com/office/drawing/2014/main" id="{144FC5B8-F2C8-47F1-9830-52FF8DAA1249}"/>
              </a:ext>
            </a:extLst>
          </p:cNvPr>
          <p:cNvSpPr/>
          <p:nvPr/>
        </p:nvSpPr>
        <p:spPr>
          <a:xfrm>
            <a:off x="7129068" y="3520680"/>
            <a:ext cx="1409457" cy="1323439"/>
          </a:xfrm>
          <a:prstGeom prst="rect">
            <a:avLst/>
          </a:prstGeom>
        </p:spPr>
        <p:txBody>
          <a:bodyPr wrap="square">
            <a:spAutoFit/>
          </a:bodyPr>
          <a:lstStyle/>
          <a:p>
            <a:pPr fontAlgn="ctr"/>
            <a:r>
              <a:rPr lang="fr-FR" sz="800" b="1" dirty="0">
                <a:latin typeface="Rubik Medium" panose="020B0604020202020204" charset="-79"/>
                <a:cs typeface="Rubik Medium" panose="020B0604020202020204" charset="-79"/>
              </a:rPr>
              <a:t>*Hors financement immobilier (achat/loyer), travaux de mise aux normes des surfaces commerciales, quelques travaux de rénovation des espaces de stockage</a:t>
            </a:r>
            <a:br>
              <a:rPr lang="fr-FR" sz="800" b="1" dirty="0"/>
            </a:br>
            <a:endParaRPr lang="fr-FR" sz="800" b="1" dirty="0"/>
          </a:p>
          <a:p>
            <a:pPr fontAlgn="ctr"/>
            <a:endParaRPr lang="fr-FR" sz="800" dirty="0">
              <a:solidFill>
                <a:srgbClr val="FFFFFF"/>
              </a:solidFill>
              <a:latin typeface="Calibri" panose="020F0502020204030204" pitchFamily="34" charset="0"/>
            </a:endParaRPr>
          </a:p>
        </p:txBody>
      </p:sp>
      <p:graphicFrame>
        <p:nvGraphicFramePr>
          <p:cNvPr id="10" name="Tableau 9">
            <a:extLst>
              <a:ext uri="{FF2B5EF4-FFF2-40B4-BE49-F238E27FC236}">
                <a16:creationId xmlns:a16="http://schemas.microsoft.com/office/drawing/2014/main" id="{BA518E08-D8E5-408B-99C5-B2E20A33BB3B}"/>
              </a:ext>
            </a:extLst>
          </p:cNvPr>
          <p:cNvGraphicFramePr>
            <a:graphicFrameLocks noGrp="1"/>
          </p:cNvGraphicFramePr>
          <p:nvPr>
            <p:extLst>
              <p:ext uri="{D42A27DB-BD31-4B8C-83A1-F6EECF244321}">
                <p14:modId xmlns:p14="http://schemas.microsoft.com/office/powerpoint/2010/main" val="2728983868"/>
              </p:ext>
            </p:extLst>
          </p:nvPr>
        </p:nvGraphicFramePr>
        <p:xfrm>
          <a:off x="499416" y="1759839"/>
          <a:ext cx="7831806" cy="1307620"/>
        </p:xfrm>
        <a:graphic>
          <a:graphicData uri="http://schemas.openxmlformats.org/drawingml/2006/table">
            <a:tbl>
              <a:tblPr>
                <a:tableStyleId>{5C22544A-7EE6-4342-B048-85BDC9FD1C3A}</a:tableStyleId>
              </a:tblPr>
              <a:tblGrid>
                <a:gridCol w="5717516">
                  <a:extLst>
                    <a:ext uri="{9D8B030D-6E8A-4147-A177-3AD203B41FA5}">
                      <a16:colId xmlns:a16="http://schemas.microsoft.com/office/drawing/2014/main" val="1958585024"/>
                    </a:ext>
                  </a:extLst>
                </a:gridCol>
                <a:gridCol w="1057145">
                  <a:extLst>
                    <a:ext uri="{9D8B030D-6E8A-4147-A177-3AD203B41FA5}">
                      <a16:colId xmlns:a16="http://schemas.microsoft.com/office/drawing/2014/main" val="385327535"/>
                    </a:ext>
                  </a:extLst>
                </a:gridCol>
                <a:gridCol w="1057145">
                  <a:extLst>
                    <a:ext uri="{9D8B030D-6E8A-4147-A177-3AD203B41FA5}">
                      <a16:colId xmlns:a16="http://schemas.microsoft.com/office/drawing/2014/main" val="2029860816"/>
                    </a:ext>
                  </a:extLst>
                </a:gridCol>
              </a:tblGrid>
              <a:tr h="297667">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Création de boutiques éphémères/itinérantes</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tc>
                  <a:txBody>
                    <a:bodyPr/>
                    <a:lstStyle/>
                    <a:p>
                      <a:pPr algn="ctr" fontAlgn="ctr"/>
                      <a:r>
                        <a:rPr lang="fr-FR" sz="1100" u="none" strike="noStrike" dirty="0">
                          <a:solidFill>
                            <a:schemeClr val="bg1"/>
                          </a:solidFill>
                          <a:effectLst/>
                          <a:latin typeface="Rubik Light" panose="020B0604020202020204" charset="-79"/>
                          <a:cs typeface="Rubik Light" panose="020B0604020202020204" charset="-79"/>
                        </a:rPr>
                        <a:t>20 000€</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 / Opération</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extLst>
                  <a:ext uri="{0D108BD9-81ED-4DB2-BD59-A6C34878D82A}">
                    <a16:rowId xmlns:a16="http://schemas.microsoft.com/office/drawing/2014/main" val="3319863533"/>
                  </a:ext>
                </a:extLst>
              </a:tr>
              <a:tr h="377662">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Achat de matériel de vente adapté (pliable, à roulette...). Investissements : achats de véhicules motorisés (camion, van...) ou non motorisés (vélos, triporteurs, remorques...) ou amortissement de l’achat (proratisé sur la durée du projet). Aménagement de la structure des véhicules (ouverture d’un côté d’une caravane pour accueillir le public, adaptation de triporteurs ou remorques). Frais de déplacement (essence, prestation d’un chauffeur avec son camion)</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tc>
                  <a:txBody>
                    <a:bodyPr/>
                    <a:lstStyle/>
                    <a:p>
                      <a:pPr algn="ctr" fontAlgn="ctr"/>
                      <a:r>
                        <a:rPr lang="fr-FR" sz="1100" u="none" strike="noStrike" dirty="0">
                          <a:solidFill>
                            <a:schemeClr val="bg1"/>
                          </a:solidFill>
                          <a:effectLst/>
                          <a:latin typeface="Rubik Light" panose="020B0604020202020204" charset="-79"/>
                          <a:cs typeface="Rubik Light" panose="020B0604020202020204" charset="-79"/>
                        </a:rPr>
                        <a:t>20 000</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tc>
                  <a:txBody>
                    <a:bodyPr/>
                    <a:lstStyle/>
                    <a:p>
                      <a:pPr algn="l" fontAlgn="ctr"/>
                      <a:r>
                        <a:rPr lang="fr-FR" sz="1100" u="none" strike="noStrike" dirty="0">
                          <a:solidFill>
                            <a:schemeClr val="bg1"/>
                          </a:solidFill>
                          <a:effectLst/>
                          <a:latin typeface="Rubik Light" panose="020B0604020202020204" charset="-79"/>
                          <a:cs typeface="Rubik Light" panose="020B0604020202020204" charset="-79"/>
                        </a:rPr>
                        <a:t>€ / Opération</a:t>
                      </a:r>
                      <a:endParaRPr lang="fr-FR" sz="1100" b="0" i="0" u="none" strike="noStrike" dirty="0">
                        <a:solidFill>
                          <a:schemeClr val="bg1"/>
                        </a:solidFill>
                        <a:effectLst/>
                        <a:latin typeface="Rubik Light" panose="020B0604020202020204" charset="-79"/>
                        <a:cs typeface="Rubik Light" panose="020B0604020202020204" charset="-79"/>
                      </a:endParaRPr>
                    </a:p>
                  </a:txBody>
                  <a:tcPr marL="4113" marR="4113" marT="4113" marB="0" anchor="ctr">
                    <a:solidFill>
                      <a:srgbClr val="5537AF"/>
                    </a:solidFill>
                  </a:tcPr>
                </a:tc>
                <a:extLst>
                  <a:ext uri="{0D108BD9-81ED-4DB2-BD59-A6C34878D82A}">
                    <a16:rowId xmlns:a16="http://schemas.microsoft.com/office/drawing/2014/main" val="874721249"/>
                  </a:ext>
                </a:extLst>
              </a:tr>
            </a:tbl>
          </a:graphicData>
        </a:graphic>
      </p:graphicFrame>
    </p:spTree>
    <p:extLst>
      <p:ext uri="{BB962C8B-B14F-4D97-AF65-F5344CB8AC3E}">
        <p14:creationId xmlns:p14="http://schemas.microsoft.com/office/powerpoint/2010/main" val="470800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4" name="Google Shape;144;p19"/>
          <p:cNvSpPr txBox="1"/>
          <p:nvPr/>
        </p:nvSpPr>
        <p:spPr>
          <a:xfrm>
            <a:off x="324900" y="449425"/>
            <a:ext cx="6040458" cy="646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CALENDRIER</a:t>
            </a:r>
            <a:endParaRPr sz="3000" dirty="0">
              <a:solidFill>
                <a:srgbClr val="5537AF"/>
              </a:solidFill>
              <a:latin typeface="Lilita One"/>
              <a:ea typeface="Lilita One"/>
              <a:cs typeface="Lilita One"/>
              <a:sym typeface="Lilita One"/>
            </a:endParaRPr>
          </a:p>
        </p:txBody>
      </p:sp>
      <p:pic>
        <p:nvPicPr>
          <p:cNvPr id="148" name="Google Shape;148;p19"/>
          <p:cNvPicPr preferRelativeResize="0"/>
          <p:nvPr/>
        </p:nvPicPr>
        <p:blipFill>
          <a:blip r:embed="rId3">
            <a:alphaModFix/>
          </a:blip>
          <a:stretch>
            <a:fillRect/>
          </a:stretch>
        </p:blipFill>
        <p:spPr>
          <a:xfrm>
            <a:off x="8338425" y="108050"/>
            <a:ext cx="400201" cy="400201"/>
          </a:xfrm>
          <a:prstGeom prst="rect">
            <a:avLst/>
          </a:prstGeom>
          <a:noFill/>
          <a:ln>
            <a:noFill/>
          </a:ln>
        </p:spPr>
      </p:pic>
      <p:pic>
        <p:nvPicPr>
          <p:cNvPr id="150" name="Google Shape;150;p19"/>
          <p:cNvPicPr preferRelativeResize="0"/>
          <p:nvPr/>
        </p:nvPicPr>
        <p:blipFill rotWithShape="1">
          <a:blip r:embed="rId4">
            <a:alphaModFix/>
          </a:blip>
          <a:srcRect l="59374" t="47415"/>
          <a:stretch/>
        </p:blipFill>
        <p:spPr>
          <a:xfrm flipH="1">
            <a:off x="11494" y="3026826"/>
            <a:ext cx="2907199" cy="2116674"/>
          </a:xfrm>
          <a:prstGeom prst="rect">
            <a:avLst/>
          </a:prstGeom>
          <a:noFill/>
          <a:ln>
            <a:noFill/>
          </a:ln>
        </p:spPr>
      </p:pic>
      <p:graphicFrame>
        <p:nvGraphicFramePr>
          <p:cNvPr id="2" name="Diagramme 1">
            <a:extLst>
              <a:ext uri="{FF2B5EF4-FFF2-40B4-BE49-F238E27FC236}">
                <a16:creationId xmlns:a16="http://schemas.microsoft.com/office/drawing/2014/main" id="{139667CF-F8C3-4EDB-97CE-340BE6E6A6E2}"/>
              </a:ext>
            </a:extLst>
          </p:cNvPr>
          <p:cNvGraphicFramePr/>
          <p:nvPr>
            <p:extLst>
              <p:ext uri="{D42A27DB-BD31-4B8C-83A1-F6EECF244321}">
                <p14:modId xmlns:p14="http://schemas.microsoft.com/office/powerpoint/2010/main" val="3808864159"/>
              </p:ext>
            </p:extLst>
          </p:nvPr>
        </p:nvGraphicFramePr>
        <p:xfrm>
          <a:off x="507894" y="200346"/>
          <a:ext cx="8311206" cy="357652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 name="ZoneTexte 2">
            <a:extLst>
              <a:ext uri="{FF2B5EF4-FFF2-40B4-BE49-F238E27FC236}">
                <a16:creationId xmlns:a16="http://schemas.microsoft.com/office/drawing/2014/main" id="{329348F0-8292-4953-9140-D09F14282591}"/>
              </a:ext>
            </a:extLst>
          </p:cNvPr>
          <p:cNvSpPr txBox="1"/>
          <p:nvPr/>
        </p:nvSpPr>
        <p:spPr>
          <a:xfrm>
            <a:off x="1049304" y="2573452"/>
            <a:ext cx="631904" cy="307777"/>
          </a:xfrm>
          <a:prstGeom prst="rect">
            <a:avLst/>
          </a:prstGeom>
          <a:noFill/>
          <a:ln>
            <a:solidFill>
              <a:schemeClr val="bg1"/>
            </a:solidFill>
          </a:ln>
        </p:spPr>
        <p:txBody>
          <a:bodyPr wrap="none" rtlCol="0">
            <a:spAutoFit/>
          </a:bodyPr>
          <a:lstStyle/>
          <a:p>
            <a:r>
              <a:rPr lang="fr-FR" b="1" dirty="0">
                <a:solidFill>
                  <a:schemeClr val="tx1"/>
                </a:solidFill>
              </a:rPr>
              <a:t>27/01</a:t>
            </a:r>
          </a:p>
        </p:txBody>
      </p:sp>
      <p:sp>
        <p:nvSpPr>
          <p:cNvPr id="7" name="ZoneTexte 6">
            <a:extLst>
              <a:ext uri="{FF2B5EF4-FFF2-40B4-BE49-F238E27FC236}">
                <a16:creationId xmlns:a16="http://schemas.microsoft.com/office/drawing/2014/main" id="{F9BDF272-C1FC-4F9B-A942-736A763BA978}"/>
              </a:ext>
            </a:extLst>
          </p:cNvPr>
          <p:cNvSpPr txBox="1"/>
          <p:nvPr/>
        </p:nvSpPr>
        <p:spPr>
          <a:xfrm>
            <a:off x="2222618" y="2569227"/>
            <a:ext cx="631904" cy="307777"/>
          </a:xfrm>
          <a:prstGeom prst="rect">
            <a:avLst/>
          </a:prstGeom>
          <a:noFill/>
          <a:ln>
            <a:solidFill>
              <a:schemeClr val="bg1"/>
            </a:solidFill>
          </a:ln>
        </p:spPr>
        <p:txBody>
          <a:bodyPr wrap="none" rtlCol="0">
            <a:spAutoFit/>
          </a:bodyPr>
          <a:lstStyle/>
          <a:p>
            <a:r>
              <a:rPr lang="fr-FR" b="1" dirty="0">
                <a:solidFill>
                  <a:schemeClr val="tx1"/>
                </a:solidFill>
              </a:rPr>
              <a:t>06/03</a:t>
            </a:r>
          </a:p>
        </p:txBody>
      </p:sp>
      <p:sp>
        <p:nvSpPr>
          <p:cNvPr id="8" name="ZoneTexte 7">
            <a:extLst>
              <a:ext uri="{FF2B5EF4-FFF2-40B4-BE49-F238E27FC236}">
                <a16:creationId xmlns:a16="http://schemas.microsoft.com/office/drawing/2014/main" id="{B8F227C0-67A6-4710-9490-0B67F0325CD3}"/>
              </a:ext>
            </a:extLst>
          </p:cNvPr>
          <p:cNvSpPr txBox="1"/>
          <p:nvPr/>
        </p:nvSpPr>
        <p:spPr>
          <a:xfrm>
            <a:off x="3548151" y="2569227"/>
            <a:ext cx="681597" cy="738664"/>
          </a:xfrm>
          <a:prstGeom prst="rect">
            <a:avLst/>
          </a:prstGeom>
          <a:noFill/>
          <a:ln>
            <a:solidFill>
              <a:schemeClr val="bg1"/>
            </a:solidFill>
          </a:ln>
        </p:spPr>
        <p:txBody>
          <a:bodyPr wrap="none" rtlCol="0">
            <a:spAutoFit/>
          </a:bodyPr>
          <a:lstStyle/>
          <a:p>
            <a:pPr algn="ctr"/>
            <a:r>
              <a:rPr lang="fr-FR" b="1" dirty="0">
                <a:solidFill>
                  <a:schemeClr val="tx1"/>
                </a:solidFill>
              </a:rPr>
              <a:t>10/03 </a:t>
            </a:r>
          </a:p>
          <a:p>
            <a:pPr algn="ctr"/>
            <a:r>
              <a:rPr lang="fr-FR" b="1" dirty="0">
                <a:solidFill>
                  <a:schemeClr val="tx1"/>
                </a:solidFill>
              </a:rPr>
              <a:t>au </a:t>
            </a:r>
          </a:p>
          <a:p>
            <a:pPr algn="ctr"/>
            <a:r>
              <a:rPr lang="fr-FR" b="1" dirty="0">
                <a:solidFill>
                  <a:schemeClr val="tx1"/>
                </a:solidFill>
              </a:rPr>
              <a:t>31/03</a:t>
            </a:r>
          </a:p>
        </p:txBody>
      </p:sp>
      <p:sp>
        <p:nvSpPr>
          <p:cNvPr id="9" name="ZoneTexte 8">
            <a:extLst>
              <a:ext uri="{FF2B5EF4-FFF2-40B4-BE49-F238E27FC236}">
                <a16:creationId xmlns:a16="http://schemas.microsoft.com/office/drawing/2014/main" id="{BF0AC33C-CD9F-47B6-B6E4-F818903BC0D2}"/>
              </a:ext>
            </a:extLst>
          </p:cNvPr>
          <p:cNvSpPr txBox="1"/>
          <p:nvPr/>
        </p:nvSpPr>
        <p:spPr>
          <a:xfrm>
            <a:off x="4809481" y="2549772"/>
            <a:ext cx="872355" cy="954107"/>
          </a:xfrm>
          <a:prstGeom prst="rect">
            <a:avLst/>
          </a:prstGeom>
          <a:noFill/>
          <a:ln>
            <a:solidFill>
              <a:schemeClr val="bg1"/>
            </a:solidFill>
          </a:ln>
        </p:spPr>
        <p:txBody>
          <a:bodyPr wrap="none" rtlCol="0">
            <a:spAutoFit/>
          </a:bodyPr>
          <a:lstStyle/>
          <a:p>
            <a:pPr algn="ctr"/>
            <a:r>
              <a:rPr lang="fr-FR" b="1" dirty="0">
                <a:solidFill>
                  <a:schemeClr val="tx1"/>
                </a:solidFill>
              </a:rPr>
              <a:t>À partir </a:t>
            </a:r>
          </a:p>
          <a:p>
            <a:pPr algn="ctr"/>
            <a:r>
              <a:rPr lang="fr-FR" b="1" dirty="0">
                <a:solidFill>
                  <a:schemeClr val="tx1"/>
                </a:solidFill>
              </a:rPr>
              <a:t>du</a:t>
            </a:r>
          </a:p>
          <a:p>
            <a:pPr algn="ctr"/>
            <a:r>
              <a:rPr lang="fr-FR" b="1" dirty="0">
                <a:solidFill>
                  <a:schemeClr val="tx1"/>
                </a:solidFill>
              </a:rPr>
              <a:t>15/04 </a:t>
            </a:r>
          </a:p>
          <a:p>
            <a:endParaRPr lang="fr-FR" b="1" dirty="0"/>
          </a:p>
        </p:txBody>
      </p:sp>
      <p:sp>
        <p:nvSpPr>
          <p:cNvPr id="5" name="Rectangle 4">
            <a:extLst>
              <a:ext uri="{FF2B5EF4-FFF2-40B4-BE49-F238E27FC236}">
                <a16:creationId xmlns:a16="http://schemas.microsoft.com/office/drawing/2014/main" id="{10ADDD0D-041D-4B82-BC16-48DD448639DE}"/>
              </a:ext>
            </a:extLst>
          </p:cNvPr>
          <p:cNvSpPr/>
          <p:nvPr/>
        </p:nvSpPr>
        <p:spPr>
          <a:xfrm>
            <a:off x="2773007" y="4157645"/>
            <a:ext cx="6604528" cy="584775"/>
          </a:xfrm>
          <a:prstGeom prst="rect">
            <a:avLst/>
          </a:prstGeom>
        </p:spPr>
        <p:txBody>
          <a:bodyPr wrap="square">
            <a:spAutoFit/>
          </a:bodyPr>
          <a:lstStyle/>
          <a:p>
            <a:r>
              <a:rPr lang="fr-FR" sz="1800" dirty="0">
                <a:solidFill>
                  <a:srgbClr val="5537AF"/>
                </a:solidFill>
                <a:latin typeface="Rubik Medium"/>
                <a:cs typeface="Rubik Medium"/>
              </a:rPr>
              <a:t>DATE D’ENVOI DE BILAN </a:t>
            </a:r>
            <a:r>
              <a:rPr lang="fr-FR" sz="1800" b="1" dirty="0">
                <a:solidFill>
                  <a:srgbClr val="5537AF"/>
                </a:solidFill>
                <a:latin typeface="Rubik Medium"/>
                <a:cs typeface="Rubik Medium"/>
              </a:rPr>
              <a:t>FINAL</a:t>
            </a:r>
            <a:r>
              <a:rPr lang="fr-FR" sz="1800" dirty="0">
                <a:solidFill>
                  <a:srgbClr val="5537AF"/>
                </a:solidFill>
                <a:latin typeface="Rubik Medium"/>
                <a:cs typeface="Rubik Medium"/>
              </a:rPr>
              <a:t> : </a:t>
            </a:r>
            <a:r>
              <a:rPr lang="fr-FR" sz="1800" b="1" dirty="0">
                <a:solidFill>
                  <a:srgbClr val="5537AF"/>
                </a:solidFill>
                <a:latin typeface="Rubik Medium"/>
                <a:cs typeface="Rubik Medium"/>
              </a:rPr>
              <a:t>31/01/2026 </a:t>
            </a:r>
          </a:p>
          <a:p>
            <a:pPr lvl="0"/>
            <a:endParaRPr lang="fr-FR" dirty="0">
              <a:solidFill>
                <a:srgbClr val="5537AF"/>
              </a:solidFill>
              <a:latin typeface="Rubik Medium"/>
              <a:ea typeface="Rubik Medium"/>
              <a:cs typeface="Rubik Medium"/>
              <a:sym typeface="Rubik Medium"/>
            </a:endParaRPr>
          </a:p>
        </p:txBody>
      </p:sp>
      <p:sp>
        <p:nvSpPr>
          <p:cNvPr id="12" name="ZoneTexte 11">
            <a:extLst>
              <a:ext uri="{FF2B5EF4-FFF2-40B4-BE49-F238E27FC236}">
                <a16:creationId xmlns:a16="http://schemas.microsoft.com/office/drawing/2014/main" id="{F78A2109-AC38-4510-865A-F079E5B1C3AB}"/>
              </a:ext>
            </a:extLst>
          </p:cNvPr>
          <p:cNvSpPr txBox="1"/>
          <p:nvPr/>
        </p:nvSpPr>
        <p:spPr>
          <a:xfrm>
            <a:off x="7358021" y="2576998"/>
            <a:ext cx="1079142" cy="523220"/>
          </a:xfrm>
          <a:prstGeom prst="rect">
            <a:avLst/>
          </a:prstGeom>
          <a:noFill/>
          <a:ln>
            <a:solidFill>
              <a:schemeClr val="bg1"/>
            </a:solidFill>
          </a:ln>
        </p:spPr>
        <p:txBody>
          <a:bodyPr wrap="none" rtlCol="0">
            <a:spAutoFit/>
          </a:bodyPr>
          <a:lstStyle/>
          <a:p>
            <a:pPr algn="ctr"/>
            <a:r>
              <a:rPr lang="fr-FR" b="1" dirty="0">
                <a:solidFill>
                  <a:schemeClr val="tx1"/>
                </a:solidFill>
              </a:rPr>
              <a:t>31/12/2025</a:t>
            </a:r>
          </a:p>
          <a:p>
            <a:endParaRPr lang="fr-FR" b="1" dirty="0"/>
          </a:p>
        </p:txBody>
      </p:sp>
      <p:sp>
        <p:nvSpPr>
          <p:cNvPr id="13" name="ZoneTexte 12">
            <a:extLst>
              <a:ext uri="{FF2B5EF4-FFF2-40B4-BE49-F238E27FC236}">
                <a16:creationId xmlns:a16="http://schemas.microsoft.com/office/drawing/2014/main" id="{5F911B98-8A26-4AD4-BA5B-F263D735CEDA}"/>
              </a:ext>
            </a:extLst>
          </p:cNvPr>
          <p:cNvSpPr txBox="1"/>
          <p:nvPr/>
        </p:nvSpPr>
        <p:spPr>
          <a:xfrm>
            <a:off x="6217510" y="2569226"/>
            <a:ext cx="631904" cy="307777"/>
          </a:xfrm>
          <a:prstGeom prst="rect">
            <a:avLst/>
          </a:prstGeom>
          <a:noFill/>
          <a:ln>
            <a:solidFill>
              <a:schemeClr val="bg1"/>
            </a:solidFill>
          </a:ln>
        </p:spPr>
        <p:txBody>
          <a:bodyPr wrap="none" rtlCol="0">
            <a:spAutoFit/>
          </a:bodyPr>
          <a:lstStyle/>
          <a:p>
            <a:r>
              <a:rPr lang="fr-FR" b="1" dirty="0">
                <a:solidFill>
                  <a:schemeClr val="tx1"/>
                </a:solidFill>
              </a:rPr>
              <a:t>30/09</a:t>
            </a:r>
          </a:p>
        </p:txBody>
      </p:sp>
    </p:spTree>
    <p:extLst>
      <p:ext uri="{BB962C8B-B14F-4D97-AF65-F5344CB8AC3E}">
        <p14:creationId xmlns:p14="http://schemas.microsoft.com/office/powerpoint/2010/main" val="373746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0F0"/>
        </a:solidFill>
        <a:effectLst/>
      </p:bgPr>
    </p:bg>
    <p:spTree>
      <p:nvGrpSpPr>
        <p:cNvPr id="1" name="Shape 139"/>
        <p:cNvGrpSpPr/>
        <p:nvPr/>
      </p:nvGrpSpPr>
      <p:grpSpPr>
        <a:xfrm>
          <a:off x="0" y="0"/>
          <a:ext cx="0" cy="0"/>
          <a:chOff x="0" y="0"/>
          <a:chExt cx="0" cy="0"/>
        </a:xfrm>
      </p:grpSpPr>
      <p:sp>
        <p:nvSpPr>
          <p:cNvPr id="144" name="Google Shape;144;p19"/>
          <p:cNvSpPr txBox="1"/>
          <p:nvPr/>
        </p:nvSpPr>
        <p:spPr>
          <a:xfrm>
            <a:off x="435351" y="463199"/>
            <a:ext cx="8103174" cy="1107965"/>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CALENDRIER DE VERSEMENT </a:t>
            </a:r>
          </a:p>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DES FONDS</a:t>
            </a:r>
            <a:endParaRPr sz="3000" dirty="0">
              <a:solidFill>
                <a:srgbClr val="5537AF"/>
              </a:solidFill>
              <a:latin typeface="Lilita One"/>
              <a:ea typeface="Lilita One"/>
              <a:cs typeface="Lilita One"/>
              <a:sym typeface="Lilita One"/>
            </a:endParaRPr>
          </a:p>
        </p:txBody>
      </p:sp>
      <p:pic>
        <p:nvPicPr>
          <p:cNvPr id="148" name="Google Shape;148;p19"/>
          <p:cNvPicPr preferRelativeResize="0"/>
          <p:nvPr/>
        </p:nvPicPr>
        <p:blipFill>
          <a:blip r:embed="rId3">
            <a:alphaModFix/>
          </a:blip>
          <a:stretch>
            <a:fillRect/>
          </a:stretch>
        </p:blipFill>
        <p:spPr>
          <a:xfrm>
            <a:off x="8338425" y="108050"/>
            <a:ext cx="400201" cy="400201"/>
          </a:xfrm>
          <a:prstGeom prst="rect">
            <a:avLst/>
          </a:prstGeom>
          <a:noFill/>
          <a:ln>
            <a:noFill/>
          </a:ln>
        </p:spPr>
      </p:pic>
      <p:pic>
        <p:nvPicPr>
          <p:cNvPr id="150" name="Google Shape;150;p19"/>
          <p:cNvPicPr preferRelativeResize="0"/>
          <p:nvPr/>
        </p:nvPicPr>
        <p:blipFill rotWithShape="1">
          <a:blip r:embed="rId4">
            <a:alphaModFix/>
          </a:blip>
          <a:srcRect l="59374" t="47415"/>
          <a:stretch/>
        </p:blipFill>
        <p:spPr>
          <a:xfrm flipH="1">
            <a:off x="1" y="3026825"/>
            <a:ext cx="2907199" cy="2116674"/>
          </a:xfrm>
          <a:prstGeom prst="rect">
            <a:avLst/>
          </a:prstGeom>
          <a:noFill/>
          <a:ln>
            <a:noFill/>
          </a:ln>
        </p:spPr>
      </p:pic>
      <p:graphicFrame>
        <p:nvGraphicFramePr>
          <p:cNvPr id="2" name="Diagramme 1">
            <a:extLst>
              <a:ext uri="{FF2B5EF4-FFF2-40B4-BE49-F238E27FC236}">
                <a16:creationId xmlns:a16="http://schemas.microsoft.com/office/drawing/2014/main" id="{139667CF-F8C3-4EDB-97CE-340BE6E6A6E2}"/>
              </a:ext>
            </a:extLst>
          </p:cNvPr>
          <p:cNvGraphicFramePr/>
          <p:nvPr>
            <p:extLst>
              <p:ext uri="{D42A27DB-BD31-4B8C-83A1-F6EECF244321}">
                <p14:modId xmlns:p14="http://schemas.microsoft.com/office/powerpoint/2010/main" val="3764615470"/>
              </p:ext>
            </p:extLst>
          </p:nvPr>
        </p:nvGraphicFramePr>
        <p:xfrm>
          <a:off x="652130" y="524000"/>
          <a:ext cx="7534940" cy="409549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7" name="Diagramme 16">
            <a:extLst>
              <a:ext uri="{FF2B5EF4-FFF2-40B4-BE49-F238E27FC236}">
                <a16:creationId xmlns:a16="http://schemas.microsoft.com/office/drawing/2014/main" id="{52FE2D8F-B29C-48FB-83DA-2FA775D9CA43}"/>
              </a:ext>
            </a:extLst>
          </p:cNvPr>
          <p:cNvGraphicFramePr/>
          <p:nvPr>
            <p:extLst>
              <p:ext uri="{D42A27DB-BD31-4B8C-83A1-F6EECF244321}">
                <p14:modId xmlns:p14="http://schemas.microsoft.com/office/powerpoint/2010/main" val="3989774476"/>
              </p:ext>
            </p:extLst>
          </p:nvPr>
        </p:nvGraphicFramePr>
        <p:xfrm>
          <a:off x="737191" y="1571164"/>
          <a:ext cx="7449879" cy="360231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9"/>
        <p:cNvGrpSpPr/>
        <p:nvPr/>
      </p:nvGrpSpPr>
      <p:grpSpPr>
        <a:xfrm>
          <a:off x="0" y="0"/>
          <a:ext cx="0" cy="0"/>
          <a:chOff x="0" y="0"/>
          <a:chExt cx="0" cy="0"/>
        </a:xfrm>
      </p:grpSpPr>
      <p:sp>
        <p:nvSpPr>
          <p:cNvPr id="320" name="Google Shape;320;p31"/>
          <p:cNvSpPr/>
          <p:nvPr/>
        </p:nvSpPr>
        <p:spPr>
          <a:xfrm>
            <a:off x="757650" y="783450"/>
            <a:ext cx="7517400" cy="3576600"/>
          </a:xfrm>
          <a:prstGeom prst="roundRect">
            <a:avLst>
              <a:gd name="adj" fmla="val 16667"/>
            </a:avLst>
          </a:prstGeom>
          <a:solidFill>
            <a:srgbClr val="FAF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u="sng">
              <a:solidFill>
                <a:srgbClr val="FAF0F0"/>
              </a:solidFill>
              <a:highlight>
                <a:srgbClr val="FAF0F0"/>
              </a:highlight>
            </a:endParaRPr>
          </a:p>
        </p:txBody>
      </p:sp>
      <p:sp>
        <p:nvSpPr>
          <p:cNvPr id="321" name="Google Shape;321;p31"/>
          <p:cNvSpPr txBox="1"/>
          <p:nvPr/>
        </p:nvSpPr>
        <p:spPr>
          <a:xfrm>
            <a:off x="1038000" y="1028250"/>
            <a:ext cx="6648502" cy="569356"/>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2500" dirty="0">
                <a:solidFill>
                  <a:srgbClr val="5537AF"/>
                </a:solidFill>
                <a:latin typeface="Lilita One"/>
                <a:ea typeface="Lilita One"/>
                <a:cs typeface="Lilita One"/>
                <a:sym typeface="Lilita One"/>
              </a:rPr>
              <a:t>Vos interlocuteurs et interlocutrices en Région</a:t>
            </a:r>
            <a:endParaRPr sz="2500" dirty="0">
              <a:solidFill>
                <a:srgbClr val="5537AF"/>
              </a:solidFill>
              <a:latin typeface="Lilita One"/>
              <a:ea typeface="Lilita One"/>
              <a:cs typeface="Lilita One"/>
              <a:sym typeface="Lilita One"/>
            </a:endParaRPr>
          </a:p>
        </p:txBody>
      </p:sp>
      <p:pic>
        <p:nvPicPr>
          <p:cNvPr id="326" name="Google Shape;326;p31"/>
          <p:cNvPicPr preferRelativeResize="0"/>
          <p:nvPr/>
        </p:nvPicPr>
        <p:blipFill>
          <a:blip r:embed="rId3">
            <a:alphaModFix/>
          </a:blip>
          <a:stretch>
            <a:fillRect/>
          </a:stretch>
        </p:blipFill>
        <p:spPr>
          <a:xfrm>
            <a:off x="8338425" y="108050"/>
            <a:ext cx="400201" cy="400201"/>
          </a:xfrm>
          <a:prstGeom prst="rect">
            <a:avLst/>
          </a:prstGeom>
          <a:noFill/>
          <a:ln>
            <a:noFill/>
          </a:ln>
        </p:spPr>
      </p:pic>
      <p:pic>
        <p:nvPicPr>
          <p:cNvPr id="327" name="Google Shape;327;p31"/>
          <p:cNvPicPr preferRelativeResize="0"/>
          <p:nvPr/>
        </p:nvPicPr>
        <p:blipFill rotWithShape="1">
          <a:blip r:embed="rId4">
            <a:alphaModFix/>
          </a:blip>
          <a:srcRect l="49189" t="36736"/>
          <a:stretch/>
        </p:blipFill>
        <p:spPr>
          <a:xfrm>
            <a:off x="4986625" y="2231850"/>
            <a:ext cx="4157376" cy="2911650"/>
          </a:xfrm>
          <a:prstGeom prst="rect">
            <a:avLst/>
          </a:prstGeom>
          <a:noFill/>
          <a:ln>
            <a:noFill/>
          </a:ln>
        </p:spPr>
      </p:pic>
      <p:pic>
        <p:nvPicPr>
          <p:cNvPr id="4" name="Image 3">
            <a:extLst>
              <a:ext uri="{FF2B5EF4-FFF2-40B4-BE49-F238E27FC236}">
                <a16:creationId xmlns:a16="http://schemas.microsoft.com/office/drawing/2014/main" id="{E9D815FC-E275-45A1-8F96-0BC84C4ADA43}"/>
              </a:ext>
            </a:extLst>
          </p:cNvPr>
          <p:cNvPicPr>
            <a:picLocks noChangeAspect="1"/>
          </p:cNvPicPr>
          <p:nvPr/>
        </p:nvPicPr>
        <p:blipFill>
          <a:blip r:embed="rId5"/>
          <a:stretch>
            <a:fillRect/>
          </a:stretch>
        </p:blipFill>
        <p:spPr>
          <a:xfrm>
            <a:off x="1867470" y="1520830"/>
            <a:ext cx="5297760" cy="26306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1"/>
          <p:cNvSpPr/>
          <p:nvPr/>
        </p:nvSpPr>
        <p:spPr>
          <a:xfrm>
            <a:off x="757650" y="783450"/>
            <a:ext cx="7517400" cy="3576600"/>
          </a:xfrm>
          <a:prstGeom prst="roundRect">
            <a:avLst>
              <a:gd name="adj" fmla="val 16667"/>
            </a:avLst>
          </a:prstGeom>
          <a:solidFill>
            <a:srgbClr val="FAF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u="sng">
              <a:solidFill>
                <a:srgbClr val="FAF0F0"/>
              </a:solidFill>
              <a:highlight>
                <a:srgbClr val="FAF0F0"/>
              </a:highlight>
            </a:endParaRPr>
          </a:p>
        </p:txBody>
      </p:sp>
      <p:sp>
        <p:nvSpPr>
          <p:cNvPr id="321" name="Google Shape;321;p31"/>
          <p:cNvSpPr txBox="1"/>
          <p:nvPr/>
        </p:nvSpPr>
        <p:spPr>
          <a:xfrm>
            <a:off x="1038000" y="1028250"/>
            <a:ext cx="6648502" cy="569356"/>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2500" dirty="0">
                <a:solidFill>
                  <a:srgbClr val="5537AF"/>
                </a:solidFill>
                <a:latin typeface="Lilita One"/>
                <a:ea typeface="Lilita One"/>
                <a:cs typeface="Lilita One"/>
                <a:sym typeface="Lilita One"/>
              </a:rPr>
              <a:t>Pour les régions sans AR</a:t>
            </a:r>
            <a:endParaRPr sz="2500" dirty="0">
              <a:solidFill>
                <a:srgbClr val="5537AF"/>
              </a:solidFill>
              <a:latin typeface="Lilita One"/>
              <a:ea typeface="Lilita One"/>
              <a:cs typeface="Lilita One"/>
              <a:sym typeface="Lilita One"/>
            </a:endParaRPr>
          </a:p>
        </p:txBody>
      </p:sp>
      <p:pic>
        <p:nvPicPr>
          <p:cNvPr id="326" name="Google Shape;326;p31"/>
          <p:cNvPicPr preferRelativeResize="0"/>
          <p:nvPr/>
        </p:nvPicPr>
        <p:blipFill>
          <a:blip r:embed="rId3">
            <a:alphaModFix/>
          </a:blip>
          <a:stretch>
            <a:fillRect/>
          </a:stretch>
        </p:blipFill>
        <p:spPr>
          <a:xfrm>
            <a:off x="8338425" y="108050"/>
            <a:ext cx="400201" cy="400201"/>
          </a:xfrm>
          <a:prstGeom prst="rect">
            <a:avLst/>
          </a:prstGeom>
          <a:noFill/>
          <a:ln>
            <a:noFill/>
          </a:ln>
        </p:spPr>
      </p:pic>
      <p:pic>
        <p:nvPicPr>
          <p:cNvPr id="327" name="Google Shape;327;p31"/>
          <p:cNvPicPr preferRelativeResize="0"/>
          <p:nvPr/>
        </p:nvPicPr>
        <p:blipFill rotWithShape="1">
          <a:blip r:embed="rId4">
            <a:alphaModFix/>
          </a:blip>
          <a:srcRect l="49189" t="36736"/>
          <a:stretch/>
        </p:blipFill>
        <p:spPr>
          <a:xfrm>
            <a:off x="4986625" y="2231850"/>
            <a:ext cx="4157376" cy="2911650"/>
          </a:xfrm>
          <a:prstGeom prst="rect">
            <a:avLst/>
          </a:prstGeom>
          <a:noFill/>
          <a:ln>
            <a:noFill/>
          </a:ln>
        </p:spPr>
      </p:pic>
      <p:pic>
        <p:nvPicPr>
          <p:cNvPr id="4" name="Image 3">
            <a:extLst>
              <a:ext uri="{FF2B5EF4-FFF2-40B4-BE49-F238E27FC236}">
                <a16:creationId xmlns:a16="http://schemas.microsoft.com/office/drawing/2014/main" id="{5C6EA4EA-1B63-4BCC-8317-A5D5DF2116B8}"/>
              </a:ext>
            </a:extLst>
          </p:cNvPr>
          <p:cNvPicPr>
            <a:picLocks noChangeAspect="1"/>
          </p:cNvPicPr>
          <p:nvPr/>
        </p:nvPicPr>
        <p:blipFill>
          <a:blip r:embed="rId5"/>
          <a:stretch>
            <a:fillRect/>
          </a:stretch>
        </p:blipFill>
        <p:spPr>
          <a:xfrm>
            <a:off x="925561" y="1546166"/>
            <a:ext cx="7180439" cy="2274001"/>
          </a:xfrm>
          <a:prstGeom prst="rect">
            <a:avLst/>
          </a:prstGeom>
        </p:spPr>
      </p:pic>
    </p:spTree>
    <p:extLst>
      <p:ext uri="{BB962C8B-B14F-4D97-AF65-F5344CB8AC3E}">
        <p14:creationId xmlns:p14="http://schemas.microsoft.com/office/powerpoint/2010/main" val="772695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0F0"/>
        </a:solidFill>
        <a:effectLst/>
      </p:bgPr>
    </p:bg>
    <p:spTree>
      <p:nvGrpSpPr>
        <p:cNvPr id="1" name="Shape 331"/>
        <p:cNvGrpSpPr/>
        <p:nvPr/>
      </p:nvGrpSpPr>
      <p:grpSpPr>
        <a:xfrm>
          <a:off x="0" y="0"/>
          <a:ext cx="0" cy="0"/>
          <a:chOff x="0" y="0"/>
          <a:chExt cx="0" cy="0"/>
        </a:xfrm>
      </p:grpSpPr>
      <p:pic>
        <p:nvPicPr>
          <p:cNvPr id="332" name="Google Shape;332;p32"/>
          <p:cNvPicPr preferRelativeResize="0"/>
          <p:nvPr/>
        </p:nvPicPr>
        <p:blipFill rotWithShape="1">
          <a:blip r:embed="rId3">
            <a:alphaModFix/>
          </a:blip>
          <a:srcRect l="58355" b="26524"/>
          <a:stretch/>
        </p:blipFill>
        <p:spPr>
          <a:xfrm>
            <a:off x="5336050" y="0"/>
            <a:ext cx="3807950" cy="3779274"/>
          </a:xfrm>
          <a:prstGeom prst="rect">
            <a:avLst/>
          </a:prstGeom>
          <a:noFill/>
          <a:ln>
            <a:noFill/>
          </a:ln>
        </p:spPr>
      </p:pic>
      <p:sp>
        <p:nvSpPr>
          <p:cNvPr id="333" name="Google Shape;333;p32"/>
          <p:cNvSpPr txBox="1"/>
          <p:nvPr/>
        </p:nvSpPr>
        <p:spPr>
          <a:xfrm>
            <a:off x="367204" y="463591"/>
            <a:ext cx="3146400" cy="646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FAQ </a:t>
            </a:r>
            <a:endParaRPr sz="3000" dirty="0">
              <a:solidFill>
                <a:srgbClr val="5537AF"/>
              </a:solidFill>
              <a:latin typeface="Lilita One"/>
              <a:ea typeface="Lilita One"/>
              <a:cs typeface="Lilita One"/>
              <a:sym typeface="Lilita One"/>
            </a:endParaRPr>
          </a:p>
        </p:txBody>
      </p:sp>
      <p:sp>
        <p:nvSpPr>
          <p:cNvPr id="334" name="Google Shape;334;p32"/>
          <p:cNvSpPr txBox="1"/>
          <p:nvPr/>
        </p:nvSpPr>
        <p:spPr>
          <a:xfrm>
            <a:off x="367204" y="1031846"/>
            <a:ext cx="4049521" cy="1031021"/>
          </a:xfrm>
          <a:prstGeom prst="rect">
            <a:avLst/>
          </a:prstGeom>
          <a:noFill/>
          <a:ln>
            <a:noFill/>
          </a:ln>
        </p:spPr>
        <p:txBody>
          <a:bodyPr spcFirstLastPara="1" wrap="square" lIns="91425" tIns="91425" rIns="91425" bIns="91425" anchor="t" anchorCtr="0">
            <a:spAutoFit/>
          </a:bodyPr>
          <a:lstStyle/>
          <a:p>
            <a:r>
              <a:rPr lang="fr-FR" sz="1100" b="1" dirty="0">
                <a:solidFill>
                  <a:schemeClr val="dk1"/>
                </a:solidFill>
                <a:latin typeface="Rubik Light"/>
                <a:cs typeface="Rubik Light"/>
              </a:rPr>
              <a:t>Les dépenses doivent elles être justifiées avant de percevoir un versement du </a:t>
            </a:r>
            <a:r>
              <a:rPr lang="fr-FR" sz="1100" b="1" dirty="0" err="1">
                <a:solidFill>
                  <a:schemeClr val="dk1"/>
                </a:solidFill>
                <a:latin typeface="Rubik Light"/>
                <a:cs typeface="Rubik Light"/>
              </a:rPr>
              <a:t>RnRR</a:t>
            </a:r>
            <a:r>
              <a:rPr lang="fr-FR" sz="1100" b="1" dirty="0">
                <a:solidFill>
                  <a:schemeClr val="dk1"/>
                </a:solidFill>
                <a:latin typeface="Rubik Light"/>
                <a:cs typeface="Rubik Light"/>
              </a:rPr>
              <a:t>? </a:t>
            </a:r>
          </a:p>
          <a:p>
            <a:r>
              <a:rPr lang="fr-FR" sz="1100" dirty="0">
                <a:solidFill>
                  <a:schemeClr val="dk1"/>
                </a:solidFill>
                <a:latin typeface="Rubik Light"/>
                <a:cs typeface="Rubik Light"/>
              </a:rPr>
              <a:t>Le RNRR ne peut pas faire d’avance de trésorerie.</a:t>
            </a:r>
          </a:p>
          <a:p>
            <a:r>
              <a:rPr lang="fr-FR" sz="1100" dirty="0">
                <a:solidFill>
                  <a:schemeClr val="dk1"/>
                </a:solidFill>
                <a:latin typeface="Rubik Light"/>
                <a:cs typeface="Rubik Light"/>
              </a:rPr>
              <a:t>Le versement peut se faire qu’à partir du conventionnement et sous justificatifs (demandes d’acompte).</a:t>
            </a:r>
            <a:endParaRPr lang="fr-FR" sz="1100" dirty="0">
              <a:solidFill>
                <a:schemeClr val="dk1"/>
              </a:solidFill>
              <a:latin typeface="Rubik Light"/>
              <a:cs typeface="Rubik Light"/>
              <a:sym typeface="Rubik Light"/>
            </a:endParaRPr>
          </a:p>
        </p:txBody>
      </p:sp>
      <p:sp>
        <p:nvSpPr>
          <p:cNvPr id="342" name="Google Shape;342;p32"/>
          <p:cNvSpPr txBox="1"/>
          <p:nvPr/>
        </p:nvSpPr>
        <p:spPr>
          <a:xfrm>
            <a:off x="350999" y="3715055"/>
            <a:ext cx="4099080" cy="523190"/>
          </a:xfrm>
          <a:prstGeom prst="rect">
            <a:avLst/>
          </a:prstGeom>
          <a:noFill/>
          <a:ln>
            <a:noFill/>
          </a:ln>
        </p:spPr>
        <p:txBody>
          <a:bodyPr spcFirstLastPara="1" wrap="square" lIns="91425" tIns="91425" rIns="91425" bIns="91425" anchor="t" anchorCtr="0">
            <a:spAutoFit/>
          </a:bodyPr>
          <a:lstStyle/>
          <a:p>
            <a:r>
              <a:rPr lang="fr-FR" sz="1100" b="1" dirty="0">
                <a:solidFill>
                  <a:schemeClr val="dk1"/>
                </a:solidFill>
                <a:latin typeface="Rubik Light"/>
                <a:cs typeface="Rubik Light"/>
              </a:rPr>
              <a:t>Les lauréats 2024 peuvent-ils </a:t>
            </a:r>
            <a:r>
              <a:rPr lang="fr-FR" sz="1100" b="1" dirty="0" err="1">
                <a:solidFill>
                  <a:schemeClr val="dk1"/>
                </a:solidFill>
                <a:latin typeface="Rubik Light"/>
                <a:cs typeface="Rubik Light"/>
              </a:rPr>
              <a:t>re-candidater</a:t>
            </a:r>
            <a:r>
              <a:rPr lang="fr-FR" sz="1100" b="1" dirty="0">
                <a:solidFill>
                  <a:schemeClr val="dk1"/>
                </a:solidFill>
                <a:latin typeface="Rubik Light"/>
                <a:cs typeface="Rubik Light"/>
              </a:rPr>
              <a:t> en 2025 ?</a:t>
            </a:r>
          </a:p>
          <a:p>
            <a:r>
              <a:rPr lang="fr-FR" sz="1100" dirty="0">
                <a:solidFill>
                  <a:schemeClr val="dk1"/>
                </a:solidFill>
                <a:latin typeface="Rubik Light"/>
                <a:cs typeface="Rubik Light"/>
              </a:rPr>
              <a:t>Oui </a:t>
            </a:r>
          </a:p>
        </p:txBody>
      </p:sp>
      <p:sp>
        <p:nvSpPr>
          <p:cNvPr id="344" name="Google Shape;344;p32"/>
          <p:cNvSpPr txBox="1"/>
          <p:nvPr/>
        </p:nvSpPr>
        <p:spPr>
          <a:xfrm>
            <a:off x="5231475" y="2924432"/>
            <a:ext cx="3131127" cy="135264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FR" sz="1100" b="1" dirty="0">
                <a:solidFill>
                  <a:schemeClr val="dk1"/>
                </a:solidFill>
                <a:latin typeface="Rubik Light"/>
                <a:ea typeface="Rubik Light"/>
                <a:cs typeface="Rubik Light"/>
                <a:sym typeface="Rubik Light"/>
              </a:rPr>
              <a:t>Quelles sont les pièces justificatives à fournir?</a:t>
            </a:r>
          </a:p>
          <a:p>
            <a:pPr marL="0" lvl="0" indent="0" algn="l" rtl="0">
              <a:lnSpc>
                <a:spcPct val="115000"/>
              </a:lnSpc>
              <a:spcBef>
                <a:spcPts val="0"/>
              </a:spcBef>
              <a:spcAft>
                <a:spcPts val="0"/>
              </a:spcAft>
              <a:buNone/>
            </a:pPr>
            <a:r>
              <a:rPr lang="fr-FR" sz="1100" dirty="0">
                <a:solidFill>
                  <a:schemeClr val="dk1"/>
                </a:solidFill>
                <a:latin typeface="Rubik Light"/>
                <a:ea typeface="Rubik Light"/>
                <a:cs typeface="Rubik Light"/>
                <a:sym typeface="Rubik Light"/>
              </a:rPr>
              <a:t>Facture, fiches de paie, justificatif</a:t>
            </a:r>
          </a:p>
          <a:p>
            <a:pPr marL="0" lvl="0" indent="0" algn="l" rtl="0">
              <a:lnSpc>
                <a:spcPct val="115000"/>
              </a:lnSpc>
              <a:spcBef>
                <a:spcPts val="0"/>
              </a:spcBef>
              <a:spcAft>
                <a:spcPts val="0"/>
              </a:spcAft>
              <a:buNone/>
            </a:pPr>
            <a:r>
              <a:rPr lang="fr-FR" sz="1100" dirty="0">
                <a:solidFill>
                  <a:schemeClr val="dk1"/>
                </a:solidFill>
                <a:latin typeface="Rubik Light"/>
                <a:ea typeface="Rubik Light"/>
                <a:cs typeface="Rubik Light"/>
                <a:sym typeface="Rubik Light"/>
              </a:rPr>
              <a:t>de dépenses de personnel, bilan qualitatif</a:t>
            </a:r>
          </a:p>
          <a:p>
            <a:pPr marL="0" lvl="0" indent="0" algn="l" rtl="0">
              <a:lnSpc>
                <a:spcPct val="115000"/>
              </a:lnSpc>
              <a:spcBef>
                <a:spcPts val="0"/>
              </a:spcBef>
              <a:spcAft>
                <a:spcPts val="0"/>
              </a:spcAft>
              <a:buNone/>
            </a:pPr>
            <a:r>
              <a:rPr lang="fr-FR" sz="1100" dirty="0">
                <a:solidFill>
                  <a:schemeClr val="dk1"/>
                </a:solidFill>
                <a:latin typeface="Rubik Light"/>
                <a:ea typeface="Rubik Light"/>
                <a:cs typeface="Rubik Light"/>
                <a:sym typeface="Rubik Light"/>
              </a:rPr>
              <a:t>et narratif</a:t>
            </a:r>
          </a:p>
          <a:p>
            <a:pPr marL="0" lvl="0" indent="0" algn="l" rtl="0">
              <a:lnSpc>
                <a:spcPct val="115000"/>
              </a:lnSpc>
              <a:spcBef>
                <a:spcPts val="0"/>
              </a:spcBef>
              <a:spcAft>
                <a:spcPts val="0"/>
              </a:spcAft>
              <a:buNone/>
            </a:pPr>
            <a:endParaRPr sz="1100" dirty="0">
              <a:solidFill>
                <a:schemeClr val="dk1"/>
              </a:solidFill>
              <a:latin typeface="Rubik Light"/>
              <a:ea typeface="Rubik Light"/>
              <a:cs typeface="Rubik Light"/>
              <a:sym typeface="Rubik Light"/>
            </a:endParaRPr>
          </a:p>
        </p:txBody>
      </p:sp>
      <p:pic>
        <p:nvPicPr>
          <p:cNvPr id="355" name="Google Shape;355;p32"/>
          <p:cNvPicPr preferRelativeResize="0"/>
          <p:nvPr/>
        </p:nvPicPr>
        <p:blipFill>
          <a:blip r:embed="rId4">
            <a:alphaModFix/>
          </a:blip>
          <a:stretch>
            <a:fillRect/>
          </a:stretch>
        </p:blipFill>
        <p:spPr>
          <a:xfrm>
            <a:off x="8338425" y="108050"/>
            <a:ext cx="400201" cy="400201"/>
          </a:xfrm>
          <a:prstGeom prst="rect">
            <a:avLst/>
          </a:prstGeom>
          <a:noFill/>
          <a:ln>
            <a:noFill/>
          </a:ln>
        </p:spPr>
      </p:pic>
      <p:sp>
        <p:nvSpPr>
          <p:cNvPr id="2" name="Rectangle 1">
            <a:extLst>
              <a:ext uri="{FF2B5EF4-FFF2-40B4-BE49-F238E27FC236}">
                <a16:creationId xmlns:a16="http://schemas.microsoft.com/office/drawing/2014/main" id="{339C0379-8496-465C-8531-DDF6467BCB56}"/>
              </a:ext>
            </a:extLst>
          </p:cNvPr>
          <p:cNvSpPr/>
          <p:nvPr/>
        </p:nvSpPr>
        <p:spPr>
          <a:xfrm>
            <a:off x="367204" y="2129700"/>
            <a:ext cx="4572000" cy="600164"/>
          </a:xfrm>
          <a:prstGeom prst="rect">
            <a:avLst/>
          </a:prstGeom>
        </p:spPr>
        <p:txBody>
          <a:bodyPr>
            <a:spAutoFit/>
          </a:bodyPr>
          <a:lstStyle/>
          <a:p>
            <a:r>
              <a:rPr lang="fr-FR" sz="1100" b="1" dirty="0">
                <a:solidFill>
                  <a:schemeClr val="dk1"/>
                </a:solidFill>
                <a:latin typeface="Rubik Light"/>
                <a:cs typeface="Rubik Light"/>
              </a:rPr>
              <a:t>Y a-t-il des actions prioritaires ?</a:t>
            </a:r>
          </a:p>
          <a:p>
            <a:r>
              <a:rPr lang="fr-FR" sz="1100" dirty="0">
                <a:solidFill>
                  <a:schemeClr val="dk1"/>
                </a:solidFill>
                <a:latin typeface="Rubik Light"/>
                <a:cs typeface="Rubik Light"/>
              </a:rPr>
              <a:t>Pas au niveau national, mais vos Associations Régionales </a:t>
            </a:r>
          </a:p>
          <a:p>
            <a:r>
              <a:rPr lang="fr-FR" sz="1100" dirty="0">
                <a:solidFill>
                  <a:schemeClr val="dk1"/>
                </a:solidFill>
                <a:latin typeface="Rubik Light"/>
                <a:cs typeface="Rubik Light"/>
              </a:rPr>
              <a:t>peuvent décider de prioriser certaines actions</a:t>
            </a:r>
          </a:p>
        </p:txBody>
      </p:sp>
      <p:sp>
        <p:nvSpPr>
          <p:cNvPr id="3" name="Rectangle 2">
            <a:extLst>
              <a:ext uri="{FF2B5EF4-FFF2-40B4-BE49-F238E27FC236}">
                <a16:creationId xmlns:a16="http://schemas.microsoft.com/office/drawing/2014/main" id="{AB5D7C73-714D-4BA5-899F-106C2D7AF604}"/>
              </a:ext>
            </a:extLst>
          </p:cNvPr>
          <p:cNvSpPr/>
          <p:nvPr/>
        </p:nvSpPr>
        <p:spPr>
          <a:xfrm>
            <a:off x="367204" y="2875857"/>
            <a:ext cx="4572000" cy="769441"/>
          </a:xfrm>
          <a:prstGeom prst="rect">
            <a:avLst/>
          </a:prstGeom>
        </p:spPr>
        <p:txBody>
          <a:bodyPr>
            <a:spAutoFit/>
          </a:bodyPr>
          <a:lstStyle/>
          <a:p>
            <a:r>
              <a:rPr lang="fr-FR" sz="1100" b="1" dirty="0">
                <a:solidFill>
                  <a:schemeClr val="dk1"/>
                </a:solidFill>
                <a:latin typeface="Rubik Light"/>
                <a:cs typeface="Rubik Light"/>
              </a:rPr>
              <a:t>J’ai justement acheté des machines à coudre il y a 15 jours !</a:t>
            </a:r>
          </a:p>
          <a:p>
            <a:r>
              <a:rPr lang="fr-FR" sz="1100" b="1" dirty="0">
                <a:solidFill>
                  <a:schemeClr val="dk1"/>
                </a:solidFill>
                <a:latin typeface="Rubik Light"/>
                <a:cs typeface="Rubik Light"/>
              </a:rPr>
              <a:t>Ma dépense peut être soutenue ?</a:t>
            </a:r>
          </a:p>
          <a:p>
            <a:r>
              <a:rPr lang="fr-FR" sz="1100" dirty="0">
                <a:solidFill>
                  <a:schemeClr val="dk1"/>
                </a:solidFill>
                <a:latin typeface="Rubik Light"/>
                <a:cs typeface="Rubik Light"/>
              </a:rPr>
              <a:t>OUI, la rétroactivité est possible pour les dépenses éligibles</a:t>
            </a:r>
          </a:p>
          <a:p>
            <a:r>
              <a:rPr lang="fr-FR" sz="1100" dirty="0">
                <a:solidFill>
                  <a:schemeClr val="dk1"/>
                </a:solidFill>
                <a:latin typeface="Rubik Light"/>
                <a:cs typeface="Rubik Light"/>
              </a:rPr>
              <a:t>engagées sur l’année 2025</a:t>
            </a:r>
          </a:p>
        </p:txBody>
      </p:sp>
      <p:sp>
        <p:nvSpPr>
          <p:cNvPr id="4" name="Rectangle 3">
            <a:extLst>
              <a:ext uri="{FF2B5EF4-FFF2-40B4-BE49-F238E27FC236}">
                <a16:creationId xmlns:a16="http://schemas.microsoft.com/office/drawing/2014/main" id="{D7363836-1ADF-4DFB-8287-6E51BB94EC90}"/>
              </a:ext>
            </a:extLst>
          </p:cNvPr>
          <p:cNvSpPr/>
          <p:nvPr/>
        </p:nvSpPr>
        <p:spPr>
          <a:xfrm>
            <a:off x="5231475" y="1373737"/>
            <a:ext cx="3807949" cy="1277273"/>
          </a:xfrm>
          <a:prstGeom prst="rect">
            <a:avLst/>
          </a:prstGeom>
        </p:spPr>
        <p:txBody>
          <a:bodyPr wrap="square">
            <a:spAutoFit/>
          </a:bodyPr>
          <a:lstStyle/>
          <a:p>
            <a:r>
              <a:rPr lang="fr-FR" sz="1100" b="1" dirty="0">
                <a:solidFill>
                  <a:schemeClr val="dk1"/>
                </a:solidFill>
                <a:latin typeface="Rubik Light"/>
                <a:cs typeface="Rubik Light"/>
              </a:rPr>
              <a:t>Qui peut être candidat ?</a:t>
            </a:r>
          </a:p>
          <a:p>
            <a:r>
              <a:rPr lang="fr-FR" sz="1100" dirty="0">
                <a:solidFill>
                  <a:schemeClr val="dk1"/>
                </a:solidFill>
                <a:latin typeface="Rubik Light"/>
                <a:cs typeface="Rubik Light"/>
              </a:rPr>
              <a:t>-Adhérents RNRR à jour de paiement de leur cotisation</a:t>
            </a:r>
          </a:p>
          <a:p>
            <a:r>
              <a:rPr lang="fr-FR" sz="1100" dirty="0">
                <a:solidFill>
                  <a:schemeClr val="dk1"/>
                </a:solidFill>
                <a:latin typeface="Rubik Light"/>
                <a:cs typeface="Rubik Light"/>
              </a:rPr>
              <a:t>-Structures qui s’engagent à s’engager à répondre</a:t>
            </a:r>
          </a:p>
          <a:p>
            <a:r>
              <a:rPr lang="fr-FR" sz="1100" dirty="0">
                <a:solidFill>
                  <a:schemeClr val="dk1"/>
                </a:solidFill>
                <a:latin typeface="Rubik Light"/>
                <a:cs typeface="Rubik Light"/>
              </a:rPr>
              <a:t>à l'observatoire 2025, sur les données 2024,ce sera vérifié avant la fin du projet et le versement de solde</a:t>
            </a:r>
          </a:p>
          <a:p>
            <a:r>
              <a:rPr lang="fr-FR" sz="1100" dirty="0">
                <a:solidFill>
                  <a:schemeClr val="dk1"/>
                </a:solidFill>
                <a:latin typeface="Rubik Light"/>
                <a:cs typeface="Rubik Light"/>
              </a:rPr>
              <a:t>-Conventionné </a:t>
            </a:r>
            <a:r>
              <a:rPr lang="fr-FR" sz="1100" dirty="0" err="1">
                <a:solidFill>
                  <a:schemeClr val="dk1"/>
                </a:solidFill>
                <a:latin typeface="Rubik Light"/>
                <a:cs typeface="Rubik Light"/>
              </a:rPr>
              <a:t>Refashion</a:t>
            </a:r>
            <a:r>
              <a:rPr lang="fr-FR" sz="1100" dirty="0">
                <a:solidFill>
                  <a:schemeClr val="dk1"/>
                </a:solidFill>
                <a:latin typeface="Rubik Light"/>
                <a:cs typeface="Rubik Light"/>
              </a:rPr>
              <a:t> (Infos </a:t>
            </a:r>
            <a:r>
              <a:rPr lang="fr-FR" sz="1100" dirty="0">
                <a:solidFill>
                  <a:schemeClr val="dk1"/>
                </a:solidFill>
                <a:latin typeface="Rubik Light"/>
                <a:cs typeface="Rubik Light"/>
                <a:hlinkClick r:id="rId5">
                  <a:extLst>
                    <a:ext uri="{A12FA001-AC4F-418D-AE19-62706E023703}">
                      <ahyp:hlinkClr xmlns:ahyp="http://schemas.microsoft.com/office/drawing/2018/hyperlinkcolor" val="tx"/>
                    </a:ext>
                  </a:extLst>
                </a:hlinkClick>
              </a:rPr>
              <a:t>ICI</a:t>
            </a:r>
            <a:r>
              <a:rPr lang="fr-FR" sz="1100" dirty="0">
                <a:solidFill>
                  <a:schemeClr val="dk1"/>
                </a:solidFill>
                <a:latin typeface="Rubik Light"/>
                <a:cs typeface="Rubik Light"/>
              </a:rPr>
              <a:t>)</a:t>
            </a:r>
          </a:p>
          <a:p>
            <a:r>
              <a:rPr lang="fr-FR" sz="1100" dirty="0">
                <a:solidFill>
                  <a:schemeClr val="dk1"/>
                </a:solidFill>
                <a:latin typeface="Rubik Light"/>
                <a:cs typeface="Rubik Light"/>
              </a:rPr>
              <a:t>-Réponse complète dans les temps (06/03/2025)</a:t>
            </a:r>
          </a:p>
        </p:txBody>
      </p:sp>
      <p:sp>
        <p:nvSpPr>
          <p:cNvPr id="5" name="Rectangle 4">
            <a:extLst>
              <a:ext uri="{FF2B5EF4-FFF2-40B4-BE49-F238E27FC236}">
                <a16:creationId xmlns:a16="http://schemas.microsoft.com/office/drawing/2014/main" id="{47D52DAC-FBE0-4541-8E05-FC8620FAC080}"/>
              </a:ext>
            </a:extLst>
          </p:cNvPr>
          <p:cNvSpPr/>
          <p:nvPr/>
        </p:nvSpPr>
        <p:spPr>
          <a:xfrm>
            <a:off x="350999" y="4277080"/>
            <a:ext cx="4572000" cy="600164"/>
          </a:xfrm>
          <a:prstGeom prst="rect">
            <a:avLst/>
          </a:prstGeom>
        </p:spPr>
        <p:txBody>
          <a:bodyPr>
            <a:spAutoFit/>
          </a:bodyPr>
          <a:lstStyle/>
          <a:p>
            <a:r>
              <a:rPr lang="fr-FR" sz="1100" b="1" dirty="0">
                <a:solidFill>
                  <a:schemeClr val="dk1"/>
                </a:solidFill>
                <a:latin typeface="Rubik Light"/>
                <a:cs typeface="Rubik Light"/>
              </a:rPr>
              <a:t>Quand est-ce que les dépenses sont éligibles? </a:t>
            </a:r>
          </a:p>
          <a:p>
            <a:r>
              <a:rPr lang="fr-FR" sz="1100" dirty="0">
                <a:solidFill>
                  <a:schemeClr val="dk1"/>
                </a:solidFill>
                <a:latin typeface="Rubik Light"/>
                <a:cs typeface="Rubik Light"/>
              </a:rPr>
              <a:t>Les dépenses sont éligibles à partir du 1er janvier 2025</a:t>
            </a:r>
          </a:p>
          <a:p>
            <a:r>
              <a:rPr lang="fr-FR" sz="1100" dirty="0">
                <a:solidFill>
                  <a:schemeClr val="dk1"/>
                </a:solidFill>
                <a:latin typeface="Rubik Light"/>
                <a:cs typeface="Rubik Light"/>
              </a:rPr>
              <a:t>(donc rétroactives)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3" name="Google Shape;333;p32"/>
          <p:cNvSpPr txBox="1"/>
          <p:nvPr/>
        </p:nvSpPr>
        <p:spPr>
          <a:xfrm>
            <a:off x="367204" y="463591"/>
            <a:ext cx="3146400" cy="6463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fr-FR" sz="3000" dirty="0">
                <a:solidFill>
                  <a:srgbClr val="5537AF"/>
                </a:solidFill>
                <a:latin typeface="Lilita One"/>
                <a:ea typeface="Lilita One"/>
                <a:cs typeface="Lilita One"/>
                <a:sym typeface="Lilita One"/>
              </a:rPr>
              <a:t>FAQ </a:t>
            </a:r>
            <a:endParaRPr sz="3000" dirty="0">
              <a:solidFill>
                <a:srgbClr val="5537AF"/>
              </a:solidFill>
              <a:latin typeface="Lilita One"/>
              <a:ea typeface="Lilita One"/>
              <a:cs typeface="Lilita One"/>
              <a:sym typeface="Lilita One"/>
            </a:endParaRPr>
          </a:p>
        </p:txBody>
      </p:sp>
      <p:sp>
        <p:nvSpPr>
          <p:cNvPr id="334" name="Google Shape;334;p32"/>
          <p:cNvSpPr txBox="1"/>
          <p:nvPr/>
        </p:nvSpPr>
        <p:spPr>
          <a:xfrm>
            <a:off x="367204" y="1031846"/>
            <a:ext cx="4049521" cy="523190"/>
          </a:xfrm>
          <a:prstGeom prst="rect">
            <a:avLst/>
          </a:prstGeom>
          <a:noFill/>
          <a:ln>
            <a:noFill/>
          </a:ln>
        </p:spPr>
        <p:txBody>
          <a:bodyPr spcFirstLastPara="1" wrap="square" lIns="91425" tIns="91425" rIns="91425" bIns="91425" anchor="t" anchorCtr="0">
            <a:spAutoFit/>
          </a:bodyPr>
          <a:lstStyle/>
          <a:p>
            <a:r>
              <a:rPr lang="fr-FR" sz="1100" b="1" dirty="0">
                <a:solidFill>
                  <a:schemeClr val="dk1"/>
                </a:solidFill>
                <a:latin typeface="Rubik Light"/>
                <a:cs typeface="Rubik Light"/>
              </a:rPr>
              <a:t>Est-ce qu’on peut répondre à plusieurs axes? </a:t>
            </a:r>
          </a:p>
          <a:p>
            <a:r>
              <a:rPr lang="fr-FR" sz="1100" dirty="0">
                <a:solidFill>
                  <a:schemeClr val="dk1"/>
                </a:solidFill>
                <a:latin typeface="Rubik Light"/>
                <a:cs typeface="Rubik Light"/>
              </a:rPr>
              <a:t>Oui</a:t>
            </a:r>
            <a:endParaRPr lang="fr-FR" sz="1100" dirty="0">
              <a:solidFill>
                <a:schemeClr val="dk1"/>
              </a:solidFill>
              <a:latin typeface="Rubik Light"/>
              <a:cs typeface="Rubik Light"/>
              <a:sym typeface="Rubik Light"/>
            </a:endParaRPr>
          </a:p>
        </p:txBody>
      </p:sp>
      <p:sp>
        <p:nvSpPr>
          <p:cNvPr id="342" name="Google Shape;342;p32"/>
          <p:cNvSpPr txBox="1"/>
          <p:nvPr/>
        </p:nvSpPr>
        <p:spPr>
          <a:xfrm>
            <a:off x="367204" y="2486128"/>
            <a:ext cx="4099080" cy="1631185"/>
          </a:xfrm>
          <a:prstGeom prst="rect">
            <a:avLst/>
          </a:prstGeom>
          <a:noFill/>
          <a:ln>
            <a:noFill/>
          </a:ln>
        </p:spPr>
        <p:txBody>
          <a:bodyPr spcFirstLastPara="1" wrap="square" lIns="91425" tIns="91425" rIns="91425" bIns="91425" anchor="t" anchorCtr="0">
            <a:spAutoFit/>
          </a:bodyPr>
          <a:lstStyle/>
          <a:p>
            <a:endParaRPr lang="fr-FR" dirty="0"/>
          </a:p>
          <a:p>
            <a:r>
              <a:rPr lang="fr-FR" dirty="0"/>
              <a:t> </a:t>
            </a:r>
          </a:p>
          <a:p>
            <a:r>
              <a:rPr lang="fr-FR" sz="1100" b="1" dirty="0">
                <a:latin typeface="Rubik Light" panose="020B0604020202020204" charset="-79"/>
                <a:cs typeface="Rubik Light" panose="020B0604020202020204" charset="-79"/>
              </a:rPr>
              <a:t>Est-ce que les travaux sont financés ? </a:t>
            </a:r>
          </a:p>
          <a:p>
            <a:r>
              <a:rPr lang="fr-FR" sz="1100" b="1" dirty="0">
                <a:latin typeface="Rubik Light" panose="020B0604020202020204" charset="-79"/>
                <a:cs typeface="Rubik Light" panose="020B0604020202020204" charset="-79"/>
              </a:rPr>
              <a:t>Pas tous ! </a:t>
            </a:r>
            <a:r>
              <a:rPr lang="fr-FR" sz="1100" dirty="0">
                <a:latin typeface="Rubik Light" panose="020B0604020202020204" charset="-79"/>
                <a:cs typeface="Rubik Light" panose="020B0604020202020204" charset="-79"/>
              </a:rPr>
              <a:t>Modifications structurelles de l’existant (ouverture de fenêtres ou de portes à l’intérieur de la structure, création d’une cloison entre ateliers espaces de ventes, abattage ou modification des cloisons existantes...) </a:t>
            </a:r>
          </a:p>
          <a:p>
            <a:endParaRPr lang="fr-FR" sz="1100" dirty="0">
              <a:latin typeface="Rubik Light" panose="020B0604020202020204" charset="-79"/>
              <a:cs typeface="Rubik Light" panose="020B0604020202020204" charset="-79"/>
            </a:endParaRPr>
          </a:p>
        </p:txBody>
      </p:sp>
      <p:pic>
        <p:nvPicPr>
          <p:cNvPr id="355" name="Google Shape;355;p32"/>
          <p:cNvPicPr preferRelativeResize="0"/>
          <p:nvPr/>
        </p:nvPicPr>
        <p:blipFill>
          <a:blip r:embed="rId3">
            <a:alphaModFix/>
          </a:blip>
          <a:stretch>
            <a:fillRect/>
          </a:stretch>
        </p:blipFill>
        <p:spPr>
          <a:xfrm>
            <a:off x="8338425" y="108050"/>
            <a:ext cx="400201" cy="400201"/>
          </a:xfrm>
          <a:prstGeom prst="rect">
            <a:avLst/>
          </a:prstGeom>
          <a:noFill/>
          <a:ln>
            <a:noFill/>
          </a:ln>
        </p:spPr>
      </p:pic>
      <p:sp>
        <p:nvSpPr>
          <p:cNvPr id="2" name="Rectangle 1">
            <a:extLst>
              <a:ext uri="{FF2B5EF4-FFF2-40B4-BE49-F238E27FC236}">
                <a16:creationId xmlns:a16="http://schemas.microsoft.com/office/drawing/2014/main" id="{339C0379-8496-465C-8531-DDF6467BCB56}"/>
              </a:ext>
            </a:extLst>
          </p:cNvPr>
          <p:cNvSpPr/>
          <p:nvPr/>
        </p:nvSpPr>
        <p:spPr>
          <a:xfrm>
            <a:off x="367204" y="1638565"/>
            <a:ext cx="4572000" cy="600164"/>
          </a:xfrm>
          <a:prstGeom prst="rect">
            <a:avLst/>
          </a:prstGeom>
        </p:spPr>
        <p:txBody>
          <a:bodyPr>
            <a:spAutoFit/>
          </a:bodyPr>
          <a:lstStyle/>
          <a:p>
            <a:r>
              <a:rPr lang="fr-FR" sz="1100" b="1" dirty="0">
                <a:solidFill>
                  <a:schemeClr val="dk1"/>
                </a:solidFill>
                <a:latin typeface="Rubik Light"/>
                <a:cs typeface="Rubik Light"/>
              </a:rPr>
              <a:t>L’AMI peut couvrir le 100% des dépenses ou a-t-on besoin d’un cofinancement ?</a:t>
            </a:r>
          </a:p>
          <a:p>
            <a:r>
              <a:rPr lang="fr-FR" sz="1100" dirty="0">
                <a:solidFill>
                  <a:schemeClr val="dk1"/>
                </a:solidFill>
                <a:latin typeface="Rubik Light"/>
                <a:cs typeface="Rubik Light"/>
              </a:rPr>
              <a:t>Les deux sont possibles sous justificatifs</a:t>
            </a:r>
          </a:p>
        </p:txBody>
      </p:sp>
      <p:sp>
        <p:nvSpPr>
          <p:cNvPr id="3" name="Rectangle 2">
            <a:extLst>
              <a:ext uri="{FF2B5EF4-FFF2-40B4-BE49-F238E27FC236}">
                <a16:creationId xmlns:a16="http://schemas.microsoft.com/office/drawing/2014/main" id="{AB5D7C73-714D-4BA5-899F-106C2D7AF604}"/>
              </a:ext>
            </a:extLst>
          </p:cNvPr>
          <p:cNvSpPr/>
          <p:nvPr/>
        </p:nvSpPr>
        <p:spPr>
          <a:xfrm>
            <a:off x="367204" y="2259761"/>
            <a:ext cx="4572000" cy="769441"/>
          </a:xfrm>
          <a:prstGeom prst="rect">
            <a:avLst/>
          </a:prstGeom>
        </p:spPr>
        <p:txBody>
          <a:bodyPr>
            <a:spAutoFit/>
          </a:bodyPr>
          <a:lstStyle/>
          <a:p>
            <a:r>
              <a:rPr lang="fr-FR" sz="1100" b="1" dirty="0">
                <a:solidFill>
                  <a:schemeClr val="dk1"/>
                </a:solidFill>
                <a:latin typeface="Rubik Light"/>
                <a:cs typeface="Rubik Light"/>
              </a:rPr>
              <a:t>Est-ce que l’AMI finance des dépenses liées à la traçabilité?</a:t>
            </a:r>
          </a:p>
          <a:p>
            <a:r>
              <a:rPr lang="fr-FR" sz="1100" dirty="0">
                <a:solidFill>
                  <a:schemeClr val="dk1"/>
                </a:solidFill>
                <a:latin typeface="Rubik Light"/>
                <a:cs typeface="Rubik Light"/>
              </a:rPr>
              <a:t>Oui, Balances, gerbeur, ordinateurs et éléments techniques liés à la traçabilité (imprimantes, douchettes de scan...) 	</a:t>
            </a:r>
          </a:p>
          <a:p>
            <a:endParaRPr lang="fr-FR" sz="1100" dirty="0">
              <a:solidFill>
                <a:schemeClr val="dk1"/>
              </a:solidFill>
              <a:latin typeface="Rubik Light"/>
              <a:cs typeface="Rubik Light"/>
            </a:endParaRPr>
          </a:p>
        </p:txBody>
      </p:sp>
      <p:sp>
        <p:nvSpPr>
          <p:cNvPr id="13" name="Google Shape;344;p32">
            <a:extLst>
              <a:ext uri="{FF2B5EF4-FFF2-40B4-BE49-F238E27FC236}">
                <a16:creationId xmlns:a16="http://schemas.microsoft.com/office/drawing/2014/main" id="{6ACF25D9-9738-435F-B79D-A01812E17778}"/>
              </a:ext>
            </a:extLst>
          </p:cNvPr>
          <p:cNvSpPr txBox="1"/>
          <p:nvPr/>
        </p:nvSpPr>
        <p:spPr>
          <a:xfrm>
            <a:off x="5407398" y="1031846"/>
            <a:ext cx="3131127" cy="135264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FR" sz="1100" b="1" dirty="0">
                <a:solidFill>
                  <a:schemeClr val="dk1"/>
                </a:solidFill>
                <a:latin typeface="Rubik Light"/>
                <a:ea typeface="Rubik Light"/>
                <a:cs typeface="Rubik Light"/>
                <a:sym typeface="Rubik Light"/>
              </a:rPr>
              <a:t>Quelles sont les pièces justificatives à fournir?</a:t>
            </a:r>
          </a:p>
          <a:p>
            <a:pPr marL="0" lvl="0" indent="0" algn="l" rtl="0">
              <a:lnSpc>
                <a:spcPct val="115000"/>
              </a:lnSpc>
              <a:spcBef>
                <a:spcPts val="0"/>
              </a:spcBef>
              <a:spcAft>
                <a:spcPts val="0"/>
              </a:spcAft>
              <a:buNone/>
            </a:pPr>
            <a:r>
              <a:rPr lang="fr-FR" sz="1100" dirty="0">
                <a:solidFill>
                  <a:schemeClr val="dk1"/>
                </a:solidFill>
                <a:latin typeface="Rubik Light"/>
                <a:ea typeface="Rubik Light"/>
                <a:cs typeface="Rubik Light"/>
                <a:sym typeface="Rubik Light"/>
              </a:rPr>
              <a:t>Facture, fiches de paie, justificatif</a:t>
            </a:r>
          </a:p>
          <a:p>
            <a:pPr marL="0" lvl="0" indent="0" algn="l" rtl="0">
              <a:lnSpc>
                <a:spcPct val="115000"/>
              </a:lnSpc>
              <a:spcBef>
                <a:spcPts val="0"/>
              </a:spcBef>
              <a:spcAft>
                <a:spcPts val="0"/>
              </a:spcAft>
              <a:buNone/>
            </a:pPr>
            <a:r>
              <a:rPr lang="fr-FR" sz="1100" dirty="0">
                <a:solidFill>
                  <a:schemeClr val="dk1"/>
                </a:solidFill>
                <a:latin typeface="Rubik Light"/>
                <a:ea typeface="Rubik Light"/>
                <a:cs typeface="Rubik Light"/>
                <a:sym typeface="Rubik Light"/>
              </a:rPr>
              <a:t>de dépenses de personnel, bilan qualitatif</a:t>
            </a:r>
          </a:p>
          <a:p>
            <a:pPr marL="0" lvl="0" indent="0" algn="l" rtl="0">
              <a:lnSpc>
                <a:spcPct val="115000"/>
              </a:lnSpc>
              <a:spcBef>
                <a:spcPts val="0"/>
              </a:spcBef>
              <a:spcAft>
                <a:spcPts val="0"/>
              </a:spcAft>
              <a:buNone/>
            </a:pPr>
            <a:r>
              <a:rPr lang="fr-FR" sz="1100" dirty="0">
                <a:solidFill>
                  <a:schemeClr val="dk1"/>
                </a:solidFill>
                <a:latin typeface="Rubik Light"/>
                <a:ea typeface="Rubik Light"/>
                <a:cs typeface="Rubik Light"/>
                <a:sym typeface="Rubik Light"/>
              </a:rPr>
              <a:t>et narratif</a:t>
            </a:r>
          </a:p>
          <a:p>
            <a:pPr marL="0" lvl="0" indent="0" algn="l" rtl="0">
              <a:lnSpc>
                <a:spcPct val="115000"/>
              </a:lnSpc>
              <a:spcBef>
                <a:spcPts val="0"/>
              </a:spcBef>
              <a:spcAft>
                <a:spcPts val="0"/>
              </a:spcAft>
              <a:buNone/>
            </a:pPr>
            <a:endParaRPr sz="1100" dirty="0">
              <a:solidFill>
                <a:schemeClr val="dk1"/>
              </a:solidFill>
              <a:latin typeface="Rubik Light"/>
              <a:ea typeface="Rubik Light"/>
              <a:cs typeface="Rubik Light"/>
              <a:sym typeface="Rubik Light"/>
            </a:endParaRPr>
          </a:p>
        </p:txBody>
      </p:sp>
      <p:sp>
        <p:nvSpPr>
          <p:cNvPr id="6" name="Rectangle 5">
            <a:extLst>
              <a:ext uri="{FF2B5EF4-FFF2-40B4-BE49-F238E27FC236}">
                <a16:creationId xmlns:a16="http://schemas.microsoft.com/office/drawing/2014/main" id="{894BD063-C91E-4951-9794-C7E9B1EAE0AC}"/>
              </a:ext>
            </a:extLst>
          </p:cNvPr>
          <p:cNvSpPr/>
          <p:nvPr/>
        </p:nvSpPr>
        <p:spPr>
          <a:xfrm>
            <a:off x="5407398" y="2175122"/>
            <a:ext cx="3247504" cy="1492716"/>
          </a:xfrm>
          <a:prstGeom prst="rect">
            <a:avLst/>
          </a:prstGeom>
        </p:spPr>
        <p:txBody>
          <a:bodyPr wrap="square">
            <a:spAutoFit/>
          </a:bodyPr>
          <a:lstStyle/>
          <a:p>
            <a:r>
              <a:rPr lang="fr-FR" sz="1100" b="1" dirty="0">
                <a:latin typeface="Rubik Light" panose="020B0604020202020204" charset="-79"/>
                <a:cs typeface="Rubik Light" panose="020B0604020202020204" charset="-79"/>
              </a:rPr>
              <a:t>L’achat et aménagement d’un camion est possible? </a:t>
            </a:r>
          </a:p>
          <a:p>
            <a:r>
              <a:rPr lang="fr-FR" sz="1100" dirty="0">
                <a:latin typeface="Rubik Light" panose="020B0604020202020204" charset="-79"/>
                <a:cs typeface="Rubik Light" panose="020B0604020202020204" charset="-79"/>
              </a:rPr>
              <a:t>Oui, mais il faudra proratiser la dépense en fonction de la quantité de TLC susceptible d'être transportée. Les factures d’aménagement du camion ne doivent pas dépasser les deux mois après l’achat. </a:t>
            </a:r>
            <a:br>
              <a:rPr lang="fr-FR" dirty="0"/>
            </a:br>
            <a:endParaRPr lang="fr-FR" dirty="0"/>
          </a:p>
        </p:txBody>
      </p:sp>
      <p:sp>
        <p:nvSpPr>
          <p:cNvPr id="15" name="Rectangle 14">
            <a:extLst>
              <a:ext uri="{FF2B5EF4-FFF2-40B4-BE49-F238E27FC236}">
                <a16:creationId xmlns:a16="http://schemas.microsoft.com/office/drawing/2014/main" id="{147862CA-8074-480F-BA93-46991132F638}"/>
              </a:ext>
            </a:extLst>
          </p:cNvPr>
          <p:cNvSpPr/>
          <p:nvPr/>
        </p:nvSpPr>
        <p:spPr>
          <a:xfrm>
            <a:off x="5407398" y="3518442"/>
            <a:ext cx="3247504" cy="815608"/>
          </a:xfrm>
          <a:prstGeom prst="rect">
            <a:avLst/>
          </a:prstGeom>
        </p:spPr>
        <p:txBody>
          <a:bodyPr wrap="square">
            <a:spAutoFit/>
          </a:bodyPr>
          <a:lstStyle/>
          <a:p>
            <a:r>
              <a:rPr lang="fr-FR" sz="1100" b="1" dirty="0">
                <a:latin typeface="Rubik Light" panose="020B0604020202020204" charset="-79"/>
                <a:cs typeface="Rubik Light" panose="020B0604020202020204" charset="-79"/>
              </a:rPr>
              <a:t>Où trouver toutes les informations? </a:t>
            </a:r>
          </a:p>
          <a:p>
            <a:r>
              <a:rPr lang="fr-FR" sz="1100" dirty="0">
                <a:latin typeface="Rubik Light" panose="020B0604020202020204" charset="-79"/>
                <a:cs typeface="Rubik Light" panose="020B0604020202020204" charset="-79"/>
              </a:rPr>
              <a:t>Dans le Wiki ! Les identifiants vous sont envoyés toutes les semaines dans notre lettre hebdo !</a:t>
            </a:r>
            <a:br>
              <a:rPr lang="fr-FR" dirty="0"/>
            </a:br>
            <a:endParaRPr lang="fr-FR" dirty="0"/>
          </a:p>
        </p:txBody>
      </p:sp>
    </p:spTree>
    <p:extLst>
      <p:ext uri="{BB962C8B-B14F-4D97-AF65-F5344CB8AC3E}">
        <p14:creationId xmlns:p14="http://schemas.microsoft.com/office/powerpoint/2010/main" val="37790922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0F0"/>
        </a:solidFill>
        <a:effectLst/>
      </p:bgPr>
    </p:bg>
    <p:spTree>
      <p:nvGrpSpPr>
        <p:cNvPr id="1" name="Shape 474"/>
        <p:cNvGrpSpPr/>
        <p:nvPr/>
      </p:nvGrpSpPr>
      <p:grpSpPr>
        <a:xfrm>
          <a:off x="0" y="0"/>
          <a:ext cx="0" cy="0"/>
          <a:chOff x="0" y="0"/>
          <a:chExt cx="0" cy="0"/>
        </a:xfrm>
      </p:grpSpPr>
      <p:sp>
        <p:nvSpPr>
          <p:cNvPr id="475" name="Google Shape;475;p38"/>
          <p:cNvSpPr txBox="1"/>
          <p:nvPr/>
        </p:nvSpPr>
        <p:spPr>
          <a:xfrm>
            <a:off x="2799300" y="3950286"/>
            <a:ext cx="3936300" cy="954077"/>
          </a:xfrm>
          <a:prstGeom prst="rect">
            <a:avLst/>
          </a:prstGeom>
          <a:noFill/>
          <a:ln>
            <a:noFill/>
          </a:ln>
        </p:spPr>
        <p:txBody>
          <a:bodyPr spcFirstLastPara="1" wrap="square" lIns="91425" tIns="91425" rIns="91425" bIns="91425" anchor="t" anchorCtr="0">
            <a:spAutoFit/>
          </a:bodyPr>
          <a:lstStyle/>
          <a:p>
            <a:pPr marL="0" lvl="0" indent="0" algn="ctr" rtl="0">
              <a:lnSpc>
                <a:spcPct val="100000"/>
              </a:lnSpc>
              <a:spcBef>
                <a:spcPts val="0"/>
              </a:spcBef>
              <a:spcAft>
                <a:spcPts val="0"/>
              </a:spcAft>
              <a:buNone/>
            </a:pPr>
            <a:r>
              <a:rPr lang="fr-FR" sz="2500" dirty="0">
                <a:solidFill>
                  <a:srgbClr val="5537AF"/>
                </a:solidFill>
                <a:latin typeface="Lilita One"/>
                <a:ea typeface="Lilita One"/>
                <a:cs typeface="Lilita One"/>
                <a:sym typeface="Lilita One"/>
              </a:rPr>
              <a:t>Merci !</a:t>
            </a:r>
          </a:p>
          <a:p>
            <a:pPr marL="0" lvl="0" indent="0" algn="ctr" rtl="0">
              <a:lnSpc>
                <a:spcPct val="100000"/>
              </a:lnSpc>
              <a:spcBef>
                <a:spcPts val="0"/>
              </a:spcBef>
              <a:spcAft>
                <a:spcPts val="0"/>
              </a:spcAft>
              <a:buNone/>
            </a:pPr>
            <a:r>
              <a:rPr lang="fr-FR" sz="2500" dirty="0">
                <a:solidFill>
                  <a:srgbClr val="5537AF"/>
                </a:solidFill>
                <a:latin typeface="Lilita One"/>
                <a:ea typeface="Lilita One"/>
                <a:cs typeface="Lilita One"/>
                <a:sym typeface="Lilita One"/>
              </a:rPr>
              <a:t>D’autres questions?</a:t>
            </a:r>
          </a:p>
        </p:txBody>
      </p:sp>
      <p:cxnSp>
        <p:nvCxnSpPr>
          <p:cNvPr id="476" name="Google Shape;476;p38"/>
          <p:cNvCxnSpPr/>
          <p:nvPr/>
        </p:nvCxnSpPr>
        <p:spPr>
          <a:xfrm>
            <a:off x="427200" y="716175"/>
            <a:ext cx="8289600" cy="0"/>
          </a:xfrm>
          <a:prstGeom prst="straightConnector1">
            <a:avLst/>
          </a:prstGeom>
          <a:noFill/>
          <a:ln w="9525" cap="flat" cmpd="sng">
            <a:solidFill>
              <a:schemeClr val="dk1"/>
            </a:solidFill>
            <a:prstDash val="solid"/>
            <a:round/>
            <a:headEnd type="none" w="med" len="med"/>
            <a:tailEnd type="none" w="med" len="med"/>
          </a:ln>
        </p:spPr>
      </p:cxnSp>
      <p:pic>
        <p:nvPicPr>
          <p:cNvPr id="479" name="Google Shape;479;p38"/>
          <p:cNvPicPr preferRelativeResize="0"/>
          <p:nvPr/>
        </p:nvPicPr>
        <p:blipFill>
          <a:blip r:embed="rId3">
            <a:alphaModFix/>
          </a:blip>
          <a:stretch>
            <a:fillRect/>
          </a:stretch>
        </p:blipFill>
        <p:spPr>
          <a:xfrm>
            <a:off x="7671850" y="150000"/>
            <a:ext cx="1095400" cy="442725"/>
          </a:xfrm>
          <a:prstGeom prst="rect">
            <a:avLst/>
          </a:prstGeom>
          <a:noFill/>
          <a:ln>
            <a:noFill/>
          </a:ln>
        </p:spPr>
      </p:pic>
      <p:pic>
        <p:nvPicPr>
          <p:cNvPr id="480" name="Google Shape;480;p38"/>
          <p:cNvPicPr preferRelativeResize="0"/>
          <p:nvPr/>
        </p:nvPicPr>
        <p:blipFill>
          <a:blip r:embed="rId4">
            <a:alphaModFix/>
          </a:blip>
          <a:stretch>
            <a:fillRect/>
          </a:stretch>
        </p:blipFill>
        <p:spPr>
          <a:xfrm>
            <a:off x="2799300" y="1333500"/>
            <a:ext cx="3299702" cy="248445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7434</TotalTime>
  <Words>1886</Words>
  <Application>Microsoft Office PowerPoint</Application>
  <PresentationFormat>Affichage à l'écran (16:9)</PresentationFormat>
  <Paragraphs>305</Paragraphs>
  <Slides>18</Slides>
  <Notes>18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Rubik Light</vt:lpstr>
      <vt:lpstr>Rubik Medium</vt:lpstr>
      <vt:lpstr>Arial</vt:lpstr>
      <vt:lpstr>Calibri</vt:lpstr>
      <vt:lpstr>Lilita One</vt:lpstr>
      <vt:lpstr>Simple Light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Fernanda Arias Gogin</dc:creator>
  <cp:lastModifiedBy>Fernanda Arias Gogin</cp:lastModifiedBy>
  <cp:revision>50</cp:revision>
  <dcterms:modified xsi:type="dcterms:W3CDTF">2025-02-04T12:33:57Z</dcterms:modified>
</cp:coreProperties>
</file>